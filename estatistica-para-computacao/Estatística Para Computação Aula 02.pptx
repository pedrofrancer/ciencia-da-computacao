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1" r:id="rId3"/>
    <p:sldId id="292" r:id="rId4"/>
    <p:sldId id="293" r:id="rId5"/>
    <p:sldId id="257" r:id="rId6"/>
    <p:sldId id="309" r:id="rId7"/>
    <p:sldId id="263" r:id="rId8"/>
    <p:sldId id="294" r:id="rId9"/>
    <p:sldId id="295" r:id="rId10"/>
    <p:sldId id="296" r:id="rId11"/>
    <p:sldId id="297" r:id="rId12"/>
    <p:sldId id="287" r:id="rId13"/>
    <p:sldId id="288" r:id="rId14"/>
    <p:sldId id="289" r:id="rId15"/>
    <p:sldId id="298" r:id="rId16"/>
    <p:sldId id="290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10" r:id="rId27"/>
    <p:sldId id="311" r:id="rId28"/>
    <p:sldId id="324" r:id="rId29"/>
    <p:sldId id="312" r:id="rId30"/>
    <p:sldId id="313" r:id="rId31"/>
    <p:sldId id="319" r:id="rId32"/>
    <p:sldId id="314" r:id="rId33"/>
    <p:sldId id="325" r:id="rId34"/>
    <p:sldId id="315" r:id="rId35"/>
    <p:sldId id="316" r:id="rId36"/>
    <p:sldId id="320" r:id="rId37"/>
    <p:sldId id="318" r:id="rId38"/>
    <p:sldId id="321" r:id="rId39"/>
    <p:sldId id="317" r:id="rId40"/>
    <p:sldId id="322" r:id="rId41"/>
    <p:sldId id="323" r:id="rId42"/>
    <p:sldId id="32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714280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Estatística Para Computação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555832" y="4969043"/>
            <a:ext cx="229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Prof. Dr. Cahue Sbrana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065516" y="4207043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Aula 02</a:t>
            </a: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EB46A-871B-AE06-AF32-1AA92581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da Estatística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94E194-22B2-FE7E-4DF9-00215131A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Origens</a:t>
            </a:r>
          </a:p>
          <a:p>
            <a:pPr algn="just"/>
            <a:r>
              <a:rPr lang="pt-BR" dirty="0"/>
              <a:t>A palavra estatística vem do latim </a:t>
            </a:r>
            <a:r>
              <a:rPr lang="pt-BR" dirty="0" err="1"/>
              <a:t>statisticum</a:t>
            </a:r>
            <a:r>
              <a:rPr lang="pt-BR" dirty="0"/>
              <a:t> </a:t>
            </a:r>
            <a:r>
              <a:rPr lang="pt-BR" dirty="0" err="1"/>
              <a:t>collegium</a:t>
            </a:r>
            <a:r>
              <a:rPr lang="pt-BR" dirty="0"/>
              <a:t> (conselho de Estado) e do italiano </a:t>
            </a:r>
            <a:r>
              <a:rPr lang="pt-BR" dirty="0" err="1"/>
              <a:t>statista</a:t>
            </a:r>
            <a:r>
              <a:rPr lang="pt-BR" dirty="0"/>
              <a:t> (estadista).</a:t>
            </a:r>
          </a:p>
          <a:p>
            <a:pPr algn="just"/>
            <a:r>
              <a:rPr lang="pt-BR" dirty="0"/>
              <a:t>No século XVII, começou como ferramenta de governos para registrar informações populacionais, tributos e militares (aritmética política).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1078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5E294-8868-18F2-57E8-96825DB88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893FE-FAF5-C869-F804-CA23C791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da Estatística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70151D-FAA2-D76D-4D1E-20B0ED3A7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Evolução</a:t>
            </a:r>
          </a:p>
          <a:p>
            <a:r>
              <a:rPr lang="pt-BR" dirty="0"/>
              <a:t>Século XVIII-XIX: desenvolvimento da probabilidade com Pascal, Fermat e Laplace.</a:t>
            </a:r>
          </a:p>
          <a:p>
            <a:r>
              <a:rPr lang="pt-BR" dirty="0"/>
              <a:t>Século XX: consolidação da inferência estatística com Pearson, Fisher e </a:t>
            </a:r>
            <a:r>
              <a:rPr lang="pt-BR" dirty="0" err="1"/>
              <a:t>Neyman</a:t>
            </a:r>
            <a:r>
              <a:rPr lang="pt-BR" dirty="0"/>
              <a:t>.</a:t>
            </a:r>
          </a:p>
          <a:p>
            <a:r>
              <a:rPr lang="pt-BR" dirty="0"/>
              <a:t>Hoje: aplicada em ciência de dados, IA, bioestatística, economia, computação, entre outros.</a:t>
            </a:r>
          </a:p>
        </p:txBody>
      </p:sp>
    </p:spTree>
    <p:extLst>
      <p:ext uri="{BB962C8B-B14F-4D97-AF65-F5344CB8AC3E}">
        <p14:creationId xmlns:p14="http://schemas.microsoft.com/office/powerpoint/2010/main" val="110362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BE52B-77ED-6D02-8032-B10512D0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Estatística e o Método Científico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4DC5F253-77B1-811A-4425-3E3CA82058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283626"/>
              </p:ext>
            </p:extLst>
          </p:nvPr>
        </p:nvGraphicFramePr>
        <p:xfrm>
          <a:off x="1295400" y="3042383"/>
          <a:ext cx="9601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7436">
                  <a:extLst>
                    <a:ext uri="{9D8B030D-6E8A-4147-A177-3AD203B41FA5}">
                      <a16:colId xmlns:a16="http://schemas.microsoft.com/office/drawing/2014/main" val="3521884900"/>
                    </a:ext>
                  </a:extLst>
                </a:gridCol>
                <a:gridCol w="6213764">
                  <a:extLst>
                    <a:ext uri="{9D8B030D-6E8A-4147-A177-3AD203B41FA5}">
                      <a16:colId xmlns:a16="http://schemas.microsoft.com/office/drawing/2014/main" val="3961682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Etapa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Aplicação Estatística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991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Observação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Coleta de dados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46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Hipótese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Formulação testável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18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Experimento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Planejamento amostral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97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Análise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Estatística descritiva e inferencial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85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Conclusão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Testes de hipótese, 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408602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D61B059F-A690-F355-00EB-E96C7F232F06}"/>
              </a:ext>
            </a:extLst>
          </p:cNvPr>
          <p:cNvSpPr txBox="1"/>
          <p:nvPr/>
        </p:nvSpPr>
        <p:spPr>
          <a:xfrm>
            <a:off x="1309255" y="2437617"/>
            <a:ext cx="9718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 estatística é fundamental em todas as etapas do método científico.</a:t>
            </a:r>
          </a:p>
        </p:txBody>
      </p:sp>
    </p:spTree>
    <p:extLst>
      <p:ext uri="{BB962C8B-B14F-4D97-AF65-F5344CB8AC3E}">
        <p14:creationId xmlns:p14="http://schemas.microsoft.com/office/powerpoint/2010/main" val="2923986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86691" y="2438400"/>
            <a:ext cx="10460182" cy="3865418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estatística evoluiu para uma ciência fundamental, voltada à coleta, organização, análise e interpretação de dados, com o objetivo de extrair informações relevantes e embasar decisões em diversas áreas do conhecimento.</a:t>
            </a:r>
          </a:p>
          <a:p>
            <a:pPr algn="just"/>
            <a:r>
              <a:rPr lang="pt-BR" dirty="0"/>
              <a:t>Além de descrever dados, a estatística busca compreender padrões, modelar incertezas e prever comportamentos futuros, utilizando para isso ferramentas matemáticas e conceitos da teoria das probabilidades. </a:t>
            </a:r>
          </a:p>
          <a:p>
            <a:pPr algn="just"/>
            <a:r>
              <a:rPr lang="pt-BR" dirty="0"/>
              <a:t>Dessa forma, permite tirar conclusões válidas a partir de amostras, mesmo diante da variabilidade e da incerteza que caracterizam muitos fenômenos naturais, sociais e tecnológicos.</a:t>
            </a:r>
          </a:p>
        </p:txBody>
      </p:sp>
    </p:spTree>
    <p:extLst>
      <p:ext uri="{BB962C8B-B14F-4D97-AF65-F5344CB8AC3E}">
        <p14:creationId xmlns:p14="http://schemas.microsoft.com/office/powerpoint/2010/main" val="3963559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37B79-D10D-6CA7-CF2B-AD60FB8F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Estatística X Probabilidade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B242E3-D6B0-0F75-03F0-76709506E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109" y="2396839"/>
            <a:ext cx="10377055" cy="3962401"/>
          </a:xfrm>
        </p:spPr>
        <p:txBody>
          <a:bodyPr>
            <a:normAutofit fontScale="92500"/>
          </a:bodyPr>
          <a:lstStyle/>
          <a:p>
            <a:pPr algn="just"/>
            <a:r>
              <a:rPr lang="pt-BR" dirty="0"/>
              <a:t>A estatística estuda o passado, usando dados reais já coletados para analisar padrões e tendências, interpretar resultados com base em evidências e tomar decisões fundamentadas em informações passadas ou presentes, transformando dados em conhecimento.</a:t>
            </a:r>
          </a:p>
          <a:p>
            <a:pPr algn="just"/>
            <a:r>
              <a:rPr lang="pt-BR" dirty="0"/>
              <a:t>A probabilidade estuda a incerteza e a previsão de ocorrência de eventos futuros, é usada para prever a chance de um evento ocorrer, antes de termos dados concretos, utiliza informações para modelar cenários possíveis, calcular riscos e oportunidades e para antecipar resultados em situações aleatórias, iluminando o desconhecido através de previsões futuras.</a:t>
            </a:r>
          </a:p>
          <a:p>
            <a:pPr algn="just"/>
            <a:r>
              <a:rPr lang="pt-BR" dirty="0"/>
              <a:t>Juntas, elas formam a base da análise de dados, permitindo que o processo de tomada de decisões inteligentes seja realizado tanto no presente quanto no futuro.</a:t>
            </a:r>
          </a:p>
        </p:txBody>
      </p:sp>
    </p:spTree>
    <p:extLst>
      <p:ext uri="{BB962C8B-B14F-4D97-AF65-F5344CB8AC3E}">
        <p14:creationId xmlns:p14="http://schemas.microsoft.com/office/powerpoint/2010/main" val="1812760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90537"/>
            <a:ext cx="4852736" cy="3717758"/>
          </a:xfrm>
        </p:spPr>
        <p:txBody>
          <a:bodyPr>
            <a:normAutofit/>
          </a:bodyPr>
          <a:lstStyle/>
          <a:p>
            <a:r>
              <a:rPr lang="pt-BR" dirty="0"/>
              <a:t>Jogos;</a:t>
            </a:r>
          </a:p>
          <a:p>
            <a:r>
              <a:rPr lang="pt-BR" dirty="0"/>
              <a:t>Bioestatística;</a:t>
            </a:r>
          </a:p>
          <a:p>
            <a:r>
              <a:rPr lang="pt-BR" dirty="0"/>
              <a:t>Controle de qualidade;</a:t>
            </a:r>
          </a:p>
          <a:p>
            <a:r>
              <a:rPr lang="pt-BR" dirty="0"/>
              <a:t>Estatística comercial;</a:t>
            </a:r>
          </a:p>
          <a:p>
            <a:r>
              <a:rPr lang="pt-BR" dirty="0"/>
              <a:t>Estatística econômica;</a:t>
            </a:r>
          </a:p>
          <a:p>
            <a:r>
              <a:rPr lang="pt-BR" dirty="0"/>
              <a:t>Estatística de engenharia;</a:t>
            </a:r>
          </a:p>
          <a:p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6148137" y="2490537"/>
            <a:ext cx="4852736" cy="37177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Estatística na física;</a:t>
            </a:r>
          </a:p>
          <a:p>
            <a:r>
              <a:rPr lang="pt-BR" dirty="0"/>
              <a:t>Estatística populacional;</a:t>
            </a:r>
          </a:p>
          <a:p>
            <a:r>
              <a:rPr lang="pt-BR" dirty="0"/>
              <a:t>Estatística psicológica;</a:t>
            </a:r>
          </a:p>
          <a:p>
            <a:r>
              <a:rPr lang="pt-BR" dirty="0"/>
              <a:t>Estatística social;</a:t>
            </a:r>
          </a:p>
          <a:p>
            <a:r>
              <a:rPr lang="pt-BR" dirty="0" err="1"/>
              <a:t>Geoestatística</a:t>
            </a:r>
            <a:r>
              <a:rPr lang="pt-BR" dirty="0"/>
              <a:t>;</a:t>
            </a:r>
          </a:p>
          <a:p>
            <a:r>
              <a:rPr lang="pt-BR" dirty="0"/>
              <a:t>Pesquisa operacional;</a:t>
            </a:r>
          </a:p>
          <a:p>
            <a:r>
              <a:rPr lang="pt-BR" dirty="0"/>
              <a:t>Entre outros.</a:t>
            </a:r>
          </a:p>
        </p:txBody>
      </p:sp>
    </p:spTree>
    <p:extLst>
      <p:ext uri="{BB962C8B-B14F-4D97-AF65-F5344CB8AC3E}">
        <p14:creationId xmlns:p14="http://schemas.microsoft.com/office/powerpoint/2010/main" val="224740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1B8E6-41C6-FC29-AD62-DB0E2CDA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População e Amostra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7F8019-18D2-7EB0-C1B9-7BFDFDB57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População</a:t>
            </a:r>
          </a:p>
          <a:p>
            <a:r>
              <a:rPr lang="pt-BR" dirty="0"/>
              <a:t>Conjunto completo de indivíduos ou elementos de interesse.</a:t>
            </a:r>
          </a:p>
          <a:p>
            <a:r>
              <a:rPr lang="pt-BR" dirty="0"/>
              <a:t>Exemplo: todos os servidores de um sistema computacional.</a:t>
            </a:r>
          </a:p>
          <a:p>
            <a:pPr marL="0" indent="0">
              <a:buNone/>
            </a:pPr>
            <a:r>
              <a:rPr lang="pt-BR" b="1" dirty="0"/>
              <a:t>Amostra</a:t>
            </a:r>
          </a:p>
          <a:p>
            <a:r>
              <a:rPr lang="pt-BR" dirty="0"/>
              <a:t>Subconjunto da população, representativa, usada na análise estatística.</a:t>
            </a:r>
          </a:p>
          <a:p>
            <a:r>
              <a:rPr lang="pt-BR" dirty="0"/>
              <a:t>Exemplo: 50 servidores selecionados aleatoriamente.</a:t>
            </a:r>
          </a:p>
        </p:txBody>
      </p:sp>
    </p:spTree>
    <p:extLst>
      <p:ext uri="{BB962C8B-B14F-4D97-AF65-F5344CB8AC3E}">
        <p14:creationId xmlns:p14="http://schemas.microsoft.com/office/powerpoint/2010/main" val="2297104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61435-AD18-A380-42C8-FD2768D7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3F481D-ABFA-0E98-0777-AD247B522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5" y="2556932"/>
            <a:ext cx="10460182" cy="3318936"/>
          </a:xfrm>
        </p:spPr>
        <p:txBody>
          <a:bodyPr/>
          <a:lstStyle/>
          <a:p>
            <a:r>
              <a:rPr lang="pt-BR" sz="2800" dirty="0"/>
              <a:t>Qualitativas (categóricas): nomes ou categorias.</a:t>
            </a:r>
          </a:p>
          <a:p>
            <a:r>
              <a:rPr lang="pt-BR" sz="2800" dirty="0"/>
              <a:t>Quantitativas (numéricas): valores numéricos.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400" dirty="0"/>
              <a:t>Discretas (ex.: número de requisições)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400" dirty="0"/>
              <a:t>Contínuas (ex.: tempo de resposta em segundos)</a:t>
            </a:r>
          </a:p>
        </p:txBody>
      </p:sp>
    </p:spTree>
    <p:extLst>
      <p:ext uri="{BB962C8B-B14F-4D97-AF65-F5344CB8AC3E}">
        <p14:creationId xmlns:p14="http://schemas.microsoft.com/office/powerpoint/2010/main" val="1473470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B80FD-10F1-A7A8-3F4C-25D31F01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7E6DC1-835B-D265-C775-92104E14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Resultado da observação ou medição de uma variável sobre elementos da amostra.</a:t>
            </a:r>
          </a:p>
          <a:p>
            <a:r>
              <a:rPr lang="pt-BR" dirty="0"/>
              <a:t>Dados de uma amostra são um conjunto de informações que podem ser extraídas, a partir das amostras coletadas.</a:t>
            </a:r>
          </a:p>
        </p:txBody>
      </p:sp>
    </p:spTree>
    <p:extLst>
      <p:ext uri="{BB962C8B-B14F-4D97-AF65-F5344CB8AC3E}">
        <p14:creationId xmlns:p14="http://schemas.microsoft.com/office/powerpoint/2010/main" val="929214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1CA4F-4CCA-B37B-F3E8-014852BF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Prática “Explorando Dados”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BEF057-0B17-729D-9947-9F35476A6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80632"/>
          </a:xfrm>
        </p:spPr>
        <p:txBody>
          <a:bodyPr>
            <a:normAutofit/>
          </a:bodyPr>
          <a:lstStyle/>
          <a:p>
            <a:r>
              <a:rPr lang="pt-BR" dirty="0"/>
              <a:t>Coletar dados simples (altura, idade, peso, nomes, cores... ).</a:t>
            </a:r>
          </a:p>
          <a:p>
            <a:r>
              <a:rPr lang="pt-BR" dirty="0"/>
              <a:t>Identificação da População e da Amostra.</a:t>
            </a:r>
          </a:p>
          <a:p>
            <a:r>
              <a:rPr lang="pt-BR" dirty="0"/>
              <a:t>Definição das variáveis observadas para altura: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Qualitativas: alto, médio ou baixo.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Quantitativos : 1,70 m, 1,62 m.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400" dirty="0"/>
              <a:t>Discreta: 1,70 m, 1,62 m.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400" dirty="0"/>
              <a:t>Contínua: 1,702526 m ou 1,62357 m</a:t>
            </a:r>
          </a:p>
        </p:txBody>
      </p:sp>
    </p:spTree>
    <p:extLst>
      <p:ext uri="{BB962C8B-B14F-4D97-AF65-F5344CB8AC3E}">
        <p14:creationId xmlns:p14="http://schemas.microsoft.com/office/powerpoint/2010/main" val="94133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Coleta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1272" y="2452255"/>
            <a:ext cx="10501745" cy="374072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2800" dirty="0"/>
              <a:t>Coleta de dados é o processo sistemático de busca, reunião e organização de informações, documentos e evidências sobre um tema específico ou um conjunto de temas relacionados, com o objetivo de viabilizar uma análise consistente e fundamentada.</a:t>
            </a:r>
          </a:p>
          <a:p>
            <a:pPr algn="just"/>
            <a:r>
              <a:rPr lang="pt-BR" sz="2800" dirty="0"/>
              <a:t>No entanto, essa etapa não deve ser realizada de forma arbitrária: a coleta de dados precisa seguir procedimentos padronizados e metodologicamente definidos, de modo a garantir a qualidade, confiabilidade e validade das informações obtidas. </a:t>
            </a:r>
          </a:p>
          <a:p>
            <a:pPr algn="just"/>
            <a:r>
              <a:rPr lang="pt-BR" sz="2800" dirty="0"/>
              <a:t>A escolha adequada das fontes, a definição clara das variáveis e o planejamento do instrumento de coleta são fundamentais para que os dados reflitam fielmente a realidade que se pretende investigar.</a:t>
            </a:r>
          </a:p>
        </p:txBody>
      </p:sp>
    </p:spTree>
    <p:extLst>
      <p:ext uri="{BB962C8B-B14F-4D97-AF65-F5344CB8AC3E}">
        <p14:creationId xmlns:p14="http://schemas.microsoft.com/office/powerpoint/2010/main" val="2458833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Coleta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2727" y="2382982"/>
            <a:ext cx="10792691" cy="396240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Técnicas de coleta de dados são conjuntos de procedimentos sistemáticos utilizados por uma ciência para obter, registrar e analisar informações de forma consistente e confiável. </a:t>
            </a:r>
          </a:p>
          <a:p>
            <a:pPr algn="just"/>
            <a:r>
              <a:rPr lang="pt-BR" dirty="0"/>
              <a:t>Essas técnicas têm como objetivo padronizar o processo de coleta, garantindo que os dados obtidos sejam comparáveis, válidos e representativos do fenômeno estudado.</a:t>
            </a:r>
          </a:p>
          <a:p>
            <a:pPr algn="just"/>
            <a:r>
              <a:rPr lang="pt-BR" dirty="0"/>
              <a:t>A adoção de métodos previamente definidos é essencial para assegurar a reprodutibilidade dos estudos e permitir a comparação entre diferentes pesquisas.</a:t>
            </a:r>
          </a:p>
          <a:p>
            <a:pPr algn="just"/>
            <a:r>
              <a:rPr lang="pt-BR" dirty="0"/>
              <a:t> Quando os dados são coletados de maneira não padronizada ou arbitrária, os resultados obtidos podem divergir significativamente, comprometendo a validade das conclusões e dificultando a integração com outros trabalhos científicos.</a:t>
            </a:r>
          </a:p>
        </p:txBody>
      </p:sp>
    </p:spTree>
    <p:extLst>
      <p:ext uri="{BB962C8B-B14F-4D97-AF65-F5344CB8AC3E}">
        <p14:creationId xmlns:p14="http://schemas.microsoft.com/office/powerpoint/2010/main" val="1399631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63091" y="982132"/>
            <a:ext cx="7412182" cy="1303867"/>
          </a:xfrm>
        </p:spPr>
        <p:txBody>
          <a:bodyPr>
            <a:normAutofit fontScale="90000"/>
          </a:bodyPr>
          <a:lstStyle/>
          <a:p>
            <a:r>
              <a:rPr lang="pt-BR" dirty="0"/>
              <a:t> Transformar Dados em Informações  Compreensíveis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74618" y="2424545"/>
            <a:ext cx="9615055" cy="3865419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Nenhuma ideia nasce do zero. </a:t>
            </a:r>
          </a:p>
          <a:p>
            <a:pPr algn="just"/>
            <a:r>
              <a:rPr lang="pt-BR" dirty="0"/>
              <a:t>Todo estudo deve se apoiar em um conhecimento prévio acumulado, oriundo de investigações anteriores sobre o mesmo tema ou temas correlatos. </a:t>
            </a:r>
          </a:p>
          <a:p>
            <a:pPr algn="just"/>
            <a:r>
              <a:rPr lang="pt-BR" dirty="0"/>
              <a:t>Nesse sentido, a pesquisa bibliográfica desempenha um papel crucial logo nas etapas iniciais de um projeto científico.</a:t>
            </a:r>
          </a:p>
          <a:p>
            <a:pPr algn="just"/>
            <a:r>
              <a:rPr lang="pt-BR" dirty="0"/>
              <a:t>Ao revisar a literatura existente, o pesquisador obtém fundamentação teórica sólida, identifica metodologias já testadas, compreende erros recorrentes e descobre abordagens alternativas que podem facilitar o desenvolvimento do seu próprio trabalho.</a:t>
            </a:r>
          </a:p>
        </p:txBody>
      </p:sp>
    </p:spTree>
    <p:extLst>
      <p:ext uri="{BB962C8B-B14F-4D97-AF65-F5344CB8AC3E}">
        <p14:creationId xmlns:p14="http://schemas.microsoft.com/office/powerpoint/2010/main" val="30718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EEE9-FD89-287E-2526-E11BB90A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E63F8-B30A-5233-C2FA-D1EF1CEB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1" y="982132"/>
            <a:ext cx="7412182" cy="1303867"/>
          </a:xfrm>
        </p:spPr>
        <p:txBody>
          <a:bodyPr>
            <a:normAutofit fontScale="90000"/>
          </a:bodyPr>
          <a:lstStyle/>
          <a:p>
            <a:r>
              <a:rPr lang="pt-BR" dirty="0"/>
              <a:t> Transformar Dados em Informações  Compreensíveis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386985-A30A-DEBD-3EC3-7C8E4D2E0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927" y="2424545"/>
            <a:ext cx="9684328" cy="3865419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Além disso, essa etapa pode revelar lacunas de conhecimento, direcionando o estudo para contribuições relevantes e originais.</a:t>
            </a:r>
          </a:p>
          <a:p>
            <a:pPr algn="just"/>
            <a:r>
              <a:rPr lang="pt-BR" dirty="0"/>
              <a:t>Mais do que simplesmente coletar dados, é essencial organizar, interpretar e apresentar essas informações de forma clara e compreensível, de modo que possam realmente gerar conhecimento útil e aplicável. </a:t>
            </a:r>
          </a:p>
          <a:p>
            <a:pPr algn="just"/>
            <a:r>
              <a:rPr lang="pt-BR" dirty="0"/>
              <a:t>É nesse ponto que a estatística e suas ferramentas ganham importância estratégica: ajudam a transformar conjuntos de dados brutos em informações significativas, que apoiam decisões, conclusões e futuras investigações.</a:t>
            </a:r>
          </a:p>
        </p:txBody>
      </p:sp>
    </p:spTree>
    <p:extLst>
      <p:ext uri="{BB962C8B-B14F-4D97-AF65-F5344CB8AC3E}">
        <p14:creationId xmlns:p14="http://schemas.microsoft.com/office/powerpoint/2010/main" val="3601381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2" y="2438400"/>
            <a:ext cx="9601196" cy="3809999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análise de dados é o processo de transformar conjuntos de dados brutos em informações úteis e conclusivas, com o apoio de métodos e ferramentas estatísticas.</a:t>
            </a:r>
          </a:p>
          <a:p>
            <a:pPr algn="just"/>
            <a:r>
              <a:rPr lang="pt-BR" dirty="0"/>
              <a:t> Essa etapa envolve examinar criticamente os dados disponíveis, identificar padrões, tendências, relações e desvios, com o objetivo de responder a perguntas, validar hipóteses ou apoiar a tomada de decisões.</a:t>
            </a:r>
          </a:p>
          <a:p>
            <a:pPr algn="just"/>
            <a:r>
              <a:rPr lang="pt-BR" dirty="0"/>
              <a:t>Durante a análise, o pesquisador aplica técnicas estatísticas que permitem extrair as informações mais relevantes e interpretar os resultados com base em evidências. </a:t>
            </a:r>
          </a:p>
        </p:txBody>
      </p:sp>
    </p:spTree>
    <p:extLst>
      <p:ext uri="{BB962C8B-B14F-4D97-AF65-F5344CB8AC3E}">
        <p14:creationId xmlns:p14="http://schemas.microsoft.com/office/powerpoint/2010/main" val="2310993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6B29-FCA0-DB96-B009-31F62367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24659-46A3-F5B1-E8BF-35B5ECFBC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Análises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A905A-11D2-56AF-93D9-74202905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38400"/>
            <a:ext cx="9601196" cy="3809999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No entanto, é importante compreender que as conclusões geradas por meio desses métodos sempre envolvem um grau de incerteza. </a:t>
            </a:r>
          </a:p>
          <a:p>
            <a:pPr algn="just"/>
            <a:r>
              <a:rPr lang="pt-BR" dirty="0"/>
              <a:t>Ao invés de afirmativas absolutas, a estatística trabalha com níveis de confiança e probabilidades de ocorrência.</a:t>
            </a:r>
          </a:p>
          <a:p>
            <a:pPr algn="just"/>
            <a:r>
              <a:rPr lang="pt-BR" dirty="0"/>
              <a:t>Ainda assim, quando os dados mostram comportamentos com alta frequência ou consistência, é possível alcançar conclusões suficientemente robustas, que podem ser tratadas como próximas da certeza dentro de um determinado contexto ou margem de erro.</a:t>
            </a:r>
          </a:p>
        </p:txBody>
      </p:sp>
    </p:spTree>
    <p:extLst>
      <p:ext uri="{BB962C8B-B14F-4D97-AF65-F5344CB8AC3E}">
        <p14:creationId xmlns:p14="http://schemas.microsoft.com/office/powerpoint/2010/main" val="2062356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284FB-D987-9D2D-721E-06A5F4E1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Tabelas de Frequência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AF4B4E-0E7C-43C0-6742-3FF1CBCB9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Organizam dados quantitativos e qualitativos.</a:t>
            </a:r>
          </a:p>
          <a:p>
            <a:pPr algn="just"/>
            <a:r>
              <a:rPr lang="pt-BR" dirty="0"/>
              <a:t>Frequência absoluta (f): número de ocorrências.</a:t>
            </a:r>
          </a:p>
          <a:p>
            <a:pPr algn="just"/>
            <a:r>
              <a:rPr lang="pt-BR" dirty="0"/>
              <a:t>Frequência relativa (</a:t>
            </a:r>
            <a:r>
              <a:rPr lang="pt-BR" dirty="0" err="1"/>
              <a:t>fr</a:t>
            </a:r>
            <a:r>
              <a:rPr lang="pt-BR" dirty="0"/>
              <a:t>): porcentagem sobre o total.</a:t>
            </a:r>
          </a:p>
          <a:p>
            <a:pPr algn="just"/>
            <a:r>
              <a:rPr lang="pt-BR" dirty="0"/>
              <a:t>Frequência acumulada (F e </a:t>
            </a:r>
            <a:r>
              <a:rPr lang="pt-BR" dirty="0" err="1"/>
              <a:t>Fr</a:t>
            </a:r>
            <a:r>
              <a:rPr lang="pt-BR" dirty="0"/>
              <a:t>): soma das frequências anteriores.</a:t>
            </a:r>
          </a:p>
          <a:p>
            <a:pPr algn="just"/>
            <a:r>
              <a:rPr lang="pt-BR" dirty="0"/>
              <a:t>Para dados quantitativos contínuos, utilizam-se classes (intervalos).</a:t>
            </a:r>
          </a:p>
        </p:txBody>
      </p:sp>
    </p:spTree>
    <p:extLst>
      <p:ext uri="{BB962C8B-B14F-4D97-AF65-F5344CB8AC3E}">
        <p14:creationId xmlns:p14="http://schemas.microsoft.com/office/powerpoint/2010/main" val="2075243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CB865-4A83-1035-23C6-1D5BCD8F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Tabelas de Frequência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4A9EE37-42F8-95E2-C627-8D7C1B9B2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7740" y="2435025"/>
            <a:ext cx="5256519" cy="38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00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20EA3-36C4-EAAE-04AF-94E45297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17EAE-C386-B9CF-B468-3BAFEC09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Gráficos Estatísticos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D67DDF-4BE3-5431-D4E6-DE7600F5F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Gráfico de Barras.</a:t>
            </a:r>
          </a:p>
          <a:p>
            <a:pPr algn="just"/>
            <a:r>
              <a:rPr lang="pt-BR" sz="2800" dirty="0"/>
              <a:t>Gráfico de Setores (Pizza).</a:t>
            </a:r>
          </a:p>
          <a:p>
            <a:pPr algn="just"/>
            <a:r>
              <a:rPr lang="pt-BR" sz="2800" dirty="0"/>
              <a:t>Histograma.</a:t>
            </a:r>
          </a:p>
          <a:p>
            <a:pPr algn="just"/>
            <a:r>
              <a:rPr lang="pt-BR" sz="2800" dirty="0"/>
              <a:t>Gráfico de Linhas.</a:t>
            </a:r>
          </a:p>
        </p:txBody>
      </p:sp>
    </p:spTree>
    <p:extLst>
      <p:ext uri="{BB962C8B-B14F-4D97-AF65-F5344CB8AC3E}">
        <p14:creationId xmlns:p14="http://schemas.microsoft.com/office/powerpoint/2010/main" val="3887545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56E0-3240-0383-4BCD-A30CC90A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EB2CD-7A6B-BE93-32B5-2E2F641B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 de Barras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EA2622-1201-D5C8-AB2E-6B3826211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927" y="2556932"/>
            <a:ext cx="4468091" cy="3318936"/>
          </a:xfrm>
        </p:spPr>
        <p:txBody>
          <a:bodyPr/>
          <a:lstStyle/>
          <a:p>
            <a:pPr algn="just"/>
            <a:r>
              <a:rPr lang="pt-BR" dirty="0"/>
              <a:t>Utilizado para variáveis qualitativas ou discretas.</a:t>
            </a:r>
          </a:p>
          <a:p>
            <a:pPr algn="just"/>
            <a:r>
              <a:rPr lang="pt-BR" dirty="0"/>
              <a:t>Altura da barra proporcional à frequência.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6B4610-C24D-33A4-9105-373BCF3F6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162" y="2439111"/>
            <a:ext cx="6348748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16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1613-BB3E-2F38-5820-7FD55473F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2A560-850B-3CDC-9C18-9E1DC134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 de Setores (Pizza)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709B5D-AD35-75F2-7D35-0E80095EA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286" y="2556932"/>
            <a:ext cx="4038599" cy="3318936"/>
          </a:xfrm>
        </p:spPr>
        <p:txBody>
          <a:bodyPr/>
          <a:lstStyle/>
          <a:p>
            <a:pPr algn="just"/>
            <a:r>
              <a:rPr lang="pt-BR" dirty="0"/>
              <a:t>Mostra a proporção relativa entre categorias.</a:t>
            </a:r>
          </a:p>
          <a:p>
            <a:pPr algn="just"/>
            <a:r>
              <a:rPr lang="pt-BR" dirty="0"/>
              <a:t>Cada setor representa uma fatia dos dados.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AA9167E-9855-669F-EA34-E859D5B85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859" y="2432236"/>
            <a:ext cx="6348748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34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DF05-B93B-06CC-6CF6-112D89A3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24828-1B56-1D54-9BB0-99F0E668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5D9430-08A3-387A-747C-F0DC20000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418" y="2556932"/>
            <a:ext cx="4959928" cy="3318936"/>
          </a:xfrm>
        </p:spPr>
        <p:txBody>
          <a:bodyPr/>
          <a:lstStyle/>
          <a:p>
            <a:pPr algn="just"/>
            <a:r>
              <a:rPr lang="pt-BR" dirty="0"/>
              <a:t>Utilizado para variáveis quantitativas contínuas agrupadas em classes.</a:t>
            </a:r>
          </a:p>
          <a:p>
            <a:pPr algn="just"/>
            <a:r>
              <a:rPr lang="pt-BR" dirty="0"/>
              <a:t>Sem espaços entre as colunas.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4B1DD5-DB93-F9F6-1EEE-8C827AE55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037" y="2486303"/>
            <a:ext cx="5575055" cy="3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38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E2963-FA5F-1B40-6854-367E3683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8E20E-7BD0-3592-0716-BEBFC5DB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 de Linhas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AA5654E-801F-9DB2-065E-9752E739D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6129" y="2450652"/>
            <a:ext cx="6288854" cy="3780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08974E4-C59F-C47E-D582-D3413241A369}"/>
              </a:ext>
            </a:extLst>
          </p:cNvPr>
          <p:cNvSpPr txBox="1"/>
          <p:nvPr/>
        </p:nvSpPr>
        <p:spPr>
          <a:xfrm>
            <a:off x="845128" y="2579361"/>
            <a:ext cx="4441002" cy="23251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just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9pPr>
          </a:lstStyle>
          <a:p>
            <a:r>
              <a:rPr lang="pt-BR" dirty="0"/>
              <a:t>Ideal para representar dados ao longo do tempo.</a:t>
            </a:r>
          </a:p>
          <a:p>
            <a:r>
              <a:rPr lang="pt-BR" dirty="0"/>
              <a:t>Mostra tendência, evolução ou comportamento.</a:t>
            </a:r>
          </a:p>
        </p:txBody>
      </p:sp>
    </p:spTree>
    <p:extLst>
      <p:ext uri="{BB962C8B-B14F-4D97-AF65-F5344CB8AC3E}">
        <p14:creationId xmlns:p14="http://schemas.microsoft.com/office/powerpoint/2010/main" val="2551510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111D4-B2F5-B37A-3883-8E00AD44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28A1-7CA5-98FC-0749-9EFE8434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Tendência Central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C9C830-20CF-EAAA-7AA9-72CF32815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2800" dirty="0"/>
              <a:t>São medidas que representam valores centrais ou típicos de um conjunto de dados, oferecendo uma visão geral do comportamento da variável estudada.</a:t>
            </a:r>
          </a:p>
          <a:p>
            <a:pPr algn="just"/>
            <a:r>
              <a:rPr lang="pt-BR" sz="2800" dirty="0"/>
              <a:t>Média</a:t>
            </a:r>
          </a:p>
          <a:p>
            <a:pPr algn="just"/>
            <a:r>
              <a:rPr lang="pt-BR" sz="2800" dirty="0"/>
              <a:t>Média Ponderada</a:t>
            </a:r>
          </a:p>
          <a:p>
            <a:pPr algn="just"/>
            <a:r>
              <a:rPr lang="pt-BR" sz="2800" dirty="0"/>
              <a:t>Mediana</a:t>
            </a:r>
          </a:p>
          <a:p>
            <a:pPr algn="just"/>
            <a:r>
              <a:rPr lang="pt-BR" sz="2800" dirty="0"/>
              <a:t>Moda</a:t>
            </a:r>
          </a:p>
        </p:txBody>
      </p:sp>
    </p:spTree>
    <p:extLst>
      <p:ext uri="{BB962C8B-B14F-4D97-AF65-F5344CB8AC3E}">
        <p14:creationId xmlns:p14="http://schemas.microsoft.com/office/powerpoint/2010/main" val="4074618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F7398-EABD-1DFD-A9F9-8E8F70EC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EA23C-60F0-0915-46A8-843D47858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Aritmética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D6E1C0-98D0-CA20-C39B-2DC0E6204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Soma dos valores dividida pelo número de elementos.</a:t>
            </a:r>
          </a:p>
          <a:p>
            <a:pPr algn="just"/>
            <a:r>
              <a:rPr lang="pt-BR" dirty="0"/>
              <a:t>Vantagens: Usa todos os valores.</a:t>
            </a:r>
          </a:p>
          <a:p>
            <a:pPr algn="just"/>
            <a:r>
              <a:rPr lang="pt-BR" dirty="0"/>
              <a:t>Desvantagens: Sensível a valores extremos ou fora da curva (</a:t>
            </a:r>
            <a:r>
              <a:rPr lang="pt-BR" i="1" dirty="0"/>
              <a:t>outliers</a:t>
            </a:r>
            <a:r>
              <a:rPr lang="pt-BR" dirty="0"/>
              <a:t>).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CB0B8E-CD04-DED8-417E-CE25B51B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865" y="4049582"/>
            <a:ext cx="4116233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80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FC5E3-D08F-5E57-D396-83FABB67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03032-6615-5331-F2BC-4B3B5E90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Média e Média distorcida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1DFFD2-87A3-F4C3-3182-9E7066A39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10" y="2556932"/>
            <a:ext cx="10377054" cy="3318936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2600" dirty="0"/>
              <a:t>Se tivermos tempos de resposta de 5 requisições (em </a:t>
            </a:r>
            <a:r>
              <a:rPr lang="pt-BR" sz="2600" dirty="0" err="1"/>
              <a:t>ms</a:t>
            </a:r>
            <a:r>
              <a:rPr lang="pt-BR" sz="2600" dirty="0"/>
              <a:t>): 30, 32, 31, 29, 500.</a:t>
            </a:r>
          </a:p>
          <a:p>
            <a:pPr algn="just">
              <a:spcBef>
                <a:spcPts val="0"/>
              </a:spcBef>
            </a:pPr>
            <a:r>
              <a:rPr lang="pt-BR" sz="2600" dirty="0"/>
              <a:t>Média = (30 + 32 + 31 + 29 + 500) / 5 = 124,4 ms.</a:t>
            </a:r>
          </a:p>
          <a:p>
            <a:pPr algn="just">
              <a:spcBef>
                <a:spcPts val="0"/>
              </a:spcBef>
            </a:pPr>
            <a:endParaRPr lang="pt-BR" sz="2600" dirty="0"/>
          </a:p>
          <a:p>
            <a:pPr algn="just">
              <a:spcBef>
                <a:spcPts val="0"/>
              </a:spcBef>
            </a:pPr>
            <a:r>
              <a:rPr lang="pt-BR" sz="2600" dirty="0"/>
              <a:t>Se tivermos tempos de resposta de 5 requisições (em </a:t>
            </a:r>
            <a:r>
              <a:rPr lang="pt-BR" sz="2600" dirty="0" err="1"/>
              <a:t>ms</a:t>
            </a:r>
            <a:r>
              <a:rPr lang="pt-BR" sz="2600" dirty="0"/>
              <a:t>): 30, 32, 31, 29, 30.</a:t>
            </a:r>
          </a:p>
          <a:p>
            <a:pPr algn="just">
              <a:spcBef>
                <a:spcPts val="0"/>
              </a:spcBef>
            </a:pPr>
            <a:r>
              <a:rPr lang="pt-BR" sz="2600" dirty="0"/>
              <a:t>Média = (30 + 32 + 31 + 29 + 30) / 5 = 30,4 ms.</a:t>
            </a:r>
          </a:p>
          <a:p>
            <a:pPr algn="just">
              <a:spcBef>
                <a:spcPts val="0"/>
              </a:spcBef>
            </a:pPr>
            <a:endParaRPr lang="pt-BR" sz="2600" dirty="0"/>
          </a:p>
          <a:p>
            <a:pPr algn="just">
              <a:spcBef>
                <a:spcPts val="0"/>
              </a:spcBef>
            </a:pPr>
            <a:r>
              <a:rPr lang="pt-BR" sz="2600" dirty="0"/>
              <a:t>Essa média está distorcida por um outlier.</a:t>
            </a:r>
          </a:p>
        </p:txBody>
      </p:sp>
    </p:spTree>
    <p:extLst>
      <p:ext uri="{BB962C8B-B14F-4D97-AF65-F5344CB8AC3E}">
        <p14:creationId xmlns:p14="http://schemas.microsoft.com/office/powerpoint/2010/main" val="2621993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013D-BA92-1384-7AA2-A6B2A588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C3C0B-8C2D-29FE-800A-AB3209B5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Aritmética no Excel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D811E99-C14C-715F-BDAE-829717064B0F}"/>
              </a:ext>
            </a:extLst>
          </p:cNvPr>
          <p:cNvSpPr txBox="1">
            <a:spLocks/>
          </p:cNvSpPr>
          <p:nvPr/>
        </p:nvSpPr>
        <p:spPr>
          <a:xfrm>
            <a:off x="4207182" y="5745077"/>
            <a:ext cx="4664325" cy="6146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2800" dirty="0"/>
              <a:t>=MÉDIA(B2:B4)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85032EF-B761-2388-637B-9DABE5F1F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337" y="2469077"/>
            <a:ext cx="3451894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84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E7374-35D8-90AF-A223-DAE89E53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4016F-A6BA-5B3B-9811-8A35BC34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Ponderada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C9CB73-FB90-244E-229B-A055B7C23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3" y="2338490"/>
            <a:ext cx="10732022" cy="3892439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A média ponderada é uma medida de tendência central que leva em consideração pesos diferentes atribuídos a cada valor do conjunto de dados. 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É útil quando alguns valores têm maior importância ou influência sobre o total.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Enquanto a média aritmética trata todos os dados igualmente, a média ponderada considera que cada valor pode contribuir de forma proporcional ao seu peso.</a:t>
            </a:r>
          </a:p>
          <a:p>
            <a:r>
              <a:rPr lang="pt-BR" dirty="0"/>
              <a:t>xi​ = valor da variável.</a:t>
            </a:r>
          </a:p>
          <a:p>
            <a:r>
              <a:rPr lang="pt-BR" dirty="0" err="1"/>
              <a:t>wi</a:t>
            </a:r>
            <a:r>
              <a:rPr lang="pt-BR" dirty="0"/>
              <a:t>​ = peso atribuído ao valor.</a:t>
            </a:r>
          </a:p>
          <a:p>
            <a:r>
              <a:rPr lang="pt-BR" dirty="0"/>
              <a:t>∑(</a:t>
            </a:r>
            <a:r>
              <a:rPr lang="pt-BR" dirty="0" err="1"/>
              <a:t>xi⋅wi</a:t>
            </a:r>
            <a:r>
              <a:rPr lang="pt-BR" dirty="0"/>
              <a:t>) = soma dos produtos dos valores pelos seus pesos.</a:t>
            </a:r>
          </a:p>
          <a:p>
            <a:r>
              <a:rPr lang="pt-BR" dirty="0"/>
              <a:t>∑</a:t>
            </a:r>
            <a:r>
              <a:rPr lang="pt-BR" dirty="0" err="1"/>
              <a:t>wi</a:t>
            </a:r>
            <a:r>
              <a:rPr lang="pt-BR" dirty="0"/>
              <a:t> = soma dos pesos.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D637E1F-856F-51A2-3601-DB387985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625" y="4547220"/>
            <a:ext cx="3429731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65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DC2E-5E23-659C-187D-3226E2251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D7444-D4FF-A369-7FCE-802BDCA5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Média Ponderada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E658F145-B092-E09B-8530-DF82EC148F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821986"/>
              </p:ext>
            </p:extLst>
          </p:nvPr>
        </p:nvGraphicFramePr>
        <p:xfrm>
          <a:off x="1295402" y="2903817"/>
          <a:ext cx="9601197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3240313836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500731200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308537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Avaliação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Nota (xi)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Peso (</a:t>
                      </a:r>
                      <a:r>
                        <a:rPr lang="pt-BR" sz="3200" dirty="0" err="1"/>
                        <a:t>wi</a:t>
                      </a:r>
                      <a:r>
                        <a:rPr lang="pt-BR" sz="32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12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Prova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7,0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538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Prova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6,0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295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Projeto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8,5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379592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D952B83D-6D30-F81C-2241-0C1C9A8FD7CA}"/>
              </a:ext>
            </a:extLst>
          </p:cNvPr>
          <p:cNvSpPr txBox="1"/>
          <p:nvPr/>
        </p:nvSpPr>
        <p:spPr>
          <a:xfrm>
            <a:off x="1295401" y="2396387"/>
            <a:ext cx="9601196" cy="8309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 typeface="Arial"/>
              <a:buChar char="•"/>
              <a:defRPr sz="2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9pPr>
          </a:lstStyle>
          <a:p>
            <a:r>
              <a:rPr lang="pt-BR" sz="2800" dirty="0"/>
              <a:t>Um aluno tem as seguintes notas e pesos para uma disciplina: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F6738F-CDB6-AAD0-109D-D2434DA89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43" y="5260953"/>
            <a:ext cx="8041087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81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D414-2A59-C97F-1307-40D45A3F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A6ACE-9886-810D-736A-239464CF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Ponderada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6EAAC-AF82-AC52-A580-E1DE83DAA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9820" y="5684972"/>
            <a:ext cx="7308954" cy="614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/>
              <a:t>=(B2*C2 + B3*C3 + B4*C4)/(C2 + C3 + C4)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88A31B-1DF8-88F5-B73D-D2A04834C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503" y="2457012"/>
            <a:ext cx="6872122" cy="31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921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FA00-3229-65F4-12A1-0CE47400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9BCDC-2A34-FBFE-57EE-D946EE68F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Mediana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2D0BD5-B9AA-FB4D-FB05-0F7D52D82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818"/>
            <a:ext cx="9601197" cy="36991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É o valor central da ordenação dos dados.</a:t>
            </a:r>
          </a:p>
          <a:p>
            <a:pPr algn="just"/>
            <a:r>
              <a:rPr lang="pt-BR" dirty="0"/>
              <a:t>Se o número de observações for ímpar, é o valor do meio; se par, é a média dos dois centrais.</a:t>
            </a:r>
          </a:p>
          <a:p>
            <a:pPr algn="just"/>
            <a:r>
              <a:rPr lang="pt-BR" dirty="0"/>
              <a:t>Vantagens: Resistente a outliers.</a:t>
            </a:r>
          </a:p>
          <a:p>
            <a:pPr algn="just"/>
            <a:r>
              <a:rPr lang="pt-BR" dirty="0"/>
              <a:t>Desvantagens: Não considera todos os valores diretamente.</a:t>
            </a:r>
          </a:p>
          <a:p>
            <a:pPr algn="just"/>
            <a:r>
              <a:rPr lang="pt-BR" dirty="0"/>
              <a:t>Exemplo: 29, 30, 31, 32, 500 </a:t>
            </a:r>
          </a:p>
          <a:p>
            <a:pPr algn="just"/>
            <a:r>
              <a:rPr lang="pt-BR" dirty="0"/>
              <a:t>Mediana = 31</a:t>
            </a:r>
          </a:p>
          <a:p>
            <a:pPr algn="just"/>
            <a:r>
              <a:rPr lang="pt-BR" dirty="0"/>
              <a:t>Mais representativa que a média nesse caso.</a:t>
            </a:r>
          </a:p>
        </p:txBody>
      </p:sp>
    </p:spTree>
    <p:extLst>
      <p:ext uri="{BB962C8B-B14F-4D97-AF65-F5344CB8AC3E}">
        <p14:creationId xmlns:p14="http://schemas.microsoft.com/office/powerpoint/2010/main" val="3358117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4ABD-136F-1B07-0C46-3803D2D0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F29F6-CF27-047A-C841-BF5D709B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Mediana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AF7DCC-98EE-71B0-950B-F79E678F5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619" y="5626486"/>
            <a:ext cx="4094017" cy="49876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800" dirty="0"/>
              <a:t>=MED(K10:K14)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27098F-5BDC-222A-D85D-67AABC47E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845" y="2475969"/>
            <a:ext cx="1577261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9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4630-BDA5-6A8A-C2D5-5BE81A45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D33D3-C5F0-C52B-E454-E9E7FFAE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236273-2762-08FE-5753-5EAD4335B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79963"/>
            <a:ext cx="9601196" cy="379614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É o valor que mais aparece no conjunto de dados.</a:t>
            </a:r>
          </a:p>
          <a:p>
            <a:pPr algn="just"/>
            <a:r>
              <a:rPr lang="pt-BR" dirty="0"/>
              <a:t>Podendo existir: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dirty="0"/>
              <a:t> Nenhuma moda.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dirty="0"/>
              <a:t> Uma moda (unimodal).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dirty="0"/>
              <a:t> Duas modas (bimodal).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dirty="0"/>
              <a:t> Mais de duas (multimodal).</a:t>
            </a:r>
          </a:p>
          <a:p>
            <a:pPr algn="just"/>
            <a:r>
              <a:rPr lang="pt-BR" dirty="0"/>
              <a:t>Exemplo: 29, 30, 30, 31, 32.</a:t>
            </a:r>
          </a:p>
          <a:p>
            <a:pPr algn="just"/>
            <a:r>
              <a:rPr lang="pt-BR" dirty="0"/>
              <a:t>Moda = 30.                            No Excel =MODO.ÚNICO(G2:G6)</a:t>
            </a:r>
          </a:p>
        </p:txBody>
      </p:sp>
    </p:spTree>
    <p:extLst>
      <p:ext uri="{BB962C8B-B14F-4D97-AF65-F5344CB8AC3E}">
        <p14:creationId xmlns:p14="http://schemas.microsoft.com/office/powerpoint/2010/main" val="3228615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E7DC-E298-E7BF-BF8C-2B0AAB56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08698-16D8-C7EA-1729-D209741C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Dispersão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514C0D-5F72-FFBE-E7FC-492B09D27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218" y="2418382"/>
            <a:ext cx="10044545" cy="3816162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pt-BR" sz="2800" dirty="0"/>
              <a:t>Medidas de Dispersão são medidas que indicam o grau de espalhamento ou variabilidade dos dados em relação à média ou a outros pontos de referência.</a:t>
            </a:r>
          </a:p>
          <a:p>
            <a:pPr algn="just"/>
            <a:r>
              <a:rPr lang="pt-BR" sz="2800" dirty="0"/>
              <a:t>Amplitude.</a:t>
            </a:r>
          </a:p>
          <a:p>
            <a:pPr algn="just"/>
            <a:r>
              <a:rPr lang="pt-BR" sz="2800" dirty="0"/>
              <a:t>Variância.</a:t>
            </a:r>
          </a:p>
          <a:p>
            <a:pPr algn="just"/>
            <a:r>
              <a:rPr lang="pt-BR" sz="2800" dirty="0"/>
              <a:t>Desvio Padrão.</a:t>
            </a:r>
          </a:p>
          <a:p>
            <a:pPr algn="just"/>
            <a:r>
              <a:rPr lang="pt-BR" sz="2800" dirty="0"/>
              <a:t>Quartis.</a:t>
            </a:r>
          </a:p>
          <a:p>
            <a:pPr algn="just"/>
            <a:r>
              <a:rPr lang="pt-BR" sz="2800" dirty="0"/>
              <a:t>Percentis.</a:t>
            </a:r>
          </a:p>
        </p:txBody>
      </p:sp>
    </p:spTree>
    <p:extLst>
      <p:ext uri="{BB962C8B-B14F-4D97-AF65-F5344CB8AC3E}">
        <p14:creationId xmlns:p14="http://schemas.microsoft.com/office/powerpoint/2010/main" val="1200225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FC81-CC4A-9DE6-DBA9-8F63A47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74086-EF50-2BE1-1CDC-E71C45F8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Amplitude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77B1CB-4B7D-D834-5E9D-A8DEE020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É a diferença entre o maior e o menor valor do conjunto.</a:t>
            </a:r>
          </a:p>
          <a:p>
            <a:pPr algn="just"/>
            <a:r>
              <a:rPr lang="pt-BR" dirty="0"/>
              <a:t>Fórmula: A = </a:t>
            </a:r>
            <a:r>
              <a:rPr lang="pt-BR" dirty="0" err="1"/>
              <a:t>Xmáx</a:t>
            </a:r>
            <a:r>
              <a:rPr lang="pt-BR" dirty="0"/>
              <a:t>​ − </a:t>
            </a:r>
            <a:r>
              <a:rPr lang="pt-BR" dirty="0" err="1"/>
              <a:t>Xmín</a:t>
            </a:r>
            <a:endParaRPr lang="pt-BR" dirty="0"/>
          </a:p>
          <a:p>
            <a:pPr algn="just"/>
            <a:r>
              <a:rPr lang="pt-BR" dirty="0"/>
              <a:t>​Vantagem: Simples de calcular.</a:t>
            </a:r>
          </a:p>
          <a:p>
            <a:pPr algn="just"/>
            <a:r>
              <a:rPr lang="pt-BR" dirty="0"/>
              <a:t>Limitação: Muito sensível a valores extremos.</a:t>
            </a:r>
          </a:p>
          <a:p>
            <a:pPr algn="just"/>
            <a:r>
              <a:rPr lang="pt-BR" dirty="0"/>
              <a:t>No Excel temos:</a:t>
            </a:r>
          </a:p>
          <a:p>
            <a:pPr marL="0" indent="0" algn="just">
              <a:buNone/>
            </a:pPr>
            <a:r>
              <a:rPr lang="pt-BR" dirty="0"/>
              <a:t>= MÁXIMO(intervalo) - MÍNIMO(intervalo)</a:t>
            </a:r>
          </a:p>
        </p:txBody>
      </p:sp>
    </p:spTree>
    <p:extLst>
      <p:ext uri="{BB962C8B-B14F-4D97-AF65-F5344CB8AC3E}">
        <p14:creationId xmlns:p14="http://schemas.microsoft.com/office/powerpoint/2010/main" val="3503773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38F4-92CA-CDEC-6E35-13B4499E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92085-CD6F-0732-1FF8-86027FFD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Desvio Padrão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91169C-8C6D-C48B-AC0C-36E8CF9CA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Mede o grau de dispersão dos dados em torno da média.</a:t>
            </a:r>
          </a:p>
          <a:p>
            <a:pPr algn="just"/>
            <a:r>
              <a:rPr lang="pt-BR" dirty="0"/>
              <a:t>É a raiz quadrada da variância.</a:t>
            </a:r>
          </a:p>
          <a:p>
            <a:pPr algn="just"/>
            <a:r>
              <a:rPr lang="pt-BR" dirty="0"/>
              <a:t>Muito usado para interpretar a variabilidade de forma mais intuitiva.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344A86-7C5C-ADC2-481A-114F53294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198" y="4348325"/>
            <a:ext cx="3810330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4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9510A-07EA-A371-D58A-00C5468F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5F6D-A7DB-13F5-A16F-3877B85F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Padrão no Excel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4A39A6D-BF45-7B33-AE70-F08E0A82F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7495" y="2433278"/>
            <a:ext cx="3128655" cy="3816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7075F35-F1CA-B80C-260A-247E27DA2782}"/>
              </a:ext>
            </a:extLst>
          </p:cNvPr>
          <p:cNvSpPr txBox="1"/>
          <p:nvPr/>
        </p:nvSpPr>
        <p:spPr>
          <a:xfrm>
            <a:off x="5278582" y="3971946"/>
            <a:ext cx="58881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Amostra =DESVPAD.A(D9:D20)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População =DESVPAD.P(intervalo)</a:t>
            </a:r>
          </a:p>
        </p:txBody>
      </p:sp>
    </p:spTree>
    <p:extLst>
      <p:ext uri="{BB962C8B-B14F-4D97-AF65-F5344CB8AC3E}">
        <p14:creationId xmlns:p14="http://schemas.microsoft.com/office/powerpoint/2010/main" val="1320520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4522-C929-8932-E331-64F81BEC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CC242-6A01-206A-C14D-4BB1D5774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Variância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B30D7D-932A-9921-7B95-ADD8821BB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66109"/>
            <a:ext cx="9601196" cy="3768436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Mede também o grau de dispersão dos dados em torno da média.</a:t>
            </a:r>
          </a:p>
          <a:p>
            <a:pPr algn="just"/>
            <a:r>
              <a:rPr lang="pt-BR" dirty="0"/>
              <a:t>É o desvio padrão ao quadrado.</a:t>
            </a:r>
          </a:p>
          <a:p>
            <a:pPr algn="just"/>
            <a:r>
              <a:rPr lang="pt-BR" b="1" dirty="0"/>
              <a:t>Fórmula (população):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Fórmula (amostra):</a:t>
            </a:r>
          </a:p>
          <a:p>
            <a:pPr algn="just"/>
            <a:endParaRPr lang="pt-BR" b="1" dirty="0"/>
          </a:p>
          <a:p>
            <a:pPr algn="just"/>
            <a:r>
              <a:rPr lang="pt-BR" dirty="0"/>
              <a:t>Representa a média dos quadrados dos desvios em relação à média.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924A4C-2820-F88A-BECD-8B0FA1182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058" y="3248890"/>
            <a:ext cx="2562288" cy="97243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4EC71BD-7366-47CC-42F0-6836790DF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4" r="3782"/>
          <a:stretch>
            <a:fillRect/>
          </a:stretch>
        </p:blipFill>
        <p:spPr>
          <a:xfrm>
            <a:off x="6663058" y="4565307"/>
            <a:ext cx="2562288" cy="93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69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4F06-CD66-1657-F7AC-2250D2CCF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6526A-694C-4A58-5D3B-3EAA33C8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no Excel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A5E52292-5F29-C438-9DC4-E90891175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257" y="2445250"/>
            <a:ext cx="2909002" cy="3816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63915A5-3773-3B14-5069-1A7ACD5F0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59" y="4842543"/>
            <a:ext cx="3797130" cy="141870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6A02A68-BCEE-5B10-BD18-E7065B4C4F03}"/>
              </a:ext>
            </a:extLst>
          </p:cNvPr>
          <p:cNvSpPr txBox="1"/>
          <p:nvPr/>
        </p:nvSpPr>
        <p:spPr>
          <a:xfrm>
            <a:off x="4590411" y="2610163"/>
            <a:ext cx="5661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Populacional: =VAR.P(intervalo)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Amostral: =VAR(intervalo)</a:t>
            </a:r>
          </a:p>
        </p:txBody>
      </p:sp>
    </p:spTree>
    <p:extLst>
      <p:ext uri="{BB962C8B-B14F-4D97-AF65-F5344CB8AC3E}">
        <p14:creationId xmlns:p14="http://schemas.microsoft.com/office/powerpoint/2010/main" val="15321630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3F92-FA6A-1C94-3A72-2C8AFD3B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79A4A-65B7-87CB-C98E-CCA7C1E0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Quartis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A3628E-76FB-D738-AF5E-F4F33656B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sz="2800" dirty="0"/>
              <a:t>Dividem o conjunto de dados ordenado em quatro partes iguais.</a:t>
            </a:r>
          </a:p>
          <a:p>
            <a:pPr algn="just"/>
            <a:r>
              <a:rPr lang="pt-BR" sz="2800" dirty="0"/>
              <a:t>Q1 (1º quartil): 0 a 25% dos dados estão abaixo dele</a:t>
            </a:r>
          </a:p>
          <a:p>
            <a:pPr algn="just"/>
            <a:r>
              <a:rPr lang="pt-BR" sz="2800" dirty="0"/>
              <a:t>Q2 (mediana): 25,1% a 50%</a:t>
            </a:r>
          </a:p>
          <a:p>
            <a:pPr algn="just"/>
            <a:r>
              <a:rPr lang="pt-BR" sz="2800" dirty="0"/>
              <a:t>Q3 (3º quartil): 50,1% a 75%</a:t>
            </a:r>
          </a:p>
          <a:p>
            <a:pPr algn="just"/>
            <a:r>
              <a:rPr lang="pt-BR" sz="2800" dirty="0"/>
              <a:t>Q4 (4º quartil): 75,1% a 100%</a:t>
            </a:r>
          </a:p>
          <a:p>
            <a:pPr algn="just"/>
            <a:r>
              <a:rPr lang="pt-BR" sz="2800" dirty="0"/>
              <a:t>Úteis para análise de cauda, assimetria e outliers.</a:t>
            </a:r>
          </a:p>
        </p:txBody>
      </p:sp>
    </p:spTree>
    <p:extLst>
      <p:ext uri="{BB962C8B-B14F-4D97-AF65-F5344CB8AC3E}">
        <p14:creationId xmlns:p14="http://schemas.microsoft.com/office/powerpoint/2010/main" val="601224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E9572-2C3C-B31E-0C18-BA31597FB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82104-1513-B93C-F477-188B742D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Percentis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9BB2E5-BF83-9C25-6A29-9F83B79E3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Generalização dos quartis: dividem os dados ordenados em 100 partes.</a:t>
            </a:r>
          </a:p>
          <a:p>
            <a:pPr algn="just"/>
            <a:r>
              <a:rPr lang="pt-BR" sz="2800" dirty="0"/>
              <a:t>P90 → 90% dos dados estão abaixo deste valor.</a:t>
            </a:r>
          </a:p>
          <a:p>
            <a:pPr algn="just"/>
            <a:r>
              <a:rPr lang="pt-BR" sz="2800" dirty="0"/>
              <a:t>Usado em relatórios de desempenho, testes e benchmarks.</a:t>
            </a:r>
          </a:p>
        </p:txBody>
      </p:sp>
    </p:spTree>
    <p:extLst>
      <p:ext uri="{BB962C8B-B14F-4D97-AF65-F5344CB8AC3E}">
        <p14:creationId xmlns:p14="http://schemas.microsoft.com/office/powerpoint/2010/main" val="3378080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2455</TotalTime>
  <Words>2099</Words>
  <Application>Microsoft Office PowerPoint</Application>
  <PresentationFormat>Widescreen</PresentationFormat>
  <Paragraphs>228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6" baseType="lpstr">
      <vt:lpstr>Arial</vt:lpstr>
      <vt:lpstr>Garamond</vt:lpstr>
      <vt:lpstr>Wingdings</vt:lpstr>
      <vt:lpstr>Orgânico</vt:lpstr>
      <vt:lpstr>Estatística Para Computação</vt:lpstr>
      <vt:lpstr>História da Estatística</vt:lpstr>
      <vt:lpstr>História da Estatística</vt:lpstr>
      <vt:lpstr>Estatística e o Método Científico</vt:lpstr>
      <vt:lpstr>Introdução</vt:lpstr>
      <vt:lpstr>Estatística X Probabilidade</vt:lpstr>
      <vt:lpstr>Aplicações</vt:lpstr>
      <vt:lpstr>População e Amostra</vt:lpstr>
      <vt:lpstr>Variáveis</vt:lpstr>
      <vt:lpstr>Dados</vt:lpstr>
      <vt:lpstr>Atividade Prática “Explorando Dados”</vt:lpstr>
      <vt:lpstr>Coleta de Dados</vt:lpstr>
      <vt:lpstr>Técnicas de Coleta de Dados</vt:lpstr>
      <vt:lpstr> Transformar Dados em Informações  Compreensíveis</vt:lpstr>
      <vt:lpstr> Transformar Dados em Informações  Compreensíveis</vt:lpstr>
      <vt:lpstr>Análises de Dados</vt:lpstr>
      <vt:lpstr>Análises de Dados</vt:lpstr>
      <vt:lpstr>Tabelas de Frequência</vt:lpstr>
      <vt:lpstr>Tabelas de Frequência</vt:lpstr>
      <vt:lpstr>Gráficos Estatísticos</vt:lpstr>
      <vt:lpstr>Gráfico de Barras</vt:lpstr>
      <vt:lpstr>Gráfico de Setores (Pizza)</vt:lpstr>
      <vt:lpstr>Histograma</vt:lpstr>
      <vt:lpstr>Gráfico de Linhas</vt:lpstr>
      <vt:lpstr>Medidas de Tendência Central</vt:lpstr>
      <vt:lpstr>Média Aritmética</vt:lpstr>
      <vt:lpstr>Exemplo de Média e Média distorcida</vt:lpstr>
      <vt:lpstr>Média Aritmética no Excel</vt:lpstr>
      <vt:lpstr>Média Ponderada</vt:lpstr>
      <vt:lpstr>Exemplo de Média Ponderada</vt:lpstr>
      <vt:lpstr>Média Ponderada no Excel</vt:lpstr>
      <vt:lpstr>Mediana</vt:lpstr>
      <vt:lpstr>Mediana no Excel</vt:lpstr>
      <vt:lpstr>Moda</vt:lpstr>
      <vt:lpstr>Medidas de Dispersão</vt:lpstr>
      <vt:lpstr>Amplitude</vt:lpstr>
      <vt:lpstr>Desvio Padrão</vt:lpstr>
      <vt:lpstr>Desvio Padrão no Excel</vt:lpstr>
      <vt:lpstr>Variância</vt:lpstr>
      <vt:lpstr>Variância no Excel</vt:lpstr>
      <vt:lpstr>Quartis</vt:lpstr>
      <vt:lpstr>Percentis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508</cp:revision>
  <dcterms:created xsi:type="dcterms:W3CDTF">2016-01-25T19:09:02Z</dcterms:created>
  <dcterms:modified xsi:type="dcterms:W3CDTF">2026-08-01T21:25:46Z</dcterms:modified>
</cp:coreProperties>
</file>