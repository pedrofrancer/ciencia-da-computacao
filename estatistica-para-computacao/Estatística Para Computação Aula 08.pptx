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66" r:id="rId4"/>
    <p:sldId id="282" r:id="rId5"/>
    <p:sldId id="283" r:id="rId6"/>
    <p:sldId id="284" r:id="rId7"/>
    <p:sldId id="267" r:id="rId8"/>
    <p:sldId id="268" r:id="rId9"/>
    <p:sldId id="270" r:id="rId10"/>
    <p:sldId id="269" r:id="rId11"/>
    <p:sldId id="275" r:id="rId12"/>
    <p:sldId id="285" r:id="rId13"/>
    <p:sldId id="271" r:id="rId14"/>
    <p:sldId id="274" r:id="rId15"/>
    <p:sldId id="276" r:id="rId16"/>
    <p:sldId id="277" r:id="rId17"/>
    <p:sldId id="273" r:id="rId18"/>
    <p:sldId id="278" r:id="rId19"/>
    <p:sldId id="280" r:id="rId20"/>
    <p:sldId id="279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6E0CE-FF79-421F-98AA-B00047F169A1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1094-2F7D-4985-A9B0-7A020E3D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3314480"/>
          </a:xfrm>
        </p:spPr>
        <p:txBody>
          <a:bodyPr/>
          <a:lstStyle/>
          <a:p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  <a:b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Regressão Não Linear</a:t>
            </a:r>
            <a:b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Aula 08</a:t>
            </a:r>
            <a:endParaRPr lang="pt-B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5511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Em modelos regressão não-linear dados observados de uma variável resposta são descritos por uma função de uma ou mais variáveis explicativas que é não linear a seus parâmetros.</a:t>
            </a:r>
          </a:p>
          <a:p>
            <a:pPr algn="just"/>
            <a:r>
              <a:rPr lang="pt-BR" dirty="0"/>
              <a:t>Assim como nos modelos lineares o objetivo é identificar e estabelecer a relação entre variáveis explicativas e resposta.</a:t>
            </a:r>
          </a:p>
          <a:p>
            <a:pPr algn="just"/>
            <a:r>
              <a:rPr lang="pt-BR" dirty="0"/>
              <a:t>Entretanto, enquanto os modelos lineares definem, em geral, relações empíricas, os modelos não-lineares são, em grande parte das vezes, motivados pelo conhecimento do tipo de relação entre as variáveis.</a:t>
            </a:r>
          </a:p>
        </p:txBody>
      </p:sp>
    </p:spTree>
    <p:extLst>
      <p:ext uri="{BB962C8B-B14F-4D97-AF65-F5344CB8AC3E}">
        <p14:creationId xmlns:p14="http://schemas.microsoft.com/office/powerpoint/2010/main" val="204396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Não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91205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/>
              <a:t>Modelos de regressão são amplamente usados em diversas aplicações para descrever a relação entre uma variável resposta Y e uma variável explicativa X.</a:t>
            </a:r>
          </a:p>
          <a:p>
            <a:pPr algn="just"/>
            <a:r>
              <a:rPr lang="pt-BR" dirty="0"/>
              <a:t>O modelo estatístico é linear se a quantidade de interesse, geralmente a média de Y, é função linear dos parâmetros, caso contrário é não linear.</a:t>
            </a:r>
          </a:p>
          <a:p>
            <a:pPr algn="just"/>
            <a:r>
              <a:rPr lang="pt-BR" dirty="0"/>
              <a:t>No entanto, se um modelo de regressão não segue o modelo linear, então ele pode ser classificado como  não linear.</a:t>
            </a:r>
          </a:p>
          <a:p>
            <a:pPr algn="just"/>
            <a:r>
              <a:rPr lang="pt-BR" dirty="0"/>
              <a:t>Modelos não lineares descrevem alguma quantidade relacionada à distribuição de probabilidades de uma variável aleatória Y como uma função, não linear nos parâmetros X.</a:t>
            </a:r>
          </a:p>
        </p:txBody>
      </p:sp>
    </p:spTree>
    <p:extLst>
      <p:ext uri="{BB962C8B-B14F-4D97-AF65-F5344CB8AC3E}">
        <p14:creationId xmlns:p14="http://schemas.microsoft.com/office/powerpoint/2010/main" val="3982263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C9F56-B840-9D61-7DE8-DF593254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Não Linear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BEF1C-DDD6-B142-6731-53661A401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 regressão não linear é uma técnica estatística que busca modelar a relação entre uma variável dependente e uma ou mais variáveis independentes, quando essa relação não pode ser representada por uma linha reta.</a:t>
            </a:r>
          </a:p>
          <a:p>
            <a:pPr algn="just"/>
            <a:r>
              <a:rPr lang="pt-BR" dirty="0"/>
              <a:t>Enquanto a regressão linear pressupõe que a relação entre as variáveis é constante e pode ser descrita por uma equação simples (y=</a:t>
            </a:r>
            <a:r>
              <a:rPr lang="pt-BR" dirty="0" err="1"/>
              <a:t>a+bx</a:t>
            </a:r>
            <a:r>
              <a:rPr lang="pt-BR" dirty="0"/>
              <a:t>), a regressão não linear é usada para descrever relações mais complexas, onde a taxa de mudança entre as variáveis não é constante.</a:t>
            </a:r>
          </a:p>
        </p:txBody>
      </p:sp>
    </p:spTree>
    <p:extLst>
      <p:ext uri="{BB962C8B-B14F-4D97-AF65-F5344CB8AC3E}">
        <p14:creationId xmlns:p14="http://schemas.microsoft.com/office/powerpoint/2010/main" val="68627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559CC-E2F5-8149-FA0B-9D1DE046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Quando usar a Regressão Não Linear?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F7208-4F27-F154-DD59-4EC4074C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418" y="2466109"/>
            <a:ext cx="10640291" cy="3920836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Quando a relação entre as variáveis não é linear, como o crescimento de população de bactérias, no início, o crescimento é lento, depois se acelera exponencialmente e, por fim, desacelera à medida que os recursos se esgotam. </a:t>
            </a:r>
          </a:p>
          <a:p>
            <a:pPr algn="just"/>
            <a:r>
              <a:rPr lang="pt-BR" dirty="0"/>
              <a:t>Essa curva de crescimento não pode ser modelada por uma linha reta.</a:t>
            </a:r>
          </a:p>
          <a:p>
            <a:pPr algn="just"/>
            <a:r>
              <a:rPr lang="pt-BR" dirty="0"/>
              <a:t>A teoria ou o conhecimento prévio sugerem uma relação não linear. </a:t>
            </a:r>
          </a:p>
          <a:p>
            <a:pPr algn="just"/>
            <a:r>
              <a:rPr lang="pt-BR" dirty="0"/>
              <a:t>Em muitas áreas da ciência, como biologia, química e engenharia, as relações entre fenômenos são naturalmente não lineares. </a:t>
            </a:r>
          </a:p>
          <a:p>
            <a:pPr algn="just"/>
            <a:r>
              <a:rPr lang="pt-BR" dirty="0"/>
              <a:t>Por exemplo, a cinética de uma reação química ou a curva de aquecimento de um material.</a:t>
            </a:r>
          </a:p>
        </p:txBody>
      </p:sp>
    </p:spTree>
    <p:extLst>
      <p:ext uri="{BB962C8B-B14F-4D97-AF65-F5344CB8AC3E}">
        <p14:creationId xmlns:p14="http://schemas.microsoft.com/office/powerpoint/2010/main" val="174099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C9CD-D769-F30B-3988-AF0092B8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77979-A439-534B-A29F-88AEA023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461425-C08A-CC37-5822-5C199CF9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A regressão não linear utiliza funções matemáticas mais complexas para ajustar uma curva aos dados. </a:t>
            </a:r>
          </a:p>
          <a:p>
            <a:pPr marL="0" indent="0" algn="just">
              <a:buNone/>
            </a:pPr>
            <a:r>
              <a:rPr lang="pt-BR" dirty="0"/>
              <a:t>Em vez de usar a equação de uma linha reta, ela usa modelos como: </a:t>
            </a:r>
          </a:p>
          <a:p>
            <a:pPr algn="just"/>
            <a:r>
              <a:rPr lang="pt-BR" dirty="0"/>
              <a:t>Funções Exponenciais: Para modelar crescimento ou decaimento acelerado.</a:t>
            </a:r>
          </a:p>
          <a:p>
            <a:pPr algn="just"/>
            <a:r>
              <a:rPr lang="pt-BR" dirty="0"/>
              <a:t>Funções Logarítmicas: Para modelar relações que se achatam com o tempo.</a:t>
            </a:r>
          </a:p>
          <a:p>
            <a:pPr algn="just"/>
            <a:r>
              <a:rPr lang="pt-BR" dirty="0"/>
              <a:t>Funções Polinomiais: Para modelar curvas com picos e vales.</a:t>
            </a:r>
          </a:p>
          <a:p>
            <a:pPr algn="just"/>
            <a:r>
              <a:rPr lang="pt-BR" dirty="0"/>
              <a:t>Entre outras, vamos conhecer as principais...</a:t>
            </a:r>
          </a:p>
        </p:txBody>
      </p:sp>
    </p:spTree>
    <p:extLst>
      <p:ext uri="{BB962C8B-B14F-4D97-AF65-F5344CB8AC3E}">
        <p14:creationId xmlns:p14="http://schemas.microsoft.com/office/powerpoint/2010/main" val="92000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Função Potência;</a:t>
            </a:r>
          </a:p>
          <a:p>
            <a:r>
              <a:rPr lang="pt-BR" sz="3200" dirty="0"/>
              <a:t>Função Exponencial;</a:t>
            </a:r>
          </a:p>
          <a:p>
            <a:r>
              <a:rPr lang="pt-BR" sz="3200" dirty="0"/>
              <a:t>Função Logarítmica;</a:t>
            </a:r>
          </a:p>
          <a:p>
            <a:r>
              <a:rPr lang="pt-BR" sz="3200" dirty="0"/>
              <a:t>Função Polinomial.</a:t>
            </a:r>
          </a:p>
        </p:txBody>
      </p:sp>
    </p:spTree>
    <p:extLst>
      <p:ext uri="{BB962C8B-B14F-4D97-AF65-F5344CB8AC3E}">
        <p14:creationId xmlns:p14="http://schemas.microsoft.com/office/powerpoint/2010/main" val="115083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Potência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54442"/>
            <a:ext cx="9601196" cy="342142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</a:t>
            </a:r>
            <a:r>
              <a:rPr lang="pt-BR" dirty="0" err="1"/>
              <a:t>a.x</a:t>
            </a:r>
            <a:r>
              <a:rPr lang="pt-BR" baseline="30000" dirty="0" err="1"/>
              <a:t>b</a:t>
            </a:r>
            <a:r>
              <a:rPr lang="pt-BR" dirty="0"/>
              <a:t>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283221"/>
            <a:ext cx="1778390" cy="295982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298" y="2454442"/>
            <a:ext cx="6009924" cy="374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3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para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304420" cy="3318936"/>
          </a:xfrm>
        </p:spPr>
        <p:txBody>
          <a:bodyPr/>
          <a:lstStyle/>
          <a:p>
            <a:r>
              <a:rPr lang="pt-BR" dirty="0"/>
              <a:t>Para transformar a função potência y = </a:t>
            </a:r>
            <a:r>
              <a:rPr lang="pt-BR" dirty="0" err="1"/>
              <a:t>a.x</a:t>
            </a:r>
            <a:r>
              <a:rPr lang="pt-BR" baseline="30000" dirty="0" err="1"/>
              <a:t>b</a:t>
            </a:r>
            <a:r>
              <a:rPr lang="pt-BR" dirty="0"/>
              <a:t> em uma função linear deve-se aplicar logaritmo </a:t>
            </a:r>
            <a:r>
              <a:rPr lang="pt-BR" dirty="0" err="1"/>
              <a:t>neperiano</a:t>
            </a:r>
            <a:r>
              <a:rPr lang="pt-BR" dirty="0"/>
              <a:t> (</a:t>
            </a:r>
            <a:r>
              <a:rPr lang="pt-BR" dirty="0" err="1"/>
              <a:t>ln</a:t>
            </a:r>
            <a:r>
              <a:rPr lang="pt-BR" dirty="0"/>
              <a:t>) nos 2 lados da equação:</a:t>
            </a:r>
          </a:p>
          <a:p>
            <a:r>
              <a:rPr lang="pt-BR" dirty="0"/>
              <a:t>y = </a:t>
            </a:r>
            <a:r>
              <a:rPr lang="pt-BR" dirty="0" err="1"/>
              <a:t>a.x</a:t>
            </a:r>
            <a:r>
              <a:rPr lang="pt-BR" baseline="30000" dirty="0" err="1"/>
              <a:t>b</a:t>
            </a:r>
            <a:endParaRPr lang="pt-BR" baseline="30000" dirty="0"/>
          </a:p>
          <a:p>
            <a:r>
              <a:rPr lang="pt-BR" dirty="0" err="1"/>
              <a:t>ln</a:t>
            </a:r>
            <a:r>
              <a:rPr lang="pt-BR" dirty="0"/>
              <a:t> (y) = </a:t>
            </a:r>
            <a:r>
              <a:rPr lang="pt-BR" dirty="0" err="1"/>
              <a:t>ln</a:t>
            </a:r>
            <a:r>
              <a:rPr lang="pt-BR" dirty="0"/>
              <a:t> (</a:t>
            </a:r>
            <a:r>
              <a:rPr lang="pt-BR" dirty="0" err="1"/>
              <a:t>a.x</a:t>
            </a:r>
            <a:r>
              <a:rPr lang="pt-BR" baseline="30000" dirty="0" err="1"/>
              <a:t>b</a:t>
            </a:r>
            <a:r>
              <a:rPr lang="pt-BR" dirty="0"/>
              <a:t>)</a:t>
            </a:r>
          </a:p>
          <a:p>
            <a:r>
              <a:rPr lang="pt-BR" dirty="0" err="1"/>
              <a:t>ln</a:t>
            </a:r>
            <a:r>
              <a:rPr lang="pt-BR" dirty="0"/>
              <a:t> y = </a:t>
            </a:r>
            <a:r>
              <a:rPr lang="pt-BR" dirty="0" err="1"/>
              <a:t>ln</a:t>
            </a:r>
            <a:r>
              <a:rPr lang="pt-BR" dirty="0"/>
              <a:t> a + </a:t>
            </a:r>
            <a:r>
              <a:rPr lang="pt-BR" dirty="0" err="1"/>
              <a:t>b.ln</a:t>
            </a:r>
            <a:r>
              <a:rPr lang="pt-BR" dirty="0"/>
              <a:t> x </a:t>
            </a:r>
          </a:p>
        </p:txBody>
      </p:sp>
    </p:spTree>
    <p:extLst>
      <p:ext uri="{BB962C8B-B14F-4D97-AF65-F5344CB8AC3E}">
        <p14:creationId xmlns:p14="http://schemas.microsoft.com/office/powerpoint/2010/main" val="326330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Exponencial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42411"/>
            <a:ext cx="9601196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</a:t>
            </a:r>
            <a:r>
              <a:rPr lang="pt-BR" dirty="0" err="1"/>
              <a:t>a.e</a:t>
            </a:r>
            <a:r>
              <a:rPr lang="pt-BR" baseline="30000" dirty="0" err="1"/>
              <a:t>bx</a:t>
            </a:r>
            <a:r>
              <a:rPr lang="pt-BR" dirty="0"/>
              <a:t>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260557"/>
            <a:ext cx="1703188" cy="298386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124" y="2466475"/>
            <a:ext cx="6012162" cy="374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1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Exponencial com X negativo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127" y="2492418"/>
            <a:ext cx="2124093" cy="372125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442" y="2476815"/>
            <a:ext cx="5991726" cy="373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4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7400" y="982132"/>
            <a:ext cx="8839198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Função Exponencial com </a:t>
            </a:r>
            <a:br>
              <a:rPr lang="pt-BR" dirty="0"/>
            </a:br>
            <a:r>
              <a:rPr lang="pt-BR" dirty="0"/>
              <a:t>Expoente Negativo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" y="633641"/>
            <a:ext cx="1651362" cy="561478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33" y="2480425"/>
            <a:ext cx="6340531" cy="376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23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para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304420" cy="3318936"/>
          </a:xfrm>
        </p:spPr>
        <p:txBody>
          <a:bodyPr/>
          <a:lstStyle/>
          <a:p>
            <a:r>
              <a:rPr lang="pt-BR" dirty="0"/>
              <a:t>Para transformar a função exponencial y = </a:t>
            </a:r>
            <a:r>
              <a:rPr lang="pt-BR" dirty="0" err="1"/>
              <a:t>a.e</a:t>
            </a:r>
            <a:r>
              <a:rPr lang="pt-BR" baseline="30000" dirty="0" err="1"/>
              <a:t>bx</a:t>
            </a:r>
            <a:r>
              <a:rPr lang="pt-BR" baseline="30000" dirty="0"/>
              <a:t> </a:t>
            </a:r>
            <a:r>
              <a:rPr lang="pt-BR" dirty="0"/>
              <a:t>em uma função linear deve-se aplicar logaritmo </a:t>
            </a:r>
            <a:r>
              <a:rPr lang="pt-BR" dirty="0" err="1"/>
              <a:t>neperiano</a:t>
            </a:r>
            <a:r>
              <a:rPr lang="pt-BR" dirty="0"/>
              <a:t> (</a:t>
            </a:r>
            <a:r>
              <a:rPr lang="pt-BR" dirty="0" err="1"/>
              <a:t>ln</a:t>
            </a:r>
            <a:r>
              <a:rPr lang="pt-BR" dirty="0"/>
              <a:t>) nos 2 lados da equação:</a:t>
            </a:r>
          </a:p>
          <a:p>
            <a:r>
              <a:rPr lang="pt-BR" dirty="0"/>
              <a:t>y = </a:t>
            </a:r>
            <a:r>
              <a:rPr lang="pt-BR" dirty="0" err="1"/>
              <a:t>a.e</a:t>
            </a:r>
            <a:r>
              <a:rPr lang="pt-BR" baseline="30000" dirty="0" err="1"/>
              <a:t>bx</a:t>
            </a:r>
            <a:r>
              <a:rPr lang="pt-BR" baseline="30000" dirty="0"/>
              <a:t> </a:t>
            </a:r>
          </a:p>
          <a:p>
            <a:r>
              <a:rPr lang="pt-BR" dirty="0" err="1"/>
              <a:t>ln</a:t>
            </a:r>
            <a:r>
              <a:rPr lang="pt-BR" dirty="0"/>
              <a:t> (y) = </a:t>
            </a:r>
            <a:r>
              <a:rPr lang="pt-BR" dirty="0" err="1"/>
              <a:t>ln</a:t>
            </a:r>
            <a:r>
              <a:rPr lang="pt-BR" dirty="0"/>
              <a:t> (</a:t>
            </a:r>
            <a:r>
              <a:rPr lang="pt-BR" dirty="0" err="1"/>
              <a:t>a.e</a:t>
            </a:r>
            <a:r>
              <a:rPr lang="pt-BR" baseline="30000" dirty="0" err="1"/>
              <a:t>bx</a:t>
            </a:r>
            <a:r>
              <a:rPr lang="pt-BR" dirty="0"/>
              <a:t>)</a:t>
            </a:r>
          </a:p>
          <a:p>
            <a:r>
              <a:rPr lang="pt-BR" dirty="0" err="1"/>
              <a:t>ln</a:t>
            </a:r>
            <a:r>
              <a:rPr lang="pt-BR" dirty="0"/>
              <a:t> y = </a:t>
            </a:r>
            <a:r>
              <a:rPr lang="pt-BR" dirty="0" err="1"/>
              <a:t>ln</a:t>
            </a:r>
            <a:r>
              <a:rPr lang="pt-BR" dirty="0"/>
              <a:t> a + </a:t>
            </a:r>
            <a:r>
              <a:rPr lang="pt-BR" dirty="0" err="1"/>
              <a:t>bx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92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Logarítmica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a + </a:t>
            </a:r>
            <a:r>
              <a:rPr lang="pt-BR" dirty="0" err="1"/>
              <a:t>b.ln</a:t>
            </a:r>
            <a:r>
              <a:rPr lang="pt-BR" dirty="0"/>
              <a:t> x.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362" y="2478507"/>
            <a:ext cx="5996275" cy="373969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285" y="2910460"/>
            <a:ext cx="2021304" cy="336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5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Logarítmica com y negativo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a - </a:t>
            </a:r>
            <a:r>
              <a:rPr lang="pt-BR" dirty="0" err="1"/>
              <a:t>b.ln</a:t>
            </a:r>
            <a:r>
              <a:rPr lang="pt-BR" dirty="0"/>
              <a:t> x.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72" y="2874135"/>
            <a:ext cx="2009259" cy="334407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229" y="2442411"/>
            <a:ext cx="6054152" cy="377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55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para linear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304420" cy="3318936"/>
          </a:xfrm>
        </p:spPr>
        <p:txBody>
          <a:bodyPr/>
          <a:lstStyle/>
          <a:p>
            <a:r>
              <a:rPr lang="pt-BR" dirty="0"/>
              <a:t>Para transformar a logarítmica y = a + </a:t>
            </a:r>
            <a:r>
              <a:rPr lang="pt-BR" dirty="0" err="1"/>
              <a:t>b.ln</a:t>
            </a:r>
            <a:r>
              <a:rPr lang="pt-BR" dirty="0"/>
              <a:t> x em uma função linear basta apenas identificar os parâmetros </a:t>
            </a:r>
            <a:r>
              <a:rPr lang="pt-BR" b="1" dirty="0"/>
              <a:t>a</a:t>
            </a:r>
            <a:r>
              <a:rPr lang="pt-BR" dirty="0"/>
              <a:t> e </a:t>
            </a:r>
            <a:r>
              <a:rPr lang="pt-BR" b="1" dirty="0"/>
              <a:t>b</a:t>
            </a:r>
            <a:r>
              <a:rPr lang="pt-BR" dirty="0"/>
              <a:t> na equação:</a:t>
            </a:r>
          </a:p>
          <a:p>
            <a:r>
              <a:rPr lang="pt-BR" dirty="0"/>
              <a:t>y = a + </a:t>
            </a:r>
            <a:r>
              <a:rPr lang="pt-BR" dirty="0" err="1"/>
              <a:t>b.ln</a:t>
            </a:r>
            <a:r>
              <a:rPr lang="pt-BR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265997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106" y="2779294"/>
            <a:ext cx="11017222" cy="192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8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Polinomial 2ª 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ax²+bx+c.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74" y="2890458"/>
            <a:ext cx="1892610" cy="331571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08" y="2442411"/>
            <a:ext cx="6034860" cy="37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12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Polinomial 2ª Ordem invertida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-ax²+bx+c.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105" y="2502567"/>
            <a:ext cx="5880525" cy="366750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344" y="2863516"/>
            <a:ext cx="1914856" cy="335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02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Polinomial 3ª 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ax³+bx²+cx+d.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90" y="2827420"/>
            <a:ext cx="5841942" cy="339078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77" y="2882408"/>
            <a:ext cx="2004286" cy="333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76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Polinomial 4ª 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82053" y="2442411"/>
            <a:ext cx="10114544" cy="34334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É uma função do tipo y = ax</a:t>
            </a:r>
            <a:r>
              <a:rPr lang="pt-BR" baseline="30000" dirty="0"/>
              <a:t>4</a:t>
            </a:r>
            <a:r>
              <a:rPr lang="pt-BR" dirty="0"/>
              <a:t>+bx³+cx²+dx+e.</a:t>
            </a:r>
          </a:p>
          <a:p>
            <a:pPr>
              <a:spcBef>
                <a:spcPts val="0"/>
              </a:spcBef>
            </a:pPr>
            <a:r>
              <a:rPr lang="pt-BR" dirty="0"/>
              <a:t>Exemplo:</a:t>
            </a:r>
          </a:p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14" y="2827421"/>
            <a:ext cx="6421949" cy="341484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383" y="2933446"/>
            <a:ext cx="1988079" cy="33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1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3012</TotalTime>
  <Words>811</Words>
  <Application>Microsoft Office PowerPoint</Application>
  <PresentationFormat>Widescreen</PresentationFormat>
  <Paragraphs>71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Garamond</vt:lpstr>
      <vt:lpstr>Orgânico</vt:lpstr>
      <vt:lpstr>Estatística Para Computação  Regressão Não Linear Aula 08</vt:lpstr>
      <vt:lpstr>Introdução</vt:lpstr>
      <vt:lpstr>Regressão Não Linear</vt:lpstr>
      <vt:lpstr>Regressão Não Linear</vt:lpstr>
      <vt:lpstr>Quando usar a Regressão Não Linear?</vt:lpstr>
      <vt:lpstr>Como Funciona?</vt:lpstr>
      <vt:lpstr>Principais Modelos</vt:lpstr>
      <vt:lpstr>Função Potência</vt:lpstr>
      <vt:lpstr>Transformação para linear</vt:lpstr>
      <vt:lpstr>Função Exponencial</vt:lpstr>
      <vt:lpstr>Função Exponencial com X negativo</vt:lpstr>
      <vt:lpstr>Função Exponencial com  Expoente Negativo</vt:lpstr>
      <vt:lpstr>Transformação para linear</vt:lpstr>
      <vt:lpstr>Função Logarítmica</vt:lpstr>
      <vt:lpstr>Função Logarítmica com y negativo</vt:lpstr>
      <vt:lpstr>Transformação para linear</vt:lpstr>
      <vt:lpstr>Resumindo</vt:lpstr>
      <vt:lpstr>Função Polinomial 2ª Ordem</vt:lpstr>
      <vt:lpstr>Função Polinomial 2ª Ordem invertida</vt:lpstr>
      <vt:lpstr>Função Polinomial 3ª Ordem</vt:lpstr>
      <vt:lpstr>Função Polinomial 4ª Ordem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877</cp:revision>
  <dcterms:created xsi:type="dcterms:W3CDTF">2016-01-25T19:09:02Z</dcterms:created>
  <dcterms:modified xsi:type="dcterms:W3CDTF">2025-10-10T12:19:14Z</dcterms:modified>
</cp:coreProperties>
</file>