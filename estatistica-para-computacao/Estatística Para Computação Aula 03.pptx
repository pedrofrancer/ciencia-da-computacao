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23" r:id="rId3"/>
    <p:sldId id="324" r:id="rId4"/>
    <p:sldId id="325" r:id="rId5"/>
    <p:sldId id="326" r:id="rId6"/>
    <p:sldId id="333" r:id="rId7"/>
    <p:sldId id="328" r:id="rId8"/>
    <p:sldId id="327" r:id="rId9"/>
    <p:sldId id="329" r:id="rId10"/>
    <p:sldId id="347" r:id="rId11"/>
    <p:sldId id="269" r:id="rId12"/>
    <p:sldId id="286" r:id="rId13"/>
    <p:sldId id="275" r:id="rId14"/>
    <p:sldId id="330" r:id="rId15"/>
    <p:sldId id="348" r:id="rId16"/>
    <p:sldId id="349" r:id="rId17"/>
    <p:sldId id="258" r:id="rId18"/>
    <p:sldId id="259" r:id="rId19"/>
    <p:sldId id="260" r:id="rId20"/>
    <p:sldId id="264" r:id="rId21"/>
    <p:sldId id="261" r:id="rId22"/>
    <p:sldId id="265" r:id="rId23"/>
    <p:sldId id="271" r:id="rId24"/>
    <p:sldId id="262" r:id="rId25"/>
    <p:sldId id="266" r:id="rId26"/>
    <p:sldId id="331" r:id="rId27"/>
    <p:sldId id="267" r:id="rId28"/>
    <p:sldId id="268" r:id="rId29"/>
    <p:sldId id="332" r:id="rId30"/>
    <p:sldId id="334" r:id="rId31"/>
    <p:sldId id="339" r:id="rId32"/>
    <p:sldId id="338" r:id="rId33"/>
    <p:sldId id="340" r:id="rId34"/>
    <p:sldId id="341" r:id="rId35"/>
    <p:sldId id="342" r:id="rId36"/>
    <p:sldId id="343" r:id="rId37"/>
    <p:sldId id="344" r:id="rId38"/>
    <p:sldId id="345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714280"/>
          </a:xfrm>
        </p:spPr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Estatística Para Computação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7555832" y="4969043"/>
            <a:ext cx="2298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Prof. Dr. Cahue Sbrana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065516" y="4207043"/>
            <a:ext cx="2069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/>
              <a:t>Aula 03</a:t>
            </a:r>
          </a:p>
        </p:txBody>
      </p:sp>
    </p:spTree>
    <p:extLst>
      <p:ext uri="{BB962C8B-B14F-4D97-AF65-F5344CB8AC3E}">
        <p14:creationId xmlns:p14="http://schemas.microsoft.com/office/powerpoint/2010/main" val="2294984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03F92-FA6A-1C94-3A72-2C8AFD3BD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D79A4A-65B7-87CB-C98E-CCA7C1E02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à Probabilidade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A3628E-76FB-D738-AF5E-F4F33656B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pt-BR" b="1" dirty="0"/>
              <a:t>Temos como objetivos principais:</a:t>
            </a:r>
          </a:p>
          <a:p>
            <a:pPr algn="just"/>
            <a:r>
              <a:rPr lang="pt-BR" dirty="0"/>
              <a:t>Entender os conceitos básicos de probabilidade.</a:t>
            </a:r>
          </a:p>
          <a:p>
            <a:pPr algn="just"/>
            <a:r>
              <a:rPr lang="pt-BR" dirty="0"/>
              <a:t>Diferenciar espaço amostral e eventos.</a:t>
            </a:r>
          </a:p>
          <a:p>
            <a:pPr algn="just"/>
            <a:r>
              <a:rPr lang="pt-BR" dirty="0"/>
              <a:t>Aplicar as regras da probabilidade em problemas práticos.</a:t>
            </a:r>
          </a:p>
          <a:p>
            <a:pPr algn="just"/>
            <a:r>
              <a:rPr lang="pt-BR" dirty="0"/>
              <a:t>Compreender o conceito de eventos independentes.</a:t>
            </a:r>
          </a:p>
          <a:p>
            <a:pPr algn="just"/>
            <a:r>
              <a:rPr lang="pt-BR" dirty="0"/>
              <a:t>Resolver situações envolvendo probabilidade simples em contextos computacionais.</a:t>
            </a:r>
          </a:p>
        </p:txBody>
      </p:sp>
    </p:spTree>
    <p:extLst>
      <p:ext uri="{BB962C8B-B14F-4D97-AF65-F5344CB8AC3E}">
        <p14:creationId xmlns:p14="http://schemas.microsoft.com/office/powerpoint/2010/main" val="601224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10644-EA3B-D6E6-AEDD-325C459C2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160C77-4606-D2C7-402F-87D8C11E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Espaço Amostral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807A7E-0263-C5D6-37AB-DD87F6619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Conjunto de todos os resultados possíveis de um experimento aleatório.</a:t>
            </a:r>
          </a:p>
          <a:p>
            <a:pPr algn="just"/>
            <a:r>
              <a:rPr lang="pt-BR" dirty="0"/>
              <a:t>Notação: S.</a:t>
            </a:r>
          </a:p>
          <a:p>
            <a:pPr algn="just"/>
            <a:r>
              <a:rPr lang="pt-BR" dirty="0"/>
              <a:t>Exemplo 1: lançamento de um dado: S={1, 2, 3, 4, 5, 6}.</a:t>
            </a:r>
          </a:p>
          <a:p>
            <a:pPr algn="just"/>
            <a:r>
              <a:rPr lang="pt-BR" dirty="0"/>
              <a:t>Exemplo 2: tentativas de login: S={sucesso, falha}.</a:t>
            </a:r>
          </a:p>
        </p:txBody>
      </p:sp>
    </p:spTree>
    <p:extLst>
      <p:ext uri="{BB962C8B-B14F-4D97-AF65-F5344CB8AC3E}">
        <p14:creationId xmlns:p14="http://schemas.microsoft.com/office/powerpoint/2010/main" val="1872243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31749-628A-BFCC-C2E1-F40E60E65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4BB932-A866-1290-51E4-1A34387DE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FB58A3-2670-E259-ECDD-1DAF3137A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São subconjuntos do espaço amostral.</a:t>
            </a:r>
          </a:p>
          <a:p>
            <a:pPr algn="just"/>
            <a:r>
              <a:rPr lang="pt-BR" dirty="0"/>
              <a:t>Exemplo: “sair par” no dado: E={2,4,6}.</a:t>
            </a:r>
          </a:p>
          <a:p>
            <a:pPr algn="just"/>
            <a:r>
              <a:rPr lang="pt-BR" dirty="0"/>
              <a:t>Evento simples: contém um único resultado.</a:t>
            </a:r>
          </a:p>
          <a:p>
            <a:pPr algn="just"/>
            <a:r>
              <a:rPr lang="pt-BR" dirty="0"/>
              <a:t>Evento composto: formado pela união de resultados.</a:t>
            </a:r>
          </a:p>
        </p:txBody>
      </p:sp>
    </p:spTree>
    <p:extLst>
      <p:ext uri="{BB962C8B-B14F-4D97-AF65-F5344CB8AC3E}">
        <p14:creationId xmlns:p14="http://schemas.microsoft.com/office/powerpoint/2010/main" val="2634119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645CA-098D-C28F-D73B-D728AE99C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E9CD5-10E4-7835-47B7-D89D12C34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 Clássica de Probabilidade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C296F2-8C9A-878B-BC9E-9E5AA515C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Se todos os resultados </a:t>
            </a:r>
            <a:r>
              <a:rPr lang="pt-BR"/>
              <a:t>em S </a:t>
            </a:r>
            <a:r>
              <a:rPr lang="pt-BR" dirty="0"/>
              <a:t>são igualmente prováveis: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r>
              <a:rPr lang="pt-BR" dirty="0"/>
              <a:t>Exemplo: probabilidade de sair par em um dado: P(E) = 3/6 ​= 0,5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4097604-FDEF-8924-F329-12AA40EA1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04913" y="3160653"/>
            <a:ext cx="7292032" cy="105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24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8477C-D8D3-580A-63BE-868ADA056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0EA25F-F280-BD4F-B651-FC2CF363C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Dependência de eventos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08C96D-8E21-E791-295D-64E2D768B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93818"/>
            <a:ext cx="9601196" cy="3699164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Dois eventos são aqueles em que a ocorrência de um evento influencia a probabilidade de ocorrência de outro evento. </a:t>
            </a:r>
          </a:p>
          <a:p>
            <a:pPr algn="just"/>
            <a:r>
              <a:rPr lang="pt-BR" dirty="0"/>
              <a:t>Ou seja, o resultado de um evento altera o espaço amostral ou as condições para a ocorrência do próximo evento. </a:t>
            </a:r>
          </a:p>
          <a:p>
            <a:pPr algn="just"/>
            <a:r>
              <a:rPr lang="pt-BR" dirty="0"/>
              <a:t>Exemplo 1: Sorteio de bolinhas numéricas da megasena ou bingo, que são retiradas do conjunto e não retornam mais ao conjunto.</a:t>
            </a:r>
          </a:p>
          <a:p>
            <a:pPr algn="just"/>
            <a:r>
              <a:rPr lang="pt-BR" dirty="0"/>
              <a:t>Exemplo 2:  Retirar cartas de um baralho sem reposição.</a:t>
            </a:r>
          </a:p>
          <a:p>
            <a:pPr algn="just"/>
            <a:r>
              <a:rPr lang="pt-BR" dirty="0"/>
              <a:t>Exemplo 3: Escolher pessoas para um time sem reposição</a:t>
            </a:r>
          </a:p>
        </p:txBody>
      </p:sp>
    </p:spTree>
    <p:extLst>
      <p:ext uri="{BB962C8B-B14F-4D97-AF65-F5344CB8AC3E}">
        <p14:creationId xmlns:p14="http://schemas.microsoft.com/office/powerpoint/2010/main" val="2095236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E1C39-912C-FE3E-F3CA-70E91281B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FA8B3-4192-5B96-C2FD-82E9BE1BC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Independência de eventos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FB556E-7035-18AE-9A33-54347EE6B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Dois eventos são independentes quando a ocorrência de um não altera a probabilidade do outro.</a:t>
            </a:r>
          </a:p>
          <a:p>
            <a:pPr algn="just"/>
            <a:r>
              <a:rPr lang="pt-BR" dirty="0"/>
              <a:t>Exemplo: lançar duas moedas: sair cara na primeira e na segunda são eventos independentes.</a:t>
            </a:r>
          </a:p>
          <a:p>
            <a:pPr algn="just"/>
            <a:r>
              <a:rPr lang="pt-BR" dirty="0"/>
              <a:t>Exemplo computacional: falha de um servidor independente da falha de outro (se não estiverem ligados).</a:t>
            </a:r>
          </a:p>
        </p:txBody>
      </p:sp>
    </p:spTree>
    <p:extLst>
      <p:ext uri="{BB962C8B-B14F-4D97-AF65-F5344CB8AC3E}">
        <p14:creationId xmlns:p14="http://schemas.microsoft.com/office/powerpoint/2010/main" val="3430456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BFD71-0137-AB83-3D2F-9E52AECD6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8EDD9C-BF7E-28FC-B521-882A0F283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Regras da Probabilidade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672997-6757-2AD0-6C80-38804D40D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Complementar: P(Sucesso) = 1 − P(Falha)</a:t>
            </a:r>
          </a:p>
          <a:p>
            <a:pPr algn="just"/>
            <a:r>
              <a:rPr lang="pt-BR" dirty="0"/>
              <a:t>Adição (eventos mutuamente exclusivos): P(A∪B) = P(A) + P(B)</a:t>
            </a:r>
          </a:p>
          <a:p>
            <a:pPr algn="just"/>
            <a:r>
              <a:rPr lang="pt-BR" dirty="0"/>
              <a:t>Multiplicação (eventos independentes): P(A∩B) = P(A) * P(B)</a:t>
            </a:r>
          </a:p>
          <a:p>
            <a:pPr algn="just"/>
            <a:r>
              <a:rPr lang="pt-BR" dirty="0"/>
              <a:t>Multiplicação (eventos dependentes): P(A∩B) = P(A) * P(B∣A)</a:t>
            </a:r>
          </a:p>
        </p:txBody>
      </p:sp>
    </p:spTree>
    <p:extLst>
      <p:ext uri="{BB962C8B-B14F-4D97-AF65-F5344CB8AC3E}">
        <p14:creationId xmlns:p14="http://schemas.microsoft.com/office/powerpoint/2010/main" val="1028946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97CE6-66B7-F71C-840F-2CD039DFC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D19723-4B8C-7280-94E4-89E82B0F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Prático: Lançamento de 2 Dados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5A6A119E-CF84-DE96-6A73-2F9CD0B7AE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189" y="2462145"/>
            <a:ext cx="5615999" cy="3744000"/>
          </a:xfrm>
          <a:prstGeom prst="rect">
            <a:avLst/>
          </a:prstGeo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AC359E5E-9B61-08DD-4DB0-26CB9A1AD306}"/>
              </a:ext>
            </a:extLst>
          </p:cNvPr>
          <p:cNvSpPr txBox="1">
            <a:spLocks/>
          </p:cNvSpPr>
          <p:nvPr/>
        </p:nvSpPr>
        <p:spPr>
          <a:xfrm>
            <a:off x="772812" y="2476000"/>
            <a:ext cx="5030377" cy="3744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 err="1"/>
              <a:t>Craps</a:t>
            </a:r>
            <a:r>
              <a:rPr lang="pt-BR" dirty="0"/>
              <a:t> é um jogo de dados em que os jogadores apostam nos resultados do lançamento de um par de dados.</a:t>
            </a:r>
          </a:p>
          <a:p>
            <a:pPr algn="just"/>
            <a:r>
              <a:rPr lang="pt-BR" dirty="0"/>
              <a:t>Os jogadores podem apostar dinheiro uns contra os outros ("</a:t>
            </a:r>
            <a:r>
              <a:rPr lang="pt-BR" dirty="0" err="1"/>
              <a:t>craps</a:t>
            </a:r>
            <a:r>
              <a:rPr lang="pt-BR" dirty="0"/>
              <a:t> de rua") ou contra um banco ou casa de aposta ("</a:t>
            </a:r>
            <a:r>
              <a:rPr lang="pt-BR" dirty="0" err="1"/>
              <a:t>craps</a:t>
            </a:r>
            <a:r>
              <a:rPr lang="pt-BR" dirty="0"/>
              <a:t> de cassino").</a:t>
            </a:r>
          </a:p>
        </p:txBody>
      </p:sp>
    </p:spTree>
    <p:extLst>
      <p:ext uri="{BB962C8B-B14F-4D97-AF65-F5344CB8AC3E}">
        <p14:creationId xmlns:p14="http://schemas.microsoft.com/office/powerpoint/2010/main" val="220824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C0DB33-0662-A594-56BA-70DB6E1BC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Lançamento de 2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B51048-F417-A3F7-041C-5B59C4EB6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791" y="2362062"/>
            <a:ext cx="4815023" cy="3844774"/>
          </a:xfrm>
        </p:spPr>
        <p:txBody>
          <a:bodyPr/>
          <a:lstStyle/>
          <a:p>
            <a:r>
              <a:rPr lang="pt-BR" dirty="0"/>
              <a:t>Ao se jogar 2 dados de 6 lados as possíveis ocorrências são iguais a (6)².</a:t>
            </a:r>
          </a:p>
          <a:p>
            <a:r>
              <a:rPr lang="pt-BR" dirty="0"/>
              <a:t>Totalizando 36 possibilidades de resultados.</a:t>
            </a:r>
          </a:p>
          <a:p>
            <a:r>
              <a:rPr lang="pt-BR" dirty="0"/>
              <a:t>As somas possíveis são valores que variam entre 2 a 12.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48B3195-57B0-B94D-6944-8475B91C7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5814" y="2452964"/>
            <a:ext cx="6048000" cy="3473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983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394283"/>
            <a:ext cx="9601196" cy="3693695"/>
          </a:xfrm>
        </p:spPr>
        <p:txBody>
          <a:bodyPr>
            <a:normAutofit/>
          </a:bodyPr>
          <a:lstStyle/>
          <a:p>
            <a:r>
              <a:rPr lang="pt-BR" dirty="0"/>
              <a:t>Se a nossa variável aleatória discreta for um resultado de um dado D6.</a:t>
            </a:r>
          </a:p>
          <a:p>
            <a:r>
              <a:rPr lang="pt-BR" dirty="0"/>
              <a:t>Os possíveis valores de X serão 1, 2, 3, 4, 5 e 6.</a:t>
            </a:r>
          </a:p>
          <a:p>
            <a:r>
              <a:rPr lang="pt-BR" dirty="0"/>
              <a:t>Então qual será a Função de Probabilidade de y ou f(x) para: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f(2) = ?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f(5) = ?</a:t>
            </a:r>
          </a:p>
        </p:txBody>
      </p:sp>
    </p:spTree>
    <p:extLst>
      <p:ext uri="{BB962C8B-B14F-4D97-AF65-F5344CB8AC3E}">
        <p14:creationId xmlns:p14="http://schemas.microsoft.com/office/powerpoint/2010/main" val="854992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658979"/>
            <a:ext cx="9601196" cy="3428999"/>
          </a:xfrm>
        </p:spPr>
        <p:txBody>
          <a:bodyPr>
            <a:normAutofit/>
          </a:bodyPr>
          <a:lstStyle/>
          <a:p>
            <a:r>
              <a:rPr lang="pt-BR" dirty="0"/>
              <a:t>Se a nossa variável aleatória discreta for o resultado de dois dados D6.</a:t>
            </a:r>
          </a:p>
          <a:p>
            <a:endParaRPr lang="pt-BR" dirty="0"/>
          </a:p>
          <a:p>
            <a:r>
              <a:rPr lang="pt-BR" dirty="0"/>
              <a:t>Os possíveis valores de X1 e X2 serão 1, 2, 3, 4, 5 e 6.</a:t>
            </a:r>
          </a:p>
          <a:p>
            <a:endParaRPr lang="pt-BR" dirty="0"/>
          </a:p>
          <a:p>
            <a:r>
              <a:rPr lang="pt-BR" dirty="0"/>
              <a:t>Somando os resultados teríamos :</a:t>
            </a:r>
          </a:p>
        </p:txBody>
      </p:sp>
    </p:spTree>
    <p:extLst>
      <p:ext uri="{BB962C8B-B14F-4D97-AF65-F5344CB8AC3E}">
        <p14:creationId xmlns:p14="http://schemas.microsoft.com/office/powerpoint/2010/main" val="972836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884" y="620241"/>
            <a:ext cx="5101390" cy="561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415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25849-4CD3-FA3F-997F-DFDBA199B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ECC5A-0B21-5B92-004C-B65B7F0DF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Lançamentos com 3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21B12A-71FC-5CA0-8214-1F8597ADE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273" y="2438401"/>
            <a:ext cx="10571018" cy="1246889"/>
          </a:xfrm>
        </p:spPr>
        <p:txBody>
          <a:bodyPr/>
          <a:lstStyle/>
          <a:p>
            <a:pPr algn="just"/>
            <a:r>
              <a:rPr lang="pt-BR" dirty="0"/>
              <a:t>No </a:t>
            </a:r>
            <a:r>
              <a:rPr lang="pt-BR" dirty="0" err="1"/>
              <a:t>SicBo</a:t>
            </a:r>
            <a:r>
              <a:rPr lang="pt-BR" dirty="0"/>
              <a:t> deve-se prever corretamente o resultado (números) dos três dados rolados. Em uma aposta pequena, você pode apostar que a soma dos três dados será entre 4 e 10 (excluindo 3 e 18, considerados inválidos).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087ECD9-C5F7-9C26-C894-A55DE06D0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" y="3685290"/>
            <a:ext cx="12192000" cy="318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571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3DE30-3B78-A874-7D76-CA25E83A0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Lançamentos com 3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596F23-BF26-A6D4-5525-4AEEBA83A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746" y="2335252"/>
            <a:ext cx="9601196" cy="3318936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Ao se jogar 3 dados de 6 lados as possíveis ocorrências são iguais a (6)³.</a:t>
            </a:r>
          </a:p>
          <a:p>
            <a:pPr>
              <a:spcBef>
                <a:spcPts val="0"/>
              </a:spcBef>
            </a:pPr>
            <a:r>
              <a:rPr lang="pt-BR" dirty="0"/>
              <a:t>Totalizando 216 possibilidades de resultados.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F984B8C-BE28-485C-3A15-A50F4449B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133" y="3144980"/>
            <a:ext cx="5390601" cy="3096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B5B73D6-203D-43B1-F98D-4EEFE2E3B4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726" r="15667"/>
          <a:stretch>
            <a:fillRect/>
          </a:stretch>
        </p:blipFill>
        <p:spPr>
          <a:xfrm>
            <a:off x="768927" y="3131125"/>
            <a:ext cx="3198890" cy="3096000"/>
          </a:xfrm>
          <a:prstGeom prst="rect">
            <a:avLst/>
          </a:prstGeom>
        </p:spPr>
      </p:pic>
      <p:pic>
        <p:nvPicPr>
          <p:cNvPr id="6" name="Espaço Reservado para Conteúdo 3">
            <a:extLst>
              <a:ext uri="{FF2B5EF4-FFF2-40B4-BE49-F238E27FC236}">
                <a16:creationId xmlns:a16="http://schemas.microsoft.com/office/drawing/2014/main" id="{4586F073-9D33-584A-4285-F7FEBEEC8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2880" y="2422426"/>
            <a:ext cx="1555153" cy="38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046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45227C-04F0-DC1C-BA30-CE8B7E385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Lançamento de Qualquer Tipo de Dado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E7FFA0-6442-C7D4-9A26-06BB79499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927" y="2446091"/>
            <a:ext cx="5687291" cy="3768268"/>
          </a:xfrm>
        </p:spPr>
        <p:txBody>
          <a:bodyPr>
            <a:normAutofit/>
          </a:bodyPr>
          <a:lstStyle/>
          <a:p>
            <a:r>
              <a:rPr lang="pt-BR" sz="2600" dirty="0"/>
              <a:t>Essa ideia pode ser generalizada ainda para mais dados.</a:t>
            </a:r>
          </a:p>
          <a:p>
            <a:r>
              <a:rPr lang="pt-BR" sz="2600" dirty="0"/>
              <a:t>Se lançarmos </a:t>
            </a:r>
            <a:r>
              <a:rPr lang="pt-BR" sz="2600" b="1" dirty="0"/>
              <a:t>n</a:t>
            </a:r>
            <a:r>
              <a:rPr lang="pt-BR" sz="2600" dirty="0"/>
              <a:t> número de dados, que contém todos a quantidade </a:t>
            </a:r>
            <a:r>
              <a:rPr lang="pt-BR" sz="2600" b="1" dirty="0"/>
              <a:t>L</a:t>
            </a:r>
            <a:r>
              <a:rPr lang="pt-BR" sz="2600" dirty="0"/>
              <a:t> de lados, então teremos a probabilidade de </a:t>
            </a:r>
            <a:r>
              <a:rPr lang="pt-BR" sz="2600" b="1" dirty="0" err="1"/>
              <a:t>L</a:t>
            </a:r>
            <a:r>
              <a:rPr lang="pt-BR" sz="2600" b="1" baseline="30000" dirty="0" err="1"/>
              <a:t>n</a:t>
            </a:r>
            <a:r>
              <a:rPr lang="pt-BR" sz="2600" dirty="0"/>
              <a:t> resultados.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F15AB0A-C859-232A-3A6C-32717CDC46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85" t="16865" r="5901" b="16603"/>
          <a:stretch>
            <a:fillRect/>
          </a:stretch>
        </p:blipFill>
        <p:spPr>
          <a:xfrm>
            <a:off x="6400782" y="2459946"/>
            <a:ext cx="5004000" cy="376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79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Aleatórias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273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2800" dirty="0"/>
              <a:t>É uma função que associa valores numéricos aos resultados de um experimento aleatório.</a:t>
            </a:r>
          </a:p>
          <a:p>
            <a:pPr algn="just"/>
            <a:r>
              <a:rPr lang="pt-BR" sz="2800" dirty="0"/>
              <a:t>Permite quantificar os fenômenos incertos e trabalhar matematicamente com eles.</a:t>
            </a:r>
          </a:p>
          <a:p>
            <a:pPr algn="just"/>
            <a:r>
              <a:rPr lang="pt-BR" sz="2800" dirty="0"/>
              <a:t>Exemplo de uma variável aleatória é o resultado do lançamento de um dado que pode dar qualquer número entre 1 e 6. X={1,2,3,4,5,6}.</a:t>
            </a:r>
          </a:p>
          <a:p>
            <a:pPr algn="just"/>
            <a:r>
              <a:rPr lang="pt-BR" sz="2800" dirty="0"/>
              <a:t>Embora conhecer os seus possíveis resultados, o resultado em si depende de fatores de sorte.</a:t>
            </a:r>
          </a:p>
          <a:p>
            <a:pPr algn="just"/>
            <a:r>
              <a:rPr lang="pt-BR" sz="2800" dirty="0"/>
              <a:t> É essencial em estatística para a representação de fenômenos incertos.</a:t>
            </a:r>
          </a:p>
        </p:txBody>
      </p:sp>
    </p:spTree>
    <p:extLst>
      <p:ext uri="{BB962C8B-B14F-4D97-AF65-F5344CB8AC3E}">
        <p14:creationId xmlns:p14="http://schemas.microsoft.com/office/powerpoint/2010/main" val="3092268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As Variáveis Aleatórias são Classificadas 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683042"/>
            <a:ext cx="9601196" cy="3192826"/>
          </a:xfrm>
        </p:spPr>
        <p:txBody>
          <a:bodyPr/>
          <a:lstStyle/>
          <a:p>
            <a:r>
              <a:rPr lang="pt-BR" sz="3200" dirty="0"/>
              <a:t>Variáveis Aleatórias Discretas.</a:t>
            </a:r>
          </a:p>
          <a:p>
            <a:r>
              <a:rPr lang="pt-BR" sz="3200" dirty="0"/>
              <a:t>Variáveis Aleatórias C</a:t>
            </a:r>
            <a:r>
              <a:rPr lang="pt-PT" sz="3200" dirty="0"/>
              <a:t>ontínuas.</a:t>
            </a:r>
          </a:p>
          <a:p>
            <a:r>
              <a:rPr lang="pt-BR" sz="3200" dirty="0"/>
              <a:t>Variáveis Aleatórias M</a:t>
            </a:r>
            <a:r>
              <a:rPr lang="pt-PT" sz="3200" dirty="0"/>
              <a:t>istas.</a:t>
            </a:r>
            <a:endParaRPr lang="pt-BR" sz="32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02570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Aleatórias Discretas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22684" y="2418347"/>
            <a:ext cx="10238874" cy="3838073"/>
          </a:xfrm>
        </p:spPr>
        <p:txBody>
          <a:bodyPr>
            <a:normAutofit lnSpcReduction="10000"/>
          </a:bodyPr>
          <a:lstStyle/>
          <a:p>
            <a:r>
              <a:rPr lang="pt-BR" dirty="0"/>
              <a:t>É uma variável de conjunto finito ou infinito contável ou ainda enumeráveis.</a:t>
            </a:r>
          </a:p>
          <a:p>
            <a:r>
              <a:rPr lang="pt-BR" dirty="0"/>
              <a:t>Exemplos: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Finito, A = { 1 , 2 , 3 , 4 , 5 , 6 }. Lançamento de um dado de seis lados, fornece um valor inteiro em todos os lançamentos, de modo que não existe a possibilidade de ele cair de lado e fornecer um valor fracionário como 2,5.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Infinito, B = { 1 , 2 , 3 , 4 , 5 , 6 , ... }. Número de carros que passam por um pedágio, podem passar uma infinidade de carros, porém nunca passará a metade de um carro.</a:t>
            </a:r>
          </a:p>
          <a:p>
            <a:r>
              <a:rPr lang="pt-BR" sz="2800" dirty="0"/>
              <a:t>Associadas a distribuições como Bernoulli, Binomial, Poisson.</a:t>
            </a:r>
          </a:p>
        </p:txBody>
      </p:sp>
    </p:spTree>
    <p:extLst>
      <p:ext uri="{BB962C8B-B14F-4D97-AF65-F5344CB8AC3E}">
        <p14:creationId xmlns:p14="http://schemas.microsoft.com/office/powerpoint/2010/main" val="771131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Aleatórias Discretas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466474"/>
            <a:ext cx="9601196" cy="3717758"/>
          </a:xfrm>
        </p:spPr>
        <p:txBody>
          <a:bodyPr>
            <a:normAutofit/>
          </a:bodyPr>
          <a:lstStyle/>
          <a:p>
            <a:r>
              <a:rPr lang="pt-BR" dirty="0"/>
              <a:t>Exemplo de lançamento de moeda: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Espaço Amostral (Cara ou Coroa).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Temos então como possíveis resultados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1/2  para cara.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 1/2  para coroa.</a:t>
            </a:r>
          </a:p>
          <a:p>
            <a:r>
              <a:rPr lang="pt-BR" dirty="0"/>
              <a:t>Gerando como resultado um valor conhecido.</a:t>
            </a:r>
          </a:p>
        </p:txBody>
      </p:sp>
    </p:spTree>
    <p:extLst>
      <p:ext uri="{BB962C8B-B14F-4D97-AF65-F5344CB8AC3E}">
        <p14:creationId xmlns:p14="http://schemas.microsoft.com/office/powerpoint/2010/main" val="3806564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Aleatórias C</a:t>
            </a:r>
            <a:r>
              <a:rPr lang="pt-PT" dirty="0"/>
              <a:t>ontínuas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 assumir qualquer valor numérico em um intervalo real.</a:t>
            </a:r>
          </a:p>
          <a:p>
            <a:r>
              <a:rPr lang="pt-BR" dirty="0"/>
              <a:t>É uma variável de um conjunto infinito não contável.</a:t>
            </a:r>
          </a:p>
          <a:p>
            <a:r>
              <a:rPr lang="pt-BR" dirty="0"/>
              <a:t>Assumindo valores dentro de intervalos de números reais (2,31s ; 2,32s ; …).</a:t>
            </a:r>
          </a:p>
          <a:p>
            <a:r>
              <a:rPr lang="pt-BR" dirty="0"/>
              <a:t>Associadas a distribuições como Normal, Exponencial, Uniforme.</a:t>
            </a:r>
          </a:p>
        </p:txBody>
      </p:sp>
    </p:spTree>
    <p:extLst>
      <p:ext uri="{BB962C8B-B14F-4D97-AF65-F5344CB8AC3E}">
        <p14:creationId xmlns:p14="http://schemas.microsoft.com/office/powerpoint/2010/main" val="2623856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Aleatórias C</a:t>
            </a:r>
            <a:r>
              <a:rPr lang="pt-PT" dirty="0"/>
              <a:t>ontínuas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406317"/>
            <a:ext cx="9601196" cy="3862136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Exemplo: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Salto em distância, onde cada saltador consegue atingir uma distância;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Nunca 2 saltadores conseguiram empatar, pois a distância do salto pode ser medida em metros, em seguida em centímetros, se preciso depois em milímetros, indo a escalas cada vez menores infinitamente até que ocorra o desempate.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Então apenas podemos afirmar que conhecendo o recorde mundial de salto em distância em 8,95 metros, as pessoas comuns terão uma probabilidade X de saltar em um intervalo de 0 ≤ X ≤ 8,95 metros.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Gerando como resultado um intervalo conhecido.</a:t>
            </a:r>
          </a:p>
        </p:txBody>
      </p:sp>
    </p:spTree>
    <p:extLst>
      <p:ext uri="{BB962C8B-B14F-4D97-AF65-F5344CB8AC3E}">
        <p14:creationId xmlns:p14="http://schemas.microsoft.com/office/powerpoint/2010/main" val="28995114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Aleatórias C</a:t>
            </a:r>
            <a:r>
              <a:rPr lang="pt-PT" dirty="0"/>
              <a:t>ontínuas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Quando o lançamento de uma moeda tende ao infinito, o número de coroas aproxima-se de um conjunto infinito não contável.</a:t>
            </a:r>
          </a:p>
          <a:p>
            <a:r>
              <a:rPr lang="pt-BR" dirty="0"/>
              <a:t>Então mesmo o resultado do lançamento de uma moeda ser uma Variável Aleatória Discreta, a análise dos resultados de infinitos lances, será tratado como uma Variável Aleatória Contínua.</a:t>
            </a:r>
          </a:p>
        </p:txBody>
      </p:sp>
    </p:spTree>
    <p:extLst>
      <p:ext uri="{BB962C8B-B14F-4D97-AF65-F5344CB8AC3E}">
        <p14:creationId xmlns:p14="http://schemas.microsoft.com/office/powerpoint/2010/main" val="705686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Aleatórias M</a:t>
            </a:r>
            <a:r>
              <a:rPr lang="pt-PT" dirty="0"/>
              <a:t>istas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Existem situações práticas, em que a variável aleatória pode assumir valores discretos e contínuos ao mesmo tempo.</a:t>
            </a:r>
          </a:p>
          <a:p>
            <a:r>
              <a:rPr lang="pt-BR" dirty="0"/>
              <a:t>Isto ocorre quando ela puder assumir todos os valores em um determinado intervalo.</a:t>
            </a:r>
          </a:p>
          <a:p>
            <a:r>
              <a:rPr lang="pt-BR" dirty="0"/>
              <a:t>Combinam aspectos discretos e contínuos ao mesmo tempo, mas podem ser dividas em etapas para facilitar a interpretação e cálculo.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049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Aleatórias M</a:t>
            </a:r>
            <a:r>
              <a:rPr lang="pt-PT" dirty="0"/>
              <a:t>istas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Exemplo: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pt-BR" sz="2400" dirty="0"/>
              <a:t>Jogar um dado (1-6) e se o resultado for 1, 2 ou 3, ganha 1 ponto e se o resultado for 4, 5 ou 6, deve-se girar uma roleta de 360° (que possua além dos graus, os minutos, segundos, ...) para que cheguemos em um resultado (que estará no intervalo entre         0 ≤ X ≤ 360).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20276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1FF85-9882-D47B-13F9-8A2747F2C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ADAEDA-69DD-572B-2AB3-9013153DD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Exemplos Variáveis Aleatórias M</a:t>
            </a:r>
            <a:r>
              <a:rPr lang="pt-PT" dirty="0"/>
              <a:t>istas no Excel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9A0B23-2E80-16A5-7103-9DB73CD18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396835"/>
            <a:ext cx="10093035" cy="3865419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b="1" dirty="0"/>
              <a:t>Gerando variáveis discretas:</a:t>
            </a:r>
          </a:p>
          <a:p>
            <a:pPr marL="0" indent="0" algn="just">
              <a:buNone/>
            </a:pPr>
            <a:r>
              <a:rPr lang="pt-BR" dirty="0"/>
              <a:t>=ALEATÓRIOENTRE(0;10) : simula número inteiros de 0 a 10.</a:t>
            </a:r>
          </a:p>
          <a:p>
            <a:pPr algn="just"/>
            <a:r>
              <a:rPr lang="pt-BR" b="1" dirty="0"/>
              <a:t>Gerando variáveis contínuas:</a:t>
            </a:r>
          </a:p>
          <a:p>
            <a:pPr marL="0" indent="0" algn="just">
              <a:buNone/>
            </a:pPr>
            <a:r>
              <a:rPr lang="pt-BR" dirty="0"/>
              <a:t>=ALEATÓRIO(): gera valores entre 0 e 1 (0,1 ; 0,25 ; 0,321 ; ...).</a:t>
            </a:r>
          </a:p>
          <a:p>
            <a:pPr marL="0" indent="0" algn="just">
              <a:buNone/>
            </a:pPr>
            <a:r>
              <a:rPr lang="pt-BR" dirty="0"/>
              <a:t>Exemplo: =ALEATÓRIO()*10 : valores entre 0 e 10.</a:t>
            </a:r>
          </a:p>
          <a:p>
            <a:pPr algn="just"/>
            <a:r>
              <a:rPr lang="pt-BR" b="1" dirty="0"/>
              <a:t>Mistura discreto + contínuo:</a:t>
            </a:r>
          </a:p>
          <a:p>
            <a:pPr marL="0" indent="0" algn="just">
              <a:buNone/>
            </a:pPr>
            <a:r>
              <a:rPr lang="pt-BR" dirty="0"/>
              <a:t>=SE(ALEATÓRIO()&lt;0,3;0;ALEATÓRIO()*10): 30% de chance de ser 0 (discreto), 70% chance de ser um valor contínuo entre 0 e 10.</a:t>
            </a:r>
          </a:p>
        </p:txBody>
      </p:sp>
    </p:spTree>
    <p:extLst>
      <p:ext uri="{BB962C8B-B14F-4D97-AF65-F5344CB8AC3E}">
        <p14:creationId xmlns:p14="http://schemas.microsoft.com/office/powerpoint/2010/main" val="21470816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de Probabilidade Discreta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É uma função que associa a cada possível ocorrência de uma variável aleatória discreta a uma probabilidade.</a:t>
            </a:r>
          </a:p>
          <a:p>
            <a:r>
              <a:rPr lang="pt-BR" dirty="0"/>
              <a:t>Corresponde cada valor x do espaço amostral de um conjunto enumerável ou contável a um valor y real positivo menor ou igual a 1, valor esse que indicará a probabilidade de ocorrência da variável aleatória discreta.</a:t>
            </a:r>
          </a:p>
          <a:p>
            <a:r>
              <a:rPr lang="pt-BR" dirty="0"/>
              <a:t>Y = f(x) com 0≤ f(x)≤1</a:t>
            </a:r>
          </a:p>
          <a:p>
            <a:r>
              <a:rPr lang="pt-BR" dirty="0"/>
              <a:t>Também é conhecida como Função massa de probabilidade ou apenas  função probabilidade.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65417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de Probabilidade Discreta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Lançamento da moeda com valor x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Se y representar o resultado,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Então a função probabilidade y ou f(x) será representada por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f(x) ={1/2  para cara.</a:t>
            </a:r>
          </a:p>
          <a:p>
            <a:pPr marL="457200" lvl="1" indent="0">
              <a:buNone/>
            </a:pPr>
            <a:r>
              <a:rPr lang="pt-BR" sz="2400" dirty="0"/>
              <a:t>             {1/2  para coroa.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438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691DB-2B9F-AA11-3A38-9284D3422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1B8D8-D934-E9AD-3606-2E3B32624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Função de Probabilidade Contínua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39DC28-1746-85E9-7871-4942D6CC5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Para variáveis contínuas, a probabilidade é dada por uma função densidade f(x).</a:t>
            </a:r>
          </a:p>
          <a:p>
            <a:pPr algn="just"/>
            <a:r>
              <a:rPr lang="pt-BR" dirty="0"/>
              <a:t>A probabilidade de X estar em um intervalo é a área sob a curva: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B62D0C3-2FCF-1ABF-C3FA-23A94CE3B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374" y="4216400"/>
            <a:ext cx="4961250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94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E119C-D01F-F5FB-F3B6-7B22C938C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79CD9-21FD-4281-1BA9-3457F32B8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às Distribuições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F03D9A-B47B-0F09-F391-4839994A0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Distribuições descrevem como os valores de uma variável aleatória estão distribuídos.</a:t>
            </a:r>
          </a:p>
          <a:p>
            <a:pPr marL="0" indent="0" algn="just">
              <a:buNone/>
            </a:pPr>
            <a:r>
              <a:rPr lang="pt-BR" b="1" dirty="0"/>
              <a:t>As Principais são:</a:t>
            </a:r>
          </a:p>
          <a:p>
            <a:pPr algn="just"/>
            <a:r>
              <a:rPr lang="pt-BR" dirty="0"/>
              <a:t>Discretas: Bernoulli, Binomial, Poisson.</a:t>
            </a:r>
          </a:p>
          <a:p>
            <a:pPr algn="just"/>
            <a:r>
              <a:rPr lang="pt-BR" dirty="0"/>
              <a:t>Contínuas: Normal, Exponencial, Uniforme.</a:t>
            </a:r>
          </a:p>
          <a:p>
            <a:pPr algn="just"/>
            <a:r>
              <a:rPr lang="pt-BR" dirty="0"/>
              <a:t>Cada distribuição é caracterizada por parâmetros (</a:t>
            </a:r>
            <a:r>
              <a:rPr lang="pt-BR" dirty="0" err="1"/>
              <a:t>ex</a:t>
            </a:r>
            <a:r>
              <a:rPr lang="pt-BR" dirty="0"/>
              <a:t>: média, variância, taxa de ocorrência, etc.) e usada para modelar fenômenos específicos.</a:t>
            </a:r>
          </a:p>
        </p:txBody>
      </p:sp>
    </p:spTree>
    <p:extLst>
      <p:ext uri="{BB962C8B-B14F-4D97-AF65-F5344CB8AC3E}">
        <p14:creationId xmlns:p14="http://schemas.microsoft.com/office/powerpoint/2010/main" val="6795180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47C20-041D-E461-320F-D1AA5F559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F62A09-EC4B-C71E-D856-16519720F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Utilizações das Distribuições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ACFFD5-D2D7-AF46-4476-BBE90C74A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21527"/>
            <a:ext cx="9601196" cy="3685309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pt-BR" b="1" dirty="0"/>
              <a:t>Modelar Fenômenos Aleatórios</a:t>
            </a:r>
          </a:p>
          <a:p>
            <a:pPr algn="just"/>
            <a:r>
              <a:rPr lang="pt-BR" dirty="0"/>
              <a:t>Cada distribuição representa um padrão típico de comportamento.</a:t>
            </a:r>
          </a:p>
          <a:p>
            <a:pPr marL="0" indent="0" algn="just">
              <a:buNone/>
            </a:pPr>
            <a:r>
              <a:rPr lang="pt-BR" b="1" dirty="0"/>
              <a:t>Exemplos:</a:t>
            </a:r>
          </a:p>
          <a:p>
            <a:pPr algn="just"/>
            <a:r>
              <a:rPr lang="pt-BR" dirty="0"/>
              <a:t>Binomial → número de sucessos em tentativas independentes (erros de transmissão de pacotes).</a:t>
            </a:r>
          </a:p>
          <a:p>
            <a:pPr algn="just"/>
            <a:r>
              <a:rPr lang="pt-BR" dirty="0"/>
              <a:t>Exponencial → tempo entre falhas de sistemas.</a:t>
            </a:r>
          </a:p>
          <a:p>
            <a:pPr algn="just"/>
            <a:r>
              <a:rPr lang="pt-BR" dirty="0"/>
              <a:t>Normal → desempenho médio de processadores ou variação de medidas físicas.</a:t>
            </a:r>
          </a:p>
        </p:txBody>
      </p:sp>
    </p:spTree>
    <p:extLst>
      <p:ext uri="{BB962C8B-B14F-4D97-AF65-F5344CB8AC3E}">
        <p14:creationId xmlns:p14="http://schemas.microsoft.com/office/powerpoint/2010/main" val="7707834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EAE7A-D98B-304C-AB45-F0D7B7FDE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B13676-B50B-5E13-D4CF-D0DD88C52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Previsão e Estimativa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47CDAD-B9A0-BFDE-F29F-19BD9E88D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Usamos distribuições para estimar probabilidades de eventos futuros.</a:t>
            </a:r>
          </a:p>
          <a:p>
            <a:pPr algn="just"/>
            <a:r>
              <a:rPr lang="pt-BR" dirty="0"/>
              <a:t>Exemplo: prever a chance de um servidor ultrapassar 90% de uso de CPU (distribuição normal).</a:t>
            </a:r>
          </a:p>
        </p:txBody>
      </p:sp>
    </p:spTree>
    <p:extLst>
      <p:ext uri="{BB962C8B-B14F-4D97-AF65-F5344CB8AC3E}">
        <p14:creationId xmlns:p14="http://schemas.microsoft.com/office/powerpoint/2010/main" val="3374850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AC1E0-78EB-593D-8173-179ECB48E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3F1105-AA8F-CCB4-BE43-2487D926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Inferência Estatística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2FCAB3-4BED-C3C7-7244-FF36E9B89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São a base para testes de hipótese e intervalos de confiança.</a:t>
            </a:r>
          </a:p>
          <a:p>
            <a:pPr algn="just"/>
            <a:r>
              <a:rPr lang="pt-BR" dirty="0"/>
              <a:t>Exemplo: determinar se dois algoritmos têm desempenho significativamente diferente (teste baseado em distribuição t de </a:t>
            </a:r>
            <a:r>
              <a:rPr lang="pt-BR" dirty="0" err="1"/>
              <a:t>Student</a:t>
            </a:r>
            <a:r>
              <a:rPr lang="pt-B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627026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52EFE-14FB-3D2E-2856-83979C1EE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8E6EC9-3ECC-FAD8-F8C8-BC9E3DC89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Tomada de Decisão sob Incerteza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F66177-9D20-2D3F-141D-B85803501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Permitem avaliar riscos e probabilidades.</a:t>
            </a:r>
          </a:p>
          <a:p>
            <a:pPr algn="just"/>
            <a:r>
              <a:rPr lang="pt-BR" dirty="0"/>
              <a:t>Exemplo: na segurança da informação, calcular a probabilidade de um ataque ocorrer em determinado intervalo de tempo (Poisson/Exponencial).</a:t>
            </a:r>
          </a:p>
        </p:txBody>
      </p:sp>
    </p:spTree>
    <p:extLst>
      <p:ext uri="{BB962C8B-B14F-4D97-AF65-F5344CB8AC3E}">
        <p14:creationId xmlns:p14="http://schemas.microsoft.com/office/powerpoint/2010/main" val="42035593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AE922-725F-9F9D-96E8-EF3049C29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AC8FF1-D392-22C1-5A04-47BBA1459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Simulações Computacionais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692B09-C2E0-1259-F2B4-9B4448279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Usadas em Monte Carlo e outros métodos de simulação.</a:t>
            </a:r>
          </a:p>
          <a:p>
            <a:pPr algn="just"/>
            <a:r>
              <a:rPr lang="pt-BR" dirty="0"/>
              <a:t>Exemplo: gerar cenários de tráfego em redes ou estimar desempenho de sistemas distribuídos.</a:t>
            </a:r>
          </a:p>
        </p:txBody>
      </p:sp>
    </p:spTree>
    <p:extLst>
      <p:ext uri="{BB962C8B-B14F-4D97-AF65-F5344CB8AC3E}">
        <p14:creationId xmlns:p14="http://schemas.microsoft.com/office/powerpoint/2010/main" val="5333174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09A35-DF5C-266A-65BA-9ABDD597C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80518-358A-5962-0538-FABB3A63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Controle de Qualidade e Processos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432CFC-E856-85BC-D4AC-791A036CF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Avaliar se a produção ou desempenho de um sistema segue o padrão esperado.</a:t>
            </a:r>
          </a:p>
          <a:p>
            <a:pPr algn="just"/>
            <a:r>
              <a:rPr lang="pt-BR" dirty="0"/>
              <a:t>Exemplo: identificar anomalias em logs de sistema quando os dados fogem da curva normal.</a:t>
            </a:r>
          </a:p>
        </p:txBody>
      </p:sp>
    </p:spTree>
    <p:extLst>
      <p:ext uri="{BB962C8B-B14F-4D97-AF65-F5344CB8AC3E}">
        <p14:creationId xmlns:p14="http://schemas.microsoft.com/office/powerpoint/2010/main" val="36582891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DC363-2FA3-3808-3AD4-DDF80EB2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CD94F6-49E2-EC0B-EDAA-8A448BEE2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Machine Learning e Ciência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8A5F35-2786-F674-FC76-D0B15A694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Muitos algoritmos se baseiam em distribuições.</a:t>
            </a:r>
          </a:p>
          <a:p>
            <a:pPr marL="0" indent="0" algn="just">
              <a:buNone/>
            </a:pPr>
            <a:r>
              <a:rPr lang="pt-BR" b="1" dirty="0"/>
              <a:t>Exemplos: </a:t>
            </a:r>
          </a:p>
          <a:p>
            <a:pPr algn="just"/>
            <a:r>
              <a:rPr lang="pt-BR" dirty="0" err="1"/>
              <a:t>Naive</a:t>
            </a:r>
            <a:r>
              <a:rPr lang="pt-BR" dirty="0"/>
              <a:t> </a:t>
            </a:r>
            <a:r>
              <a:rPr lang="pt-BR" dirty="0" err="1"/>
              <a:t>Bayes</a:t>
            </a:r>
            <a:r>
              <a:rPr lang="pt-BR" dirty="0"/>
              <a:t>: usa distribuições de probabilidade para classificação.</a:t>
            </a:r>
          </a:p>
          <a:p>
            <a:pPr algn="just"/>
            <a:r>
              <a:rPr lang="pt-BR" dirty="0"/>
              <a:t>Modelagem de variáveis em Redes Bayesianas.</a:t>
            </a:r>
          </a:p>
        </p:txBody>
      </p:sp>
    </p:spTree>
    <p:extLst>
      <p:ext uri="{BB962C8B-B14F-4D97-AF65-F5344CB8AC3E}">
        <p14:creationId xmlns:p14="http://schemas.microsoft.com/office/powerpoint/2010/main" val="41680322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85D7E-CE24-4E1C-956B-7F902EA65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CB46A-A189-7BE7-1689-AFD90DD22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Resumindo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C9AAB007-424E-EE7B-9998-B78D040292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2140094"/>
              </p:ext>
            </p:extLst>
          </p:nvPr>
        </p:nvGraphicFramePr>
        <p:xfrm>
          <a:off x="651164" y="2521526"/>
          <a:ext cx="10917382" cy="332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4529">
                  <a:extLst>
                    <a:ext uri="{9D8B030D-6E8A-4147-A177-3AD203B41FA5}">
                      <a16:colId xmlns:a16="http://schemas.microsoft.com/office/drawing/2014/main" val="1246572499"/>
                    </a:ext>
                  </a:extLst>
                </a:gridCol>
                <a:gridCol w="4606998">
                  <a:extLst>
                    <a:ext uri="{9D8B030D-6E8A-4147-A177-3AD203B41FA5}">
                      <a16:colId xmlns:a16="http://schemas.microsoft.com/office/drawing/2014/main" val="702381066"/>
                    </a:ext>
                  </a:extLst>
                </a:gridCol>
                <a:gridCol w="4585855">
                  <a:extLst>
                    <a:ext uri="{9D8B030D-6E8A-4147-A177-3AD203B41FA5}">
                      <a16:colId xmlns:a16="http://schemas.microsoft.com/office/drawing/2014/main" val="3553152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 dirty="0"/>
                        <a:t>Distribuição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/>
                        <a:t>Utilização Principal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/>
                        <a:t>Exemplo em Computação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991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 b="1"/>
                        <a:t>Bernoulli</a:t>
                      </a:r>
                      <a:endParaRPr lang="pt-BR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/>
                        <a:t>Evento binário (sucesso/fracasso)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/>
                        <a:t>Login válido ou inválido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5707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 b="1"/>
                        <a:t>Binomial</a:t>
                      </a:r>
                      <a:endParaRPr lang="pt-BR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/>
                        <a:t>Número de sucessos em n tentativas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/>
                        <a:t>Pacotes transmitidos com sucesso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3206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 b="1"/>
                        <a:t>Poisson</a:t>
                      </a:r>
                      <a:endParaRPr lang="pt-BR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/>
                        <a:t>Contagem de eventos raros em intervalo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/>
                        <a:t>Número de falhas de disco em 1 ano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7691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 b="1"/>
                        <a:t>Exponencial</a:t>
                      </a:r>
                      <a:endParaRPr lang="pt-BR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/>
                        <a:t>Tempo entre eventos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/>
                        <a:t>Tempo entre requisições a um servidor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651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 b="1"/>
                        <a:t>Normal</a:t>
                      </a:r>
                      <a:endParaRPr lang="pt-BR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/>
                        <a:t>Fenômenos simétricos e naturais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/>
                        <a:t>Desempenho médio de um processador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5263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 b="1"/>
                        <a:t>Uniforme</a:t>
                      </a:r>
                      <a:endParaRPr lang="pt-BR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/>
                        <a:t>Probabilidades iguais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 dirty="0"/>
                        <a:t>Geração de números aleatórios em simulação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1445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41098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2596</TotalTime>
  <Words>1970</Words>
  <Application>Microsoft Office PowerPoint</Application>
  <PresentationFormat>Widescreen</PresentationFormat>
  <Paragraphs>191</Paragraphs>
  <Slides>38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2" baseType="lpstr">
      <vt:lpstr>Arial</vt:lpstr>
      <vt:lpstr>Garamond</vt:lpstr>
      <vt:lpstr>Wingdings</vt:lpstr>
      <vt:lpstr>Orgânico</vt:lpstr>
      <vt:lpstr>Estatística Para Computação</vt:lpstr>
      <vt:lpstr>Introdução à Probabilidade</vt:lpstr>
      <vt:lpstr>Espaço Amostral</vt:lpstr>
      <vt:lpstr>Eventos</vt:lpstr>
      <vt:lpstr>Definição Clássica de Probabilidade</vt:lpstr>
      <vt:lpstr>Dependência de eventos</vt:lpstr>
      <vt:lpstr>Independência de eventos</vt:lpstr>
      <vt:lpstr>Regras da Probabilidade</vt:lpstr>
      <vt:lpstr>Exemplo Prático: Lançamento de 2 Dados</vt:lpstr>
      <vt:lpstr>Lançamento de 2 Dados</vt:lpstr>
      <vt:lpstr>Exercício</vt:lpstr>
      <vt:lpstr>Exercício</vt:lpstr>
      <vt:lpstr>Apresentação do PowerPoint</vt:lpstr>
      <vt:lpstr>Lançamentos com 3 Dados</vt:lpstr>
      <vt:lpstr>Lançamentos com 3 Dados</vt:lpstr>
      <vt:lpstr>Lançamento de Qualquer Tipo de Dado</vt:lpstr>
      <vt:lpstr>Variáveis Aleatórias </vt:lpstr>
      <vt:lpstr>As Variáveis Aleatórias são Classificadas em</vt:lpstr>
      <vt:lpstr>Variáveis Aleatórias Discretas</vt:lpstr>
      <vt:lpstr>Variáveis Aleatórias Discretas</vt:lpstr>
      <vt:lpstr>Variáveis Aleatórias Contínuas</vt:lpstr>
      <vt:lpstr>Variáveis Aleatórias Contínuas</vt:lpstr>
      <vt:lpstr>Variáveis Aleatórias Contínuas</vt:lpstr>
      <vt:lpstr>Variáveis Aleatórias Mistas</vt:lpstr>
      <vt:lpstr>Variáveis Aleatórias Mistas</vt:lpstr>
      <vt:lpstr>Exemplos Variáveis Aleatórias Mistas no Excel</vt:lpstr>
      <vt:lpstr>Função de Probabilidade Discreta</vt:lpstr>
      <vt:lpstr>Função de Probabilidade Discreta</vt:lpstr>
      <vt:lpstr>Função de Probabilidade Contínua</vt:lpstr>
      <vt:lpstr>Introdução às Distribuições</vt:lpstr>
      <vt:lpstr>Principais Utilizações das Distribuições</vt:lpstr>
      <vt:lpstr>Previsão e Estimativa</vt:lpstr>
      <vt:lpstr>Inferência Estatística</vt:lpstr>
      <vt:lpstr>Tomada de Decisão sob Incerteza</vt:lpstr>
      <vt:lpstr>Simulações Computacionais</vt:lpstr>
      <vt:lpstr>Controle de Qualidade e Processos</vt:lpstr>
      <vt:lpstr>Machine Learning e Ciência de Dados</vt:lpstr>
      <vt:lpstr>Resumindo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Disciplina Princípios de Engenharia</dc:title>
  <dc:creator>Cahue Sbrana</dc:creator>
  <cp:lastModifiedBy>CAHUE SBRANA</cp:lastModifiedBy>
  <cp:revision>571</cp:revision>
  <dcterms:created xsi:type="dcterms:W3CDTF">2016-01-25T19:09:02Z</dcterms:created>
  <dcterms:modified xsi:type="dcterms:W3CDTF">2025-09-01T22:09:21Z</dcterms:modified>
</cp:coreProperties>
</file>