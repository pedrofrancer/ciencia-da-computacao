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6"/>
  </p:notesMasterIdLst>
  <p:sldIdLst>
    <p:sldId id="256" r:id="rId2"/>
    <p:sldId id="262" r:id="rId3"/>
    <p:sldId id="261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3" r:id="rId14"/>
    <p:sldId id="274" r:id="rId15"/>
    <p:sldId id="271" r:id="rId16"/>
    <p:sldId id="272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8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9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F6E0CE-FF79-421F-98AA-B00047F169A1}" type="datetimeFigureOut">
              <a:rPr lang="pt-BR" smtClean="0"/>
              <a:t>13/09/2025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021094-2F7D-4985-A9B0-7A020E3DC37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856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567707" y="1580185"/>
            <a:ext cx="6815669" cy="3314480"/>
          </a:xfrm>
        </p:spPr>
        <p:txBody>
          <a:bodyPr/>
          <a:lstStyle/>
          <a:p>
            <a:r>
              <a:rPr lang="pt-BR" sz="4800" dirty="0">
                <a:latin typeface="Arial" panose="020B0604020202020204" pitchFamily="34" charset="0"/>
                <a:cs typeface="Arial" panose="020B0604020202020204" pitchFamily="34" charset="0"/>
              </a:rPr>
              <a:t>Estatística Para Computação</a:t>
            </a:r>
            <a:br>
              <a:rPr lang="pt-BR" sz="440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Teste de Hipóteses</a:t>
            </a:r>
            <a:b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>
                <a:latin typeface="Arial" panose="020B0604020202020204" pitchFamily="34" charset="0"/>
                <a:cs typeface="Arial" panose="020B0604020202020204" pitchFamily="34" charset="0"/>
              </a:rPr>
              <a:t>Aula 09 </a:t>
            </a:r>
            <a:endParaRPr lang="pt-BR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984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Conceito sobre Teste de Hipóteses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723552"/>
          </a:xfrm>
        </p:spPr>
        <p:txBody>
          <a:bodyPr>
            <a:normAutofit/>
          </a:bodyPr>
          <a:lstStyle/>
          <a:p>
            <a:r>
              <a:rPr lang="pt-BR" dirty="0"/>
              <a:t>É um método de inferência estatística usando dados de um estudo científico.</a:t>
            </a:r>
          </a:p>
          <a:p>
            <a:r>
              <a:rPr lang="pt-BR" dirty="0"/>
              <a:t>É um procedimento estatístico baseado na análise de uma amostra, através da teoria de probabilidades, usado para avaliar determinados parâmetros que são desconhecidos numa população.</a:t>
            </a:r>
          </a:p>
          <a:p>
            <a:r>
              <a:rPr lang="pt-BR" dirty="0"/>
              <a:t>Os testes de hipótese são constituídos de alternativas que são testadas.</a:t>
            </a:r>
          </a:p>
          <a:p>
            <a:r>
              <a:rPr lang="pt-BR" dirty="0"/>
              <a:t>Através da aplicação da teoria de probabilidades é possível tirar conclusões em relação a uma amostra retirada de uma população.</a:t>
            </a:r>
          </a:p>
          <a:p>
            <a:r>
              <a:rPr lang="pt-BR" dirty="0"/>
              <a:t>Regra da decisão é o fato de rejeitar ou não a hipótese nula.</a:t>
            </a:r>
          </a:p>
        </p:txBody>
      </p:sp>
    </p:spTree>
    <p:extLst>
      <p:ext uri="{BB962C8B-B14F-4D97-AF65-F5344CB8AC3E}">
        <p14:creationId xmlns:p14="http://schemas.microsoft.com/office/powerpoint/2010/main" val="3435318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 de Hipóteses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1526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Hipótese nula (H</a:t>
            </a:r>
            <a:r>
              <a:rPr lang="pt-BR" baseline="-25000" dirty="0"/>
              <a:t>0</a:t>
            </a:r>
            <a:r>
              <a:rPr lang="pt-BR" dirty="0"/>
              <a:t>) : é a hipótese que assumimos como verdade para a construção do teste. É o efeito, teoria, alternativa que estamos interessados em testar.</a:t>
            </a:r>
          </a:p>
          <a:p>
            <a:r>
              <a:rPr lang="pt-BR" dirty="0"/>
              <a:t>Hipótese alternativa (H</a:t>
            </a:r>
            <a:r>
              <a:rPr lang="pt-BR" baseline="-25000" dirty="0"/>
              <a:t>1</a:t>
            </a:r>
            <a:r>
              <a:rPr lang="pt-BR" dirty="0"/>
              <a:t>) : é o que consideramos caso a hipótese nula não tenha evidência estatística que a defenda.</a:t>
            </a:r>
          </a:p>
          <a:p>
            <a:r>
              <a:rPr lang="pt-BR" dirty="0"/>
              <a:t>Erro do tipo I: a probabilidade de rejeitarmos a hipótese nula quando ela é efetivamente verdadeira (</a:t>
            </a:r>
            <a:r>
              <a:rPr lang="el-GR" dirty="0"/>
              <a:t>α</a:t>
            </a:r>
            <a:r>
              <a:rPr lang="pt-BR" dirty="0"/>
              <a:t>).</a:t>
            </a:r>
          </a:p>
          <a:p>
            <a:r>
              <a:rPr lang="pt-BR" dirty="0"/>
              <a:t>Erro do tipo II: a probabilidade de rejeitarmos a hipótese alternativa quando ela é efetivamente verdadeira.</a:t>
            </a:r>
          </a:p>
        </p:txBody>
      </p:sp>
    </p:spTree>
    <p:extLst>
      <p:ext uri="{BB962C8B-B14F-4D97-AF65-F5344CB8AC3E}">
        <p14:creationId xmlns:p14="http://schemas.microsoft.com/office/powerpoint/2010/main" val="390304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4800" dirty="0"/>
              <a:t>Construção de um Teste de Hipóteses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743200"/>
            <a:ext cx="9601196" cy="3272588"/>
          </a:xfrm>
        </p:spPr>
        <p:txBody>
          <a:bodyPr>
            <a:normAutofit/>
          </a:bodyPr>
          <a:lstStyle/>
          <a:p>
            <a:r>
              <a:rPr lang="pt-BR" dirty="0"/>
              <a:t>Existe uma variável X associada a uma determinada população.</a:t>
            </a:r>
          </a:p>
          <a:p>
            <a:r>
              <a:rPr lang="pt-BR" dirty="0"/>
              <a:t>Tem-se uma hipótese sobre determinado parâmetro (θ</a:t>
            </a:r>
            <a:r>
              <a:rPr lang="pt-BR" baseline="-25000" dirty="0"/>
              <a:t>0</a:t>
            </a:r>
            <a:r>
              <a:rPr lang="pt-BR" dirty="0"/>
              <a:t>) dessa população.</a:t>
            </a:r>
          </a:p>
          <a:p>
            <a:r>
              <a:rPr lang="pt-BR" dirty="0"/>
              <a:t>Colhe-se uma amostra aleatória de elementos dessa população para comprovar ou não a tal hipótese.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53899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Procedimento Geral do Teste de Hipóteses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27300"/>
          </a:xfrm>
        </p:spPr>
        <p:txBody>
          <a:bodyPr/>
          <a:lstStyle/>
          <a:p>
            <a:r>
              <a:rPr lang="pt-BR" dirty="0"/>
              <a:t>Inicia-se a análise explicitando claramente qual a hipótese que estamos colocando a prova e a chamamos de hipótese nula (H</a:t>
            </a:r>
            <a:r>
              <a:rPr lang="pt-BR" baseline="-25000" dirty="0"/>
              <a:t>0</a:t>
            </a:r>
            <a:r>
              <a:rPr lang="pt-BR" dirty="0"/>
              <a:t>: </a:t>
            </a:r>
            <a:r>
              <a:rPr lang="el-GR" dirty="0"/>
              <a:t>θ = θ</a:t>
            </a:r>
            <a:r>
              <a:rPr lang="el-GR" baseline="-25000" dirty="0"/>
              <a:t>0</a:t>
            </a:r>
            <a:r>
              <a:rPr lang="pt-BR" dirty="0"/>
              <a:t>).</a:t>
            </a:r>
          </a:p>
          <a:p>
            <a:r>
              <a:rPr lang="pt-BR" dirty="0"/>
              <a:t>Em seguida, explicitamos a hipótese que será considerada aceitável, caso H</a:t>
            </a:r>
            <a:r>
              <a:rPr lang="pt-BR" baseline="-25000" dirty="0"/>
              <a:t>0 </a:t>
            </a:r>
            <a:r>
              <a:rPr lang="pt-BR" dirty="0"/>
              <a:t>seja rejeitada.</a:t>
            </a:r>
          </a:p>
          <a:p>
            <a:r>
              <a:rPr lang="pt-BR" dirty="0"/>
              <a:t>Chamamos essa hipótese de hipótese alternativa e a determinação da hipótese alternativa dependerá do problema em questão (H</a:t>
            </a:r>
            <a:r>
              <a:rPr lang="pt-BR" baseline="-25000" dirty="0"/>
              <a:t>1</a:t>
            </a:r>
            <a:r>
              <a:rPr lang="pt-BR" dirty="0"/>
              <a:t>: </a:t>
            </a:r>
            <a:r>
              <a:rPr lang="el-GR" dirty="0"/>
              <a:t>θ ≠ θ</a:t>
            </a:r>
            <a:r>
              <a:rPr lang="el-GR" baseline="-25000" dirty="0"/>
              <a:t>0</a:t>
            </a:r>
            <a:r>
              <a:rPr lang="pt-BR" dirty="0"/>
              <a:t>).</a:t>
            </a:r>
          </a:p>
          <a:p>
            <a:r>
              <a:rPr lang="pt-BR" dirty="0"/>
              <a:t>Podendo ser também H</a:t>
            </a:r>
            <a:r>
              <a:rPr lang="pt-BR" baseline="-25000" dirty="0"/>
              <a:t>1</a:t>
            </a:r>
            <a:r>
              <a:rPr lang="pt-BR" dirty="0"/>
              <a:t>: θ &lt; θ</a:t>
            </a:r>
            <a:r>
              <a:rPr lang="pt-BR" baseline="-25000" dirty="0"/>
              <a:t>0</a:t>
            </a:r>
            <a:r>
              <a:rPr lang="pt-BR" dirty="0"/>
              <a:t> ou H</a:t>
            </a:r>
            <a:r>
              <a:rPr lang="pt-BR" baseline="-25000" dirty="0"/>
              <a:t>1</a:t>
            </a:r>
            <a:r>
              <a:rPr lang="pt-BR" dirty="0"/>
              <a:t>: θ &gt; θ</a:t>
            </a:r>
            <a:r>
              <a:rPr lang="pt-BR" baseline="-25000" dirty="0"/>
              <a:t>0</a:t>
            </a:r>
            <a:r>
              <a:rPr lang="pt-BR" dirty="0"/>
              <a:t>, dependendo do problema.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6769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Procedimento Geral do Teste de Hipóteses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382253"/>
            <a:ext cx="10098504" cy="3850105"/>
          </a:xfrm>
        </p:spPr>
        <p:txBody>
          <a:bodyPr>
            <a:noAutofit/>
          </a:bodyPr>
          <a:lstStyle/>
          <a:p>
            <a:r>
              <a:rPr lang="pt-BR" dirty="0"/>
              <a:t>Qualquer que seja a decisão tomada, vimos que estamos sujeitos a cometer erros.</a:t>
            </a:r>
          </a:p>
          <a:p>
            <a:r>
              <a:rPr lang="pt-BR" dirty="0"/>
              <a:t>As definições desses erros são: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Erro Tipo I: rejeitar a hipótese nula quando ela é verdadeira. Chamamos de 𝛼 a probabilidade de cometer esse erro. </a:t>
            </a:r>
          </a:p>
          <a:p>
            <a:pPr marL="457200" lvl="1" indent="0">
              <a:buNone/>
            </a:pPr>
            <a:r>
              <a:rPr lang="pt-BR" sz="2400" dirty="0"/>
              <a:t>	𝛼=</a:t>
            </a:r>
            <a:r>
              <a:rPr lang="pt-BR" sz="2400" dirty="0" err="1"/>
              <a:t>Prob</a:t>
            </a:r>
            <a:r>
              <a:rPr lang="pt-BR" sz="2400" dirty="0"/>
              <a:t>(Erro Tipo I)= </a:t>
            </a:r>
            <a:r>
              <a:rPr lang="pt-BR" sz="2400" dirty="0" err="1"/>
              <a:t>Prob</a:t>
            </a:r>
            <a:r>
              <a:rPr lang="pt-BR" sz="2400" dirty="0"/>
              <a:t>(Rejeitar H</a:t>
            </a:r>
            <a:r>
              <a:rPr lang="pt-BR" sz="2400" baseline="-25000" dirty="0"/>
              <a:t>0 </a:t>
            </a:r>
            <a:r>
              <a:rPr lang="pt-BR" sz="2400" dirty="0"/>
              <a:t>se H</a:t>
            </a:r>
            <a:r>
              <a:rPr lang="pt-BR" sz="2400" baseline="-25000" dirty="0"/>
              <a:t>0</a:t>
            </a:r>
            <a:r>
              <a:rPr lang="pt-BR" sz="2400" dirty="0"/>
              <a:t> for verdadeira).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pt-BR" sz="2400" dirty="0"/>
              <a:t>Erro Tipo II: não rejeitar a hipótese H</a:t>
            </a:r>
            <a:r>
              <a:rPr lang="pt-BR" sz="2400" baseline="-25000" dirty="0"/>
              <a:t>0</a:t>
            </a:r>
            <a:r>
              <a:rPr lang="pt-BR" sz="2400" dirty="0"/>
              <a:t> quando ela é falsa. Chamamos de 𝛽 a probabilidade de cometer esse erro. </a:t>
            </a:r>
          </a:p>
          <a:p>
            <a:pPr marL="457200" lvl="1" indent="0">
              <a:buNone/>
            </a:pPr>
            <a:r>
              <a:rPr lang="pt-BR" sz="2400" dirty="0"/>
              <a:t>	𝛽=</a:t>
            </a:r>
            <a:r>
              <a:rPr lang="pt-BR" sz="2400" dirty="0" err="1"/>
              <a:t>Prob</a:t>
            </a:r>
            <a:r>
              <a:rPr lang="pt-BR" sz="2400" dirty="0"/>
              <a:t>(Erro Tipo II)= </a:t>
            </a:r>
            <a:r>
              <a:rPr lang="pt-BR" sz="2400" dirty="0" err="1"/>
              <a:t>Prob</a:t>
            </a:r>
            <a:r>
              <a:rPr lang="pt-BR" sz="2400" dirty="0"/>
              <a:t>(Não rejeitar H</a:t>
            </a:r>
            <a:r>
              <a:rPr lang="pt-BR" sz="2400" baseline="-25000" dirty="0"/>
              <a:t>0 </a:t>
            </a:r>
            <a:r>
              <a:rPr lang="pt-BR" sz="2400" dirty="0"/>
              <a:t>se H</a:t>
            </a:r>
            <a:r>
              <a:rPr lang="pt-BR" sz="2400" baseline="-25000" dirty="0"/>
              <a:t>0</a:t>
            </a:r>
            <a:r>
              <a:rPr lang="pt-BR" sz="2400" dirty="0"/>
              <a:t> for falsa).</a:t>
            </a:r>
          </a:p>
        </p:txBody>
      </p:sp>
    </p:spTree>
    <p:extLst>
      <p:ext uri="{BB962C8B-B14F-4D97-AF65-F5344CB8AC3E}">
        <p14:creationId xmlns:p14="http://schemas.microsoft.com/office/powerpoint/2010/main" val="24203039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do Teste de Hipótese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dizer, usando uma estatística T (ou 𝜃), se a hipótese H</a:t>
            </a:r>
            <a:r>
              <a:rPr lang="pt-BR" baseline="-25000" dirty="0"/>
              <a:t>0</a:t>
            </a:r>
            <a:r>
              <a:rPr lang="pt-BR" dirty="0"/>
              <a:t> é aceitável ou não.</a:t>
            </a:r>
          </a:p>
          <a:p>
            <a:r>
              <a:rPr lang="pt-BR" dirty="0"/>
              <a:t>Essa decisão é tomada usando uma região RC, região critica ou região de rejeição do teste. </a:t>
            </a:r>
          </a:p>
          <a:p>
            <a:r>
              <a:rPr lang="pt-BR" dirty="0"/>
              <a:t>Caso o valor observado da estatística pertença a essa região, rejeitamos H</a:t>
            </a:r>
            <a:r>
              <a:rPr lang="pt-BR" baseline="-25000" dirty="0"/>
              <a:t>0</a:t>
            </a:r>
            <a:r>
              <a:rPr lang="pt-BR" dirty="0"/>
              <a:t>.</a:t>
            </a:r>
          </a:p>
          <a:p>
            <a:r>
              <a:rPr lang="pt-BR" dirty="0"/>
              <a:t>Essa região RC é construída de modo que a probabilidade de 𝜃 pertença RC se H</a:t>
            </a:r>
            <a:r>
              <a:rPr lang="pt-BR" baseline="-25000" dirty="0"/>
              <a:t>0</a:t>
            </a:r>
            <a:r>
              <a:rPr lang="pt-BR" dirty="0"/>
              <a:t> for 𝑣𝑒𝑟𝑑𝑎𝑑𝑒𝑖𝑟𝑎 ou seja igual a 𝛼.</a:t>
            </a:r>
          </a:p>
          <a:p>
            <a:r>
              <a:rPr lang="pt-BR" dirty="0"/>
              <a:t>A região critica é sempre construída sob a hipótese de H</a:t>
            </a:r>
            <a:r>
              <a:rPr lang="pt-BR" baseline="-25000" dirty="0"/>
              <a:t>0</a:t>
            </a:r>
            <a:r>
              <a:rPr lang="pt-BR" dirty="0"/>
              <a:t> ser verdadeira.</a:t>
            </a:r>
          </a:p>
        </p:txBody>
      </p:sp>
    </p:spTree>
    <p:extLst>
      <p:ext uri="{BB962C8B-B14F-4D97-AF65-F5344CB8AC3E}">
        <p14:creationId xmlns:p14="http://schemas.microsoft.com/office/powerpoint/2010/main" val="183619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Erro Tipo 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79173"/>
          </a:xfrm>
        </p:spPr>
        <p:txBody>
          <a:bodyPr/>
          <a:lstStyle/>
          <a:p>
            <a:r>
              <a:rPr lang="pt-BR" dirty="0"/>
              <a:t>A probabilidade 𝛼 de se cometer o Erro Tipo I é um valor arbitrário e recebe o nome de nível de significância do teste.</a:t>
            </a:r>
          </a:p>
          <a:p>
            <a:r>
              <a:rPr lang="pt-BR" dirty="0"/>
              <a:t>Quanto menor for 𝛼, menor é a probabilidade de se obter uma amostra com estatística pertencente à região crítica, sendo pouco provável a obtenção de uma amostra da população para a qual H</a:t>
            </a:r>
            <a:r>
              <a:rPr lang="pt-BR" baseline="-25000" dirty="0"/>
              <a:t>0</a:t>
            </a:r>
            <a:r>
              <a:rPr lang="pt-BR" dirty="0"/>
              <a:t> seja verdadeira.</a:t>
            </a:r>
          </a:p>
          <a:p>
            <a:r>
              <a:rPr lang="pt-BR" dirty="0"/>
              <a:t>𝛼=𝑃 (𝑅𝑒𝑗𝑒𝑖𝑡𝑎𝑟 H</a:t>
            </a:r>
            <a:r>
              <a:rPr lang="pt-BR" baseline="-25000" dirty="0"/>
              <a:t>0</a:t>
            </a:r>
            <a:r>
              <a:rPr lang="pt-BR" dirty="0"/>
              <a:t>|H</a:t>
            </a:r>
            <a:r>
              <a:rPr lang="pt-BR" baseline="-25000" dirty="0"/>
              <a:t>0</a:t>
            </a:r>
            <a:r>
              <a:rPr lang="pt-BR" dirty="0"/>
              <a:t> 𝑣𝑒𝑟𝑑𝑎𝑑𝑒𝑖𝑟𝑎).</a:t>
            </a:r>
          </a:p>
          <a:p>
            <a:r>
              <a:rPr lang="pt-BR" dirty="0"/>
              <a:t>O valor de 𝛼 pode ser fixado em 1%, 5% ou 10%.</a:t>
            </a:r>
          </a:p>
        </p:txBody>
      </p:sp>
    </p:spTree>
    <p:extLst>
      <p:ext uri="{BB962C8B-B14F-4D97-AF65-F5344CB8AC3E}">
        <p14:creationId xmlns:p14="http://schemas.microsoft.com/office/powerpoint/2010/main" val="1043690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Erro Tipo II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determinação do valor de 𝛽 é mais difícil.</a:t>
            </a:r>
          </a:p>
          <a:p>
            <a:r>
              <a:rPr lang="pt-BR" dirty="0"/>
              <a:t>Usualmente não especificamos valores fixos para esse parâmetro sob a hipótese alternativa.</a:t>
            </a:r>
          </a:p>
        </p:txBody>
      </p:sp>
    </p:spTree>
    <p:extLst>
      <p:ext uri="{BB962C8B-B14F-4D97-AF65-F5344CB8AC3E}">
        <p14:creationId xmlns:p14="http://schemas.microsoft.com/office/powerpoint/2010/main" val="2420197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153652" y="982132"/>
            <a:ext cx="7952873" cy="1303867"/>
          </a:xfrm>
        </p:spPr>
        <p:txBody>
          <a:bodyPr>
            <a:normAutofit fontScale="90000"/>
          </a:bodyPr>
          <a:lstStyle/>
          <a:p>
            <a:r>
              <a:rPr lang="pt-BR" dirty="0"/>
              <a:t>Passos para a Construção de um </a:t>
            </a:r>
            <a:br>
              <a:rPr lang="pt-BR" dirty="0"/>
            </a:br>
            <a:r>
              <a:rPr lang="pt-BR" dirty="0"/>
              <a:t>Teste de Hipóteses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0" y="2382253"/>
            <a:ext cx="9905999" cy="3850105"/>
          </a:xfrm>
        </p:spPr>
        <p:txBody>
          <a:bodyPr>
            <a:normAutofit/>
          </a:bodyPr>
          <a:lstStyle/>
          <a:p>
            <a:r>
              <a:rPr lang="pt-BR" dirty="0"/>
              <a:t>Passo 1: Determinar qual a hipótese H</a:t>
            </a:r>
            <a:r>
              <a:rPr lang="pt-BR" baseline="-25000" dirty="0"/>
              <a:t>0</a:t>
            </a:r>
            <a:r>
              <a:rPr lang="pt-BR" dirty="0"/>
              <a:t> a ser testada e qual a hipótese alternativa H</a:t>
            </a:r>
            <a:r>
              <a:rPr lang="pt-BR" baseline="-25000" dirty="0"/>
              <a:t>1</a:t>
            </a:r>
            <a:r>
              <a:rPr lang="pt-BR" dirty="0"/>
              <a:t>.</a:t>
            </a:r>
          </a:p>
          <a:p>
            <a:r>
              <a:rPr lang="pt-BR" dirty="0"/>
              <a:t>Passo 2: Usar a teoria estatística e as informações disponíveis para decidir qual a estatística (estimador) será usada para testar a hipótese H</a:t>
            </a:r>
            <a:r>
              <a:rPr lang="pt-BR" baseline="-25000" dirty="0"/>
              <a:t>0</a:t>
            </a:r>
            <a:r>
              <a:rPr lang="pt-BR" dirty="0"/>
              <a:t>. Obter as propriedades dessa estatística (distribuição, média, desvio-padrão).</a:t>
            </a:r>
          </a:p>
          <a:p>
            <a:r>
              <a:rPr lang="pt-BR" dirty="0"/>
              <a:t>Passo 3: Fixar a probabilidade 𝛼 de cometer o erro Tipo I e usar este valor para construir a região crítica (regra de decisão de rejeitar ou não a hipótese nula).</a:t>
            </a:r>
          </a:p>
          <a:p>
            <a:r>
              <a:rPr lang="pt-BR" dirty="0"/>
              <a:t>Passo 4: Use as observações da amostra para calcular o valor da estatística do teste.</a:t>
            </a:r>
          </a:p>
        </p:txBody>
      </p:sp>
    </p:spTree>
    <p:extLst>
      <p:ext uri="{BB962C8B-B14F-4D97-AF65-F5344CB8AC3E}">
        <p14:creationId xmlns:p14="http://schemas.microsoft.com/office/powerpoint/2010/main" val="30846293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Passos para a Construção de um </a:t>
            </a:r>
            <a:br>
              <a:rPr lang="pt-BR" dirty="0"/>
            </a:br>
            <a:r>
              <a:rPr lang="pt-BR" dirty="0"/>
              <a:t>Teste de Hipóteses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519015"/>
          </a:xfrm>
        </p:spPr>
        <p:txBody>
          <a:bodyPr>
            <a:normAutofit/>
          </a:bodyPr>
          <a:lstStyle/>
          <a:p>
            <a:r>
              <a:rPr lang="pt-BR" dirty="0"/>
              <a:t>Passo 5: Se o valor da estatística calculado com os dados da amostra não pertencer à região crítica, não rejeite H</a:t>
            </a:r>
            <a:r>
              <a:rPr lang="pt-BR" baseline="-25000" dirty="0"/>
              <a:t>0</a:t>
            </a:r>
            <a:r>
              <a:rPr lang="pt-BR" dirty="0"/>
              <a:t>; caso contrário, rejeite H</a:t>
            </a:r>
            <a:r>
              <a:rPr lang="pt-BR" baseline="-25000" dirty="0"/>
              <a:t>0</a:t>
            </a:r>
            <a:r>
              <a:rPr lang="pt-BR" dirty="0"/>
              <a:t>.</a:t>
            </a:r>
          </a:p>
          <a:p>
            <a:r>
              <a:rPr lang="pt-BR" dirty="0"/>
              <a:t>Ou seja, se o valor da estatística (Z ou t) calculado com os dados da amostra retirada da população não pertencer à região crítica estabelecida pelo nível de significância, não rejeitamos a hipótese nula. Se pertencer, rejeitamos a hipótese nula.</a:t>
            </a:r>
          </a:p>
          <a:p>
            <a:r>
              <a:rPr lang="pt-BR" dirty="0"/>
              <a:t>Obs.: Devemos tomar como H</a:t>
            </a:r>
            <a:r>
              <a:rPr lang="pt-BR" baseline="-25000" dirty="0"/>
              <a:t>0</a:t>
            </a:r>
            <a:r>
              <a:rPr lang="pt-BR" dirty="0"/>
              <a:t> a hipótese que, rejeitada, conduza a um erro tipo I mais importante de evitar.</a:t>
            </a:r>
          </a:p>
        </p:txBody>
      </p:sp>
    </p:spTree>
    <p:extLst>
      <p:ext uri="{BB962C8B-B14F-4D97-AF65-F5344CB8AC3E}">
        <p14:creationId xmlns:p14="http://schemas.microsoft.com/office/powerpoint/2010/main" val="2684426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42411"/>
            <a:ext cx="9601196" cy="3765883"/>
          </a:xfrm>
        </p:spPr>
        <p:txBody>
          <a:bodyPr/>
          <a:lstStyle/>
          <a:p>
            <a:r>
              <a:rPr lang="pt-BR" dirty="0"/>
              <a:t>Um experimento para determinar se um produto A é ou não cancerígeno.</a:t>
            </a:r>
          </a:p>
          <a:p>
            <a:r>
              <a:rPr lang="pt-BR" dirty="0"/>
              <a:t>Após realizado o teste, podemos concluir se (i) A é cancerígeno ou (</a:t>
            </a:r>
            <a:r>
              <a:rPr lang="pt-BR" dirty="0" err="1"/>
              <a:t>ii</a:t>
            </a:r>
            <a:r>
              <a:rPr lang="pt-BR" dirty="0"/>
              <a:t>) A não é cancerígeno.</a:t>
            </a:r>
          </a:p>
          <a:p>
            <a:r>
              <a:rPr lang="pt-BR" dirty="0"/>
              <a:t>Cada uma dessas conclusões pode estar errada e temos os dois tipos de erros (𝛼 e 𝛽), dependendo de qual hipótese seja H</a:t>
            </a:r>
            <a:r>
              <a:rPr lang="pt-BR" baseline="-25000" dirty="0"/>
              <a:t>0</a:t>
            </a:r>
            <a:r>
              <a:rPr lang="pt-BR" dirty="0"/>
              <a:t>.</a:t>
            </a:r>
          </a:p>
          <a:p>
            <a:r>
              <a:rPr lang="pt-BR" dirty="0"/>
              <a:t>A hipótese a ser testada deve ser se H0: A é cancerígeno, pois a probabilidade de erro na rejeição desta hipótese, se ela for verdadeira, deve ser um valor muito pequeno.</a:t>
            </a:r>
          </a:p>
        </p:txBody>
      </p:sp>
    </p:spTree>
    <p:extLst>
      <p:ext uri="{BB962C8B-B14F-4D97-AF65-F5344CB8AC3E}">
        <p14:creationId xmlns:p14="http://schemas.microsoft.com/office/powerpoint/2010/main" val="2375236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Probabilidade de significância 𝜶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90537"/>
            <a:ext cx="9601196" cy="3633537"/>
          </a:xfrm>
        </p:spPr>
        <p:txBody>
          <a:bodyPr/>
          <a:lstStyle/>
          <a:p>
            <a:r>
              <a:rPr lang="pt-BR" dirty="0"/>
              <a:t>O método de construção de um teste de hipótese parte da fixação do nível de significância 𝛼.</a:t>
            </a:r>
          </a:p>
          <a:p>
            <a:r>
              <a:rPr lang="pt-BR" dirty="0"/>
              <a:t>Opção 1: Fixar 𝛼 e concluir se H</a:t>
            </a:r>
            <a:r>
              <a:rPr lang="pt-BR" baseline="-25000" dirty="0"/>
              <a:t>0</a:t>
            </a:r>
            <a:r>
              <a:rPr lang="pt-BR" dirty="0"/>
              <a:t> é ou não rejeitada (teste de nível de significância fixo).</a:t>
            </a:r>
          </a:p>
          <a:p>
            <a:r>
              <a:rPr lang="pt-BR" dirty="0"/>
              <a:t>Uma maneira de reportar os resultados de um teste de hipóteses é estabelecer que a hipótese nula foi ou não foi rejeitada com um valor especificado de 𝛼, ou nível de significância.</a:t>
            </a:r>
          </a:p>
          <a:p>
            <a:r>
              <a:rPr lang="pt-BR" dirty="0"/>
              <a:t>Isso é chamado de teste de nível de significância fixo.</a:t>
            </a:r>
          </a:p>
        </p:txBody>
      </p:sp>
    </p:spTree>
    <p:extLst>
      <p:ext uri="{BB962C8B-B14F-4D97-AF65-F5344CB8AC3E}">
        <p14:creationId xmlns:p14="http://schemas.microsoft.com/office/powerpoint/2010/main" val="1041137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4873" y="982132"/>
            <a:ext cx="10002251" cy="1303867"/>
          </a:xfrm>
        </p:spPr>
        <p:txBody>
          <a:bodyPr>
            <a:normAutofit fontScale="90000"/>
          </a:bodyPr>
          <a:lstStyle/>
          <a:p>
            <a:r>
              <a:rPr lang="pt-BR" dirty="0"/>
              <a:t>Desvantagens da Probabilidade de significância 𝜶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663394"/>
          </a:xfrm>
        </p:spPr>
        <p:txBody>
          <a:bodyPr/>
          <a:lstStyle/>
          <a:p>
            <a:r>
              <a:rPr lang="pt-BR" dirty="0"/>
              <a:t>Considere que a hipótese H</a:t>
            </a:r>
            <a:r>
              <a:rPr lang="pt-BR" baseline="-25000" dirty="0"/>
              <a:t>0</a:t>
            </a:r>
            <a:r>
              <a:rPr lang="pt-BR" dirty="0"/>
              <a:t> seja rejeitada com um nível de significância de 0,05. </a:t>
            </a:r>
          </a:p>
          <a:p>
            <a:r>
              <a:rPr lang="pt-BR" dirty="0"/>
              <a:t>Essa forma de conclusão é inadequada, porque ela não dá ideia, a quem vai tomar a decisão, a respeito de se o valor calculado da estatística de teste estava apenas nas proximidades da região de rejeição ou se estava muito longe dessa região.</a:t>
            </a:r>
          </a:p>
          <a:p>
            <a:r>
              <a:rPr lang="pt-BR" dirty="0"/>
              <a:t>Por isso, a abordagem do p-valor tem sido largamente adotada.</a:t>
            </a:r>
          </a:p>
        </p:txBody>
      </p:sp>
    </p:spTree>
    <p:extLst>
      <p:ext uri="{BB962C8B-B14F-4D97-AF65-F5344CB8AC3E}">
        <p14:creationId xmlns:p14="http://schemas.microsoft.com/office/powerpoint/2010/main" val="17909018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Procedimento Alternativo para um </a:t>
            </a:r>
            <a:br>
              <a:rPr lang="pt-BR" dirty="0"/>
            </a:br>
            <a:r>
              <a:rPr lang="pt-BR" dirty="0"/>
              <a:t>Teste de Hipótese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Existe um caminho mais rápido para concluirmos a respeito da hipótese testada. </a:t>
            </a:r>
          </a:p>
          <a:p>
            <a:r>
              <a:rPr lang="pt-BR" dirty="0"/>
              <a:t>Ao invés da construção de uma região crítica procedemos direto para o P-valor.</a:t>
            </a:r>
          </a:p>
          <a:p>
            <a:r>
              <a:rPr lang="pt-BR" dirty="0"/>
              <a:t>O P-valor é uma estatística muito utilizada para sintetizar o resultado de um teste de hipóteses. </a:t>
            </a:r>
          </a:p>
          <a:p>
            <a:r>
              <a:rPr lang="pt-BR" dirty="0"/>
              <a:t>Formalmente, é definido como a probabilidade de se obter uma estatística de teste igual ou mais extrema quanto aquela observada em uma amostra, assumindo verdadeira a hipótese nula.</a:t>
            </a:r>
          </a:p>
        </p:txBody>
      </p:sp>
    </p:spTree>
    <p:extLst>
      <p:ext uri="{BB962C8B-B14F-4D97-AF65-F5344CB8AC3E}">
        <p14:creationId xmlns:p14="http://schemas.microsoft.com/office/powerpoint/2010/main" val="4572188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Passos para o Procedimento Alternativo </a:t>
            </a:r>
            <a:br>
              <a:rPr lang="pt-BR" dirty="0"/>
            </a:br>
            <a:r>
              <a:rPr lang="pt-BR" dirty="0"/>
              <a:t>do Teste de Hipótese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506984"/>
          </a:xfrm>
        </p:spPr>
        <p:txBody>
          <a:bodyPr/>
          <a:lstStyle/>
          <a:p>
            <a:r>
              <a:rPr lang="pt-BR" dirty="0"/>
              <a:t>Calcular a probabilidade da estatística assumir um valor tão extremo como o observado, quando H</a:t>
            </a:r>
            <a:r>
              <a:rPr lang="pt-BR" baseline="-25000" dirty="0"/>
              <a:t>0</a:t>
            </a:r>
            <a:r>
              <a:rPr lang="pt-BR" dirty="0"/>
              <a:t> é verdadeira (p-valor).</a:t>
            </a:r>
          </a:p>
          <a:p>
            <a:r>
              <a:rPr lang="pt-BR" dirty="0"/>
              <a:t>O p-valor é a probabilidade de que a estatística de teste assumirá um valor que é, no mínimo, tão extremo quanto o valor observado da estatística quando a hipótese nula for verdadeira. </a:t>
            </a:r>
          </a:p>
          <a:p>
            <a:r>
              <a:rPr lang="pt-BR" dirty="0"/>
              <a:t>Assim, o p-valor carrega muita informação sobre o peso da evidência contra H</a:t>
            </a:r>
            <a:r>
              <a:rPr lang="pt-BR" baseline="-25000" dirty="0"/>
              <a:t>0</a:t>
            </a:r>
            <a:r>
              <a:rPr lang="pt-BR" dirty="0"/>
              <a:t>; logo, quem for tomar a decisão pode tirar uma conclusão com qualquer nível especificado de significância.</a:t>
            </a:r>
          </a:p>
        </p:txBody>
      </p:sp>
    </p:spTree>
    <p:extLst>
      <p:ext uri="{BB962C8B-B14F-4D97-AF65-F5344CB8AC3E}">
        <p14:creationId xmlns:p14="http://schemas.microsoft.com/office/powerpoint/2010/main" val="54236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Passos para o Procedimento Alternativo </a:t>
            </a:r>
            <a:br>
              <a:rPr lang="pt-BR" dirty="0"/>
            </a:br>
            <a:r>
              <a:rPr lang="pt-BR" dirty="0"/>
              <a:t>do Teste de Hipótese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06317"/>
            <a:ext cx="9601196" cy="3801978"/>
          </a:xfrm>
        </p:spPr>
        <p:txBody>
          <a:bodyPr>
            <a:normAutofit lnSpcReduction="10000"/>
          </a:bodyPr>
          <a:lstStyle/>
          <a:p>
            <a:r>
              <a:rPr lang="pt-BR" dirty="0"/>
              <a:t>Denotamos 𝛼̂ como a probabilidade de significância ou nível descrito ou o p-valor do teste. </a:t>
            </a:r>
          </a:p>
          <a:p>
            <a:r>
              <a:rPr lang="pt-BR" dirty="0"/>
              <a:t>Os passos são muito parecidos aos já apresentados; a principal diferença está em não construir a região crítica. </a:t>
            </a:r>
          </a:p>
          <a:p>
            <a:r>
              <a:rPr lang="pt-BR" dirty="0"/>
              <a:t>O que se faz é indicar a probabilidade de ocorrer valores da estatística mais extremos que o observado, sob a hipótese de H</a:t>
            </a:r>
            <a:r>
              <a:rPr lang="pt-BR" baseline="-25000" dirty="0"/>
              <a:t>0</a:t>
            </a:r>
            <a:r>
              <a:rPr lang="pt-BR" dirty="0"/>
              <a:t> ser verdadeira.</a:t>
            </a:r>
          </a:p>
          <a:p>
            <a:r>
              <a:rPr lang="pt-BR" dirty="0"/>
              <a:t>O p-valor fornece uma medida da credibilidade da hipótese nula.</a:t>
            </a:r>
          </a:p>
          <a:p>
            <a:r>
              <a:rPr lang="pt-BR" dirty="0"/>
              <a:t>Especificamente, ele é o risco de você tomar uma decisão incorreta ao rejeitar a hipótese nula H</a:t>
            </a:r>
            <a:r>
              <a:rPr lang="pt-BR" baseline="-25000" dirty="0"/>
              <a:t>0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10825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Passos para o Procedimento Alternativo </a:t>
            </a:r>
            <a:br>
              <a:rPr lang="pt-BR" dirty="0"/>
            </a:br>
            <a:r>
              <a:rPr lang="pt-BR" dirty="0"/>
              <a:t>do Teste de Hipótese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430379"/>
            <a:ext cx="9601196" cy="3777916"/>
          </a:xfrm>
        </p:spPr>
        <p:txBody>
          <a:bodyPr>
            <a:normAutofit lnSpcReduction="10000"/>
          </a:bodyPr>
          <a:lstStyle/>
          <a:p>
            <a:r>
              <a:rPr lang="pt-BR" dirty="0"/>
              <a:t>Se indicarmos o p-valor por 𝛼̂, rejeitaremos H</a:t>
            </a:r>
            <a:r>
              <a:rPr lang="pt-BR" baseline="-25000" dirty="0"/>
              <a:t>0</a:t>
            </a:r>
            <a:r>
              <a:rPr lang="pt-BR" dirty="0"/>
              <a:t> para aqueles níveis de significância 𝛼 maiores que 𝛼̂. </a:t>
            </a:r>
          </a:p>
          <a:p>
            <a:r>
              <a:rPr lang="pt-BR" dirty="0"/>
              <a:t>Por exemplo, se 𝛼̂=0,09, rejeitaremos H</a:t>
            </a:r>
            <a:r>
              <a:rPr lang="pt-BR" baseline="-25000" dirty="0"/>
              <a:t>0</a:t>
            </a:r>
            <a:r>
              <a:rPr lang="pt-BR" dirty="0"/>
              <a:t> se 𝛼=0,10, mas não rejeitaremos se 𝛼=0,05 ou 𝛼=0,01. </a:t>
            </a:r>
          </a:p>
          <a:p>
            <a:r>
              <a:rPr lang="pt-BR" dirty="0"/>
              <a:t>Então, se o nível descritivo for muito pequeno, há evidências de que a hipótese não seja válida.</a:t>
            </a:r>
          </a:p>
          <a:p>
            <a:r>
              <a:rPr lang="pt-BR" dirty="0"/>
              <a:t>Uma vez calculado o p-valor, tipicamente o comparamos a um nível de significância pré-definido usado para tomar decisão (geralmente, esse valor pré-definido é 0,05).</a:t>
            </a:r>
          </a:p>
        </p:txBody>
      </p:sp>
    </p:spTree>
    <p:extLst>
      <p:ext uri="{BB962C8B-B14F-4D97-AF65-F5344CB8AC3E}">
        <p14:creationId xmlns:p14="http://schemas.microsoft.com/office/powerpoint/2010/main" val="18938321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Passos para o Procedimento Alternativo </a:t>
            </a:r>
            <a:br>
              <a:rPr lang="pt-BR" dirty="0"/>
            </a:br>
            <a:r>
              <a:rPr lang="pt-BR" dirty="0"/>
              <a:t>do Teste de Hipótese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0" y="2556932"/>
            <a:ext cx="9601197" cy="3318936"/>
          </a:xfrm>
        </p:spPr>
        <p:txBody>
          <a:bodyPr/>
          <a:lstStyle/>
          <a:p>
            <a:r>
              <a:rPr lang="pt-BR" dirty="0"/>
              <a:t>Na apresentação de resultados e conclusões é prática padrão reportar o p-valor observado.</a:t>
            </a:r>
          </a:p>
          <a:p>
            <a:r>
              <a:rPr lang="pt-BR" dirty="0"/>
              <a:t>Juntamente com a decisão que é feita em relação à hipótese nula.</a:t>
            </a:r>
          </a:p>
        </p:txBody>
      </p:sp>
    </p:spTree>
    <p:extLst>
      <p:ext uri="{BB962C8B-B14F-4D97-AF65-F5344CB8AC3E}">
        <p14:creationId xmlns:p14="http://schemas.microsoft.com/office/powerpoint/2010/main" val="3178244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Cálculos da estatística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Calculamos a estatística de teste utilizando as estatísticas de Teste Comuns: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Estatística Z: Quando a população segue uma distribuição normal ou n &gt; 30 e o σ desvio padrão é conhecido, sendo z a distância da média em relação ao desvio padrão da média.</a:t>
            </a:r>
          </a:p>
          <a:p>
            <a:endParaRPr lang="pt-BR" dirty="0"/>
          </a:p>
          <a:p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 rotWithShape="1">
          <a:blip r:embed="rId2"/>
          <a:srcRect t="9033" b="5619"/>
          <a:stretch/>
        </p:blipFill>
        <p:spPr>
          <a:xfrm>
            <a:off x="5110410" y="4230270"/>
            <a:ext cx="3901242" cy="150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6040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Cálculos da estatística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393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Estatística t:. Quando a população segue uma distribuição normal ou n &lt; 30 e o desvio padrão é σ desconhecido.</a:t>
            </a:r>
          </a:p>
          <a:p>
            <a:pPr>
              <a:buFont typeface="Wingdings" panose="05000000000000000000" pitchFamily="2" charset="2"/>
              <a:buChar char="ü"/>
            </a:pPr>
            <a:endParaRPr lang="pt-BR" dirty="0"/>
          </a:p>
          <a:p>
            <a:pPr>
              <a:buFont typeface="Wingdings" panose="05000000000000000000" pitchFamily="2" charset="2"/>
              <a:buChar char="ü"/>
            </a:pPr>
            <a:r>
              <a:rPr lang="pt-BR" dirty="0"/>
              <a:t>Onde: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pt-BR" dirty="0"/>
          </a:p>
          <a:p>
            <a:endParaRPr lang="pt-BR" dirty="0"/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7884" y="3019928"/>
            <a:ext cx="3141067" cy="1537118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9224" y="4557046"/>
            <a:ext cx="4644837" cy="1565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0621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Hipóteses unilaterais e bilaterais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295401" y="2556932"/>
            <a:ext cx="9601196" cy="3723552"/>
          </a:xfrm>
        </p:spPr>
        <p:txBody>
          <a:bodyPr>
            <a:normAutofit fontScale="92500"/>
          </a:bodyPr>
          <a:lstStyle/>
          <a:p>
            <a:r>
              <a:rPr lang="pt-BR" dirty="0"/>
              <a:t>Na construção de hipóteses, sempre vamos estabelecer a hipótese nula como uma igualdade, de forma que a probabilidade do Erro Tipo I, 𝛼, pode ser controlada em um valor específico.</a:t>
            </a:r>
          </a:p>
          <a:p>
            <a:r>
              <a:rPr lang="pt-BR" dirty="0"/>
              <a:t>Já a hipótese alternativa pode ser tanto unilateral como bilateral, dependendo da conclusão a ser retirada se H0 é rejeitada.</a:t>
            </a:r>
          </a:p>
          <a:p>
            <a:r>
              <a:rPr lang="pt-BR" dirty="0"/>
              <a:t>Se o objetivo é fazer alegações como “maior que”, “menor que”, “superior a”, “excede”, “no mínimo”, e assim por diante, uma alternativa unilateral é apropriada.</a:t>
            </a:r>
          </a:p>
          <a:p>
            <a:r>
              <a:rPr lang="pt-BR" dirty="0"/>
              <a:t>Se nenhuma direção é implicada pela alegação, ou tivermos “diferente de”, “não igual a”, uma alternativa bilateral deve ser usada.</a:t>
            </a:r>
          </a:p>
        </p:txBody>
      </p:sp>
    </p:spTree>
    <p:extLst>
      <p:ext uri="{BB962C8B-B14F-4D97-AF65-F5344CB8AC3E}">
        <p14:creationId xmlns:p14="http://schemas.microsoft.com/office/powerpoint/2010/main" val="3042609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Hipóteses unilaterais e bilaterais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Resumindo:</a:t>
            </a:r>
          </a:p>
          <a:p>
            <a:r>
              <a:rPr lang="pt-BR" dirty="0"/>
              <a:t>unilateral inferior, se possuir um sinal de menor;</a:t>
            </a:r>
          </a:p>
          <a:p>
            <a:r>
              <a:rPr lang="pt-BR" dirty="0"/>
              <a:t>unilateral superior, se possuir um sinal de maior;</a:t>
            </a:r>
          </a:p>
          <a:p>
            <a:r>
              <a:rPr lang="pt-BR" dirty="0"/>
              <a:t>bilateral, se possuir um sinal de diferente.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02712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Um preparado farmacêutico com o objetivo de reduzir dores de cabeça, foi administrado a 20 mulheres durante seis semanas, tendo sido registada variação de peso.</a:t>
            </a:r>
          </a:p>
          <a:p>
            <a:r>
              <a:rPr lang="pt-BR" dirty="0"/>
              <a:t>Sendo H0: µ = 0 kg (a média de variação de peso na população é zero), podemos considerar as hipóteses alternativas:</a:t>
            </a:r>
          </a:p>
          <a:p>
            <a:r>
              <a:rPr lang="pt-BR" dirty="0"/>
              <a:t>H1</a:t>
            </a:r>
            <a:r>
              <a:rPr lang="pt-BR" baseline="-25000" dirty="0"/>
              <a:t>1</a:t>
            </a:r>
            <a:r>
              <a:rPr lang="pt-BR" dirty="0"/>
              <a:t>: µ &gt; 0, unilateral superior.</a:t>
            </a:r>
          </a:p>
          <a:p>
            <a:r>
              <a:rPr lang="pt-BR" dirty="0"/>
              <a:t>H1</a:t>
            </a:r>
            <a:r>
              <a:rPr lang="pt-BR" baseline="-25000" dirty="0"/>
              <a:t>2</a:t>
            </a:r>
            <a:r>
              <a:rPr lang="pt-BR" dirty="0"/>
              <a:t>: µ &lt; 0, unilateral inferior.</a:t>
            </a:r>
          </a:p>
          <a:p>
            <a:r>
              <a:rPr lang="pt-BR" dirty="0"/>
              <a:t>H1</a:t>
            </a:r>
            <a:r>
              <a:rPr lang="pt-BR" baseline="-25000" dirty="0"/>
              <a:t>3</a:t>
            </a:r>
            <a:r>
              <a:rPr lang="pt-BR" dirty="0"/>
              <a:t> : µ 6= 0, bilateral.</a:t>
            </a:r>
          </a:p>
        </p:txBody>
      </p:sp>
    </p:spTree>
    <p:extLst>
      <p:ext uri="{BB962C8B-B14F-4D97-AF65-F5344CB8AC3E}">
        <p14:creationId xmlns:p14="http://schemas.microsoft.com/office/powerpoint/2010/main" val="123518283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2370</TotalTime>
  <Words>1901</Words>
  <Application>Microsoft Office PowerPoint</Application>
  <PresentationFormat>Widescreen</PresentationFormat>
  <Paragraphs>111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9" baseType="lpstr">
      <vt:lpstr>Arial</vt:lpstr>
      <vt:lpstr>Calibri</vt:lpstr>
      <vt:lpstr>Garamond</vt:lpstr>
      <vt:lpstr>Wingdings</vt:lpstr>
      <vt:lpstr>Orgânico</vt:lpstr>
      <vt:lpstr>Estatística Para Computação  Teste de Hipóteses Aula 09 </vt:lpstr>
      <vt:lpstr> Conceito sobre Teste de Hipóteses</vt:lpstr>
      <vt:lpstr>Conceitos de Hipóteses</vt:lpstr>
      <vt:lpstr>Construção de um Teste de Hipóteses</vt:lpstr>
      <vt:lpstr>Procedimento Geral do Teste de Hipóteses</vt:lpstr>
      <vt:lpstr>Procedimento Geral do Teste de Hipóteses</vt:lpstr>
      <vt:lpstr>Objetivo do Teste de Hipótese </vt:lpstr>
      <vt:lpstr>Erro Tipo I</vt:lpstr>
      <vt:lpstr>Erro Tipo II</vt:lpstr>
      <vt:lpstr>Passos para a Construção de um  Teste de Hipóteses</vt:lpstr>
      <vt:lpstr>Passos para a Construção de um  Teste de Hipóteses</vt:lpstr>
      <vt:lpstr>Exemplo</vt:lpstr>
      <vt:lpstr>Probabilidade de significância 𝜶</vt:lpstr>
      <vt:lpstr>Desvantagens da Probabilidade de significância 𝜶</vt:lpstr>
      <vt:lpstr>Procedimento Alternativo para um  Teste de Hipótese</vt:lpstr>
      <vt:lpstr>Passos para o Procedimento Alternativo  do Teste de Hipótese</vt:lpstr>
      <vt:lpstr>Passos para o Procedimento Alternativo  do Teste de Hipótese</vt:lpstr>
      <vt:lpstr>Passos para o Procedimento Alternativo  do Teste de Hipótese</vt:lpstr>
      <vt:lpstr>Passos para o Procedimento Alternativo  do Teste de Hipótese</vt:lpstr>
      <vt:lpstr>Cálculos da estatística</vt:lpstr>
      <vt:lpstr>Cálculos da estatística</vt:lpstr>
      <vt:lpstr>Hipóteses unilaterais e bilaterais </vt:lpstr>
      <vt:lpstr>Hipóteses unilaterais e bilaterais </vt:lpstr>
      <vt:lpstr>Exemplo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Disciplina Princípios de Engenharia</dc:title>
  <dc:creator>Cahue Sbrana</dc:creator>
  <cp:lastModifiedBy>CAHUE SBRANA</cp:lastModifiedBy>
  <cp:revision>700</cp:revision>
  <dcterms:created xsi:type="dcterms:W3CDTF">2016-01-25T19:09:02Z</dcterms:created>
  <dcterms:modified xsi:type="dcterms:W3CDTF">2025-09-13T12:56:19Z</dcterms:modified>
</cp:coreProperties>
</file>