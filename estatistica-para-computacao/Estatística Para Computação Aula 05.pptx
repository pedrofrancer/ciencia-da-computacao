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5"/>
  </p:notesMasterIdLst>
  <p:sldIdLst>
    <p:sldId id="256" r:id="rId2"/>
    <p:sldId id="306" r:id="rId3"/>
    <p:sldId id="308" r:id="rId4"/>
    <p:sldId id="309" r:id="rId5"/>
    <p:sldId id="311" r:id="rId6"/>
    <p:sldId id="257" r:id="rId7"/>
    <p:sldId id="315" r:id="rId8"/>
    <p:sldId id="258" r:id="rId9"/>
    <p:sldId id="261" r:id="rId10"/>
    <p:sldId id="310" r:id="rId11"/>
    <p:sldId id="312" r:id="rId12"/>
    <p:sldId id="262" r:id="rId13"/>
    <p:sldId id="263" r:id="rId14"/>
    <p:sldId id="313" r:id="rId15"/>
    <p:sldId id="264" r:id="rId16"/>
    <p:sldId id="259" r:id="rId17"/>
    <p:sldId id="314" r:id="rId18"/>
    <p:sldId id="260" r:id="rId19"/>
    <p:sldId id="271" r:id="rId20"/>
    <p:sldId id="266" r:id="rId21"/>
    <p:sldId id="265" r:id="rId22"/>
    <p:sldId id="267" r:id="rId23"/>
    <p:sldId id="268" r:id="rId24"/>
    <p:sldId id="269" r:id="rId25"/>
    <p:sldId id="270" r:id="rId26"/>
    <p:sldId id="274" r:id="rId27"/>
    <p:sldId id="272" r:id="rId28"/>
    <p:sldId id="273" r:id="rId29"/>
    <p:sldId id="307" r:id="rId30"/>
    <p:sldId id="319" r:id="rId31"/>
    <p:sldId id="318" r:id="rId32"/>
    <p:sldId id="320" r:id="rId33"/>
    <p:sldId id="321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F6E0CE-FF79-421F-98AA-B00047F169A1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21094-2F7D-4985-A9B0-7A020E3DC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856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021094-2F7D-4985-A9B0-7A020E3DC37A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373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690216"/>
          </a:xfrm>
        </p:spPr>
        <p:txBody>
          <a:bodyPr/>
          <a:lstStyle/>
          <a:p>
            <a:r>
              <a:rPr lang="pt-BR" sz="4800" dirty="0">
                <a:latin typeface="Arial" panose="020B0604020202020204" pitchFamily="34" charset="0"/>
                <a:cs typeface="Arial" panose="020B0604020202020204" pitchFamily="34" charset="0"/>
              </a:rPr>
              <a:t>Estatística Para Computação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7495310" y="4969043"/>
            <a:ext cx="235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Prof. Dr. Cahue Sbrana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065516" y="4207043"/>
            <a:ext cx="2069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Aula 05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93483" y="3631701"/>
            <a:ext cx="48050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dirty="0"/>
              <a:t>Distribuição Normal (Gaussiana)</a:t>
            </a:r>
          </a:p>
        </p:txBody>
      </p:sp>
    </p:spTree>
    <p:extLst>
      <p:ext uri="{BB962C8B-B14F-4D97-AF65-F5344CB8AC3E}">
        <p14:creationId xmlns:p14="http://schemas.microsoft.com/office/powerpoint/2010/main" val="2294984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BB08B-7FFC-4E3B-CD9B-40E1BFB4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2C6220-16A0-4B31-9FCD-ACDF1A654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Distribuição Normal (Gaussiana)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B529E8-4A2C-9BB1-121E-ABF33B686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927" y="2424543"/>
            <a:ext cx="10016835" cy="389312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A distribuição normal, ou Gaussiana, é uma distribuição de probabilidade contínua que descreve dados simétricos, com um formato característico de sino. </a:t>
            </a:r>
          </a:p>
          <a:p>
            <a:pPr algn="just"/>
            <a:r>
              <a:rPr lang="pt-BR" dirty="0"/>
              <a:t>É definida por dois parâmetros: a média (que determina o centro) e o desvio-padrão (que controla a largura da curva). </a:t>
            </a:r>
          </a:p>
          <a:p>
            <a:pPr algn="just"/>
            <a:r>
              <a:rPr lang="pt-BR" dirty="0"/>
              <a:t>Na distribuição normal, a média, a mediana e a moda são iguais e localizadas no centro da distribuição, e o comportamento da distribuição é simétrico em relação a esses valores. </a:t>
            </a:r>
          </a:p>
          <a:p>
            <a:pPr algn="just"/>
            <a:r>
              <a:rPr lang="pt-BR" dirty="0"/>
              <a:t>A distribuição normal é fundamental na estatística e na análise de dados, permitindo-nos fazer previsões e inferências sobre a probabilidade de ocorrência de certos valores em um conjunto de dados.</a:t>
            </a:r>
          </a:p>
        </p:txBody>
      </p:sp>
    </p:spTree>
    <p:extLst>
      <p:ext uri="{BB962C8B-B14F-4D97-AF65-F5344CB8AC3E}">
        <p14:creationId xmlns:p14="http://schemas.microsoft.com/office/powerpoint/2010/main" val="1305813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ECF56-AE3E-C27A-0485-8D60ADC4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8EA0D0-DC04-EBD8-9946-042D4DA6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Principais Características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3760D8-202A-4A14-9D1C-6FE1FAA04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b="1" dirty="0"/>
              <a:t>Formato de sino: </a:t>
            </a:r>
            <a:r>
              <a:rPr lang="pt-BR" dirty="0"/>
              <a:t>A curva é simétrica e tem um pico no centro, diminuindo gradualmente em ambas as direções, formando uma curva em forma de sino. </a:t>
            </a:r>
          </a:p>
          <a:p>
            <a:pPr algn="just"/>
            <a:r>
              <a:rPr lang="pt-BR" b="1" dirty="0"/>
              <a:t>Média, mediana e moda: </a:t>
            </a:r>
            <a:r>
              <a:rPr lang="pt-BR" dirty="0"/>
              <a:t>Essas três medidas centrais coincidem no centro da distribuição. </a:t>
            </a:r>
          </a:p>
          <a:p>
            <a:pPr algn="just"/>
            <a:r>
              <a:rPr lang="pt-BR" b="1" dirty="0"/>
              <a:t>Simetria: </a:t>
            </a:r>
            <a:r>
              <a:rPr lang="pt-BR" dirty="0"/>
              <a:t>A distribuição é perfeitamente simétrica em torno da média. </a:t>
            </a:r>
          </a:p>
          <a:p>
            <a:pPr algn="just"/>
            <a:r>
              <a:rPr lang="pt-BR" b="1" dirty="0"/>
              <a:t>Desvio-padrão: </a:t>
            </a:r>
            <a:r>
              <a:rPr lang="pt-BR" dirty="0"/>
              <a:t>Controla a dispersão ou "largura" da curva. Um desvio-padrão maior resulta numa curva mais achatada, enquanto um desvio-padrão menor resulta numa curva mais estreita. </a:t>
            </a:r>
          </a:p>
          <a:p>
            <a:pPr algn="just"/>
            <a:r>
              <a:rPr lang="pt-BR" b="1" dirty="0"/>
              <a:t>Infinita: </a:t>
            </a:r>
            <a:r>
              <a:rPr lang="pt-BR" dirty="0"/>
              <a:t>A distribuição se estende ao infinito em ambas as direções, mas a probabilidade de encontrar valores muito distantes da média é extremamente baixa. </a:t>
            </a:r>
          </a:p>
        </p:txBody>
      </p:sp>
    </p:spTree>
    <p:extLst>
      <p:ext uri="{BB962C8B-B14F-4D97-AF65-F5344CB8AC3E}">
        <p14:creationId xmlns:p14="http://schemas.microsoft.com/office/powerpoint/2010/main" val="169537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7AEC0-B68E-3662-BA4D-5E46F4175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93DC6-0365-147B-0E71-B67637FBC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Aplicações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4D7843-C2CB-8898-9390-246848E4A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b="1" dirty="0"/>
              <a:t>Modelagem de fenômenos:</a:t>
            </a:r>
          </a:p>
          <a:p>
            <a:pPr algn="just"/>
            <a:r>
              <a:rPr lang="pt-BR" dirty="0"/>
              <a:t>É usada para modelar muitos fenômenos naturais e sociais, como altura, peso, pressão sanguínea e pontuações em testes de inteligência.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b="1" dirty="0"/>
              <a:t>Base para inferência estatística:</a:t>
            </a:r>
          </a:p>
          <a:p>
            <a:pPr algn="just"/>
            <a:r>
              <a:rPr lang="pt-BR" dirty="0"/>
              <a:t>A distribuição normal é a base de muitos testes estatísticos, especialmente os chamados testes paramétricos, onde é assumido que os dados ou os resíduos seguem essa distribuição.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b="1" dirty="0"/>
              <a:t>Aproximação de outras distribuições:</a:t>
            </a:r>
          </a:p>
          <a:p>
            <a:pPr algn="just"/>
            <a:r>
              <a:rPr lang="pt-BR" dirty="0"/>
              <a:t>Pode ser usada para aproximar outras distribuições de probabilidade, como a distribuição binomial, especialmente com amostras grandes. </a:t>
            </a:r>
          </a:p>
        </p:txBody>
      </p:sp>
    </p:spTree>
    <p:extLst>
      <p:ext uri="{BB962C8B-B14F-4D97-AF65-F5344CB8AC3E}">
        <p14:creationId xmlns:p14="http://schemas.microsoft.com/office/powerpoint/2010/main" val="3617427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7C98D-D849-3099-002E-5976A0C3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A2B5B-33E9-C20A-436D-B6F356C0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Ideia Central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42B5DB-0452-1A3A-484B-2437F9E6C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A Normal modela fenômenos contínuos, simétricos e com resultados concentrados em torno de um centro. </a:t>
            </a:r>
          </a:p>
          <a:p>
            <a:pPr algn="just"/>
            <a:r>
              <a:rPr lang="pt-BR" dirty="0"/>
              <a:t>Exemplos: erros de medição, variações de tempo/latência, altura/peso, ruído de sensores.</a:t>
            </a:r>
          </a:p>
          <a:p>
            <a:pPr algn="just"/>
            <a:r>
              <a:rPr lang="pt-BR" dirty="0"/>
              <a:t>Parâmetros: média 𝜇 (localização) e desvio padrão 𝜎&gt;0 (escala).</a:t>
            </a:r>
          </a:p>
          <a:p>
            <a:pPr algn="just"/>
            <a:r>
              <a:rPr lang="pt-BR" dirty="0"/>
              <a:t>Notação: X∼N(μ,σ2).</a:t>
            </a:r>
          </a:p>
        </p:txBody>
      </p:sp>
    </p:spTree>
    <p:extLst>
      <p:ext uri="{BB962C8B-B14F-4D97-AF65-F5344CB8AC3E}">
        <p14:creationId xmlns:p14="http://schemas.microsoft.com/office/powerpoint/2010/main" val="232596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Normal de Probabilidade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0812" y="2556931"/>
            <a:ext cx="5319460" cy="3651363"/>
          </a:xfrm>
        </p:spPr>
        <p:txBody>
          <a:bodyPr>
            <a:normAutofit lnSpcReduction="10000"/>
          </a:bodyPr>
          <a:lstStyle/>
          <a:p>
            <a:r>
              <a:rPr lang="pt-BR" dirty="0"/>
              <a:t>Variável aleatória contínua.</a:t>
            </a:r>
          </a:p>
          <a:p>
            <a:r>
              <a:rPr lang="pt-BR" dirty="0"/>
              <a:t>A área total abaixo da curva deve ser 1.</a:t>
            </a:r>
          </a:p>
          <a:p>
            <a:r>
              <a:rPr lang="pt-BR" dirty="0"/>
              <a:t>Todo ponto da curva deve ter uma altura vertical maior que 0.</a:t>
            </a:r>
          </a:p>
          <a:p>
            <a:r>
              <a:rPr lang="pt-BR" dirty="0"/>
              <a:t>A área abaixo da curva é correlacionada com a probabilidade.</a:t>
            </a:r>
          </a:p>
          <a:p>
            <a:r>
              <a:rPr lang="pt-BR" dirty="0"/>
              <a:t>Onde µ é a média e </a:t>
            </a:r>
            <a:r>
              <a:rPr lang="el-GR" dirty="0"/>
              <a:t>σ</a:t>
            </a:r>
            <a:r>
              <a:rPr lang="pt-BR" dirty="0"/>
              <a:t> o desvio padrão.</a:t>
            </a:r>
          </a:p>
          <a:p>
            <a:r>
              <a:rPr lang="pt-BR" dirty="0"/>
              <a:t>É simétrica em torno da média.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946" y="2905856"/>
            <a:ext cx="5224544" cy="2580544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7558935" y="2444191"/>
            <a:ext cx="28314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/>
              <a:t>Curva de Densidade</a:t>
            </a:r>
          </a:p>
        </p:txBody>
      </p:sp>
    </p:spTree>
    <p:extLst>
      <p:ext uri="{BB962C8B-B14F-4D97-AF65-F5344CB8AC3E}">
        <p14:creationId xmlns:p14="http://schemas.microsoft.com/office/powerpoint/2010/main" val="3963559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" t="2741" r="1370" b="3089"/>
          <a:stretch>
            <a:fillRect/>
          </a:stretch>
        </p:blipFill>
        <p:spPr>
          <a:xfrm>
            <a:off x="1596000" y="656941"/>
            <a:ext cx="9000000" cy="554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04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02369" y="657274"/>
            <a:ext cx="10455442" cy="846673"/>
          </a:xfrm>
        </p:spPr>
        <p:txBody>
          <a:bodyPr>
            <a:normAutofit fontScale="90000"/>
          </a:bodyPr>
          <a:lstStyle/>
          <a:p>
            <a:r>
              <a:rPr lang="pt-BR" dirty="0"/>
              <a:t>Exemplo: Alturas de mulheres e homens adultos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18659" y="1383632"/>
            <a:ext cx="7949642" cy="483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78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337" y="632036"/>
            <a:ext cx="8097251" cy="557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93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1A829-21C7-BCCB-A408-4EB0CE66C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EC8D1E-4FCD-6F5B-659B-3FDDE23A4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Fórmula da Função Densidade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5585442-B047-F2D0-33F0-258E1E0C8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125" y="3252748"/>
            <a:ext cx="7859749" cy="116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739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00896-A4C3-CE80-F8F5-C68DF09CD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87A41-10E1-2362-9753-B5D136AB4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Propriedades Essenciais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2E80A4-3503-1EB5-F555-97254F03D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pt-BR" sz="2600" b="1" dirty="0"/>
              <a:t>Simetria</a:t>
            </a:r>
            <a:r>
              <a:rPr lang="pt-BR" sz="2600" dirty="0"/>
              <a:t> em torno de 𝜇</a:t>
            </a:r>
            <a:r>
              <a:rPr lang="el-GR" sz="2600" dirty="0"/>
              <a:t> → </a:t>
            </a:r>
            <a:r>
              <a:rPr lang="pt-BR" sz="2600" dirty="0"/>
              <a:t>média = mediana = moda.</a:t>
            </a:r>
          </a:p>
          <a:p>
            <a:pPr algn="just">
              <a:spcBef>
                <a:spcPts val="1200"/>
              </a:spcBef>
            </a:pPr>
            <a:r>
              <a:rPr lang="pt-BR" sz="2600" b="1" dirty="0"/>
              <a:t>Regra empírica </a:t>
            </a:r>
            <a:r>
              <a:rPr lang="pt-BR" sz="2600" dirty="0"/>
              <a:t>(68–95–99,7%):</a:t>
            </a:r>
          </a:p>
          <a:p>
            <a:pPr algn="just">
              <a:spcBef>
                <a:spcPts val="1200"/>
              </a:spcBef>
            </a:pPr>
            <a:r>
              <a:rPr lang="pt-BR" sz="2600" dirty="0"/>
              <a:t>~68% com [𝜇±1𝜎]</a:t>
            </a:r>
          </a:p>
          <a:p>
            <a:pPr algn="just">
              <a:spcBef>
                <a:spcPts val="1200"/>
              </a:spcBef>
            </a:pPr>
            <a:r>
              <a:rPr lang="el-GR" sz="2600" dirty="0"/>
              <a:t>~95% </a:t>
            </a:r>
            <a:r>
              <a:rPr lang="pt-BR" sz="2600" dirty="0"/>
              <a:t>com [𝜇±2𝜎]</a:t>
            </a:r>
          </a:p>
          <a:p>
            <a:pPr algn="just">
              <a:spcBef>
                <a:spcPts val="1200"/>
              </a:spcBef>
            </a:pPr>
            <a:r>
              <a:rPr lang="el-GR" sz="2600" dirty="0"/>
              <a:t>~99,7% </a:t>
            </a:r>
            <a:r>
              <a:rPr lang="pt-BR" sz="2600" dirty="0"/>
              <a:t>com [𝜇±3𝜎]</a:t>
            </a:r>
          </a:p>
        </p:txBody>
      </p:sp>
    </p:spTree>
    <p:extLst>
      <p:ext uri="{BB962C8B-B14F-4D97-AF65-F5344CB8AC3E}">
        <p14:creationId xmlns:p14="http://schemas.microsoft.com/office/powerpoint/2010/main" val="3412404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332" y="673769"/>
            <a:ext cx="9156031" cy="554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72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326" y="650688"/>
            <a:ext cx="8737878" cy="558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16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A06E6-BB9D-9726-8BCC-0C86AF1DA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C573A-F657-C6C3-0560-0BE20B7D6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Padronização (Z-score)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629024-0D79-F10E-372D-CFD27236A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A Padronização (ou Z-score) transforma valores de uma distribuição normal em uma Distribuição Normal Padrão, onde a média é 0 e o desvio padrão é 1. </a:t>
            </a:r>
          </a:p>
          <a:p>
            <a:pPr algn="just"/>
            <a:r>
              <a:rPr lang="pt-BR" dirty="0"/>
              <a:t>Um Z-score indica quantos desvios-padrão um determinado ponto de dados está da média, permitindo comparar variáveis com escalas diferentes e entender a posição de um valor dentro da sua distribuição.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309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Normal Padrão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376817"/>
            <a:ext cx="9601196" cy="3318936"/>
          </a:xfrm>
        </p:spPr>
        <p:txBody>
          <a:bodyPr/>
          <a:lstStyle/>
          <a:p>
            <a:r>
              <a:rPr lang="pt-BR" dirty="0"/>
              <a:t>A distribuição normal padrão tem média 0 e desvio padrão de 1.</a:t>
            </a:r>
          </a:p>
          <a:p>
            <a:r>
              <a:rPr lang="pt-BR" dirty="0"/>
              <a:t>Se usar escores z, você pode transformar qualquer distribuição normal numa distribuição normal padrão.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119" y="3311237"/>
            <a:ext cx="5809748" cy="293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02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Fórmula do Escore Padrão Z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Z-score é calculado usando a média e o desvio-padrão de uma distribuição.</a:t>
            </a:r>
          </a:p>
          <a:p>
            <a:r>
              <a:rPr lang="pt-BR" dirty="0"/>
              <a:t>O escore padrão ou escore z, representa o número de desvios padrão </a:t>
            </a:r>
            <a:r>
              <a:rPr lang="el-GR" dirty="0"/>
              <a:t>σ </a:t>
            </a:r>
            <a:r>
              <a:rPr lang="pt-BR" dirty="0"/>
              <a:t>que separa uma variável aleatória x da média µ.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467" y="4482476"/>
            <a:ext cx="5561063" cy="115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709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35102-BD90-199B-04AC-DDBB94B6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EFE88-7C6F-28EB-C5BD-8408A7BD9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 Interpretação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7EA160-6C70-9824-FB49-F9E0A7EC6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pt-BR" sz="2600" dirty="0"/>
              <a:t>Um Z-score positivo significa que o valor (X) está acima da média. </a:t>
            </a:r>
          </a:p>
          <a:p>
            <a:pPr algn="just">
              <a:spcBef>
                <a:spcPts val="1200"/>
              </a:spcBef>
            </a:pPr>
            <a:r>
              <a:rPr lang="pt-BR" sz="2600" dirty="0"/>
              <a:t>Um Z-score negativo indica que o valor (X) está abaixo da média. </a:t>
            </a:r>
          </a:p>
          <a:p>
            <a:pPr algn="just">
              <a:spcBef>
                <a:spcPts val="1200"/>
              </a:spcBef>
            </a:pPr>
            <a:r>
              <a:rPr lang="pt-BR" sz="2600" dirty="0"/>
              <a:t>Um Z-score próximo de zero significa que o valor (X) está próximo da média. </a:t>
            </a:r>
          </a:p>
          <a:p>
            <a:pPr algn="just">
              <a:spcBef>
                <a:spcPts val="1200"/>
              </a:spcBef>
            </a:pPr>
            <a:r>
              <a:rPr lang="pt-BR" sz="2600" dirty="0"/>
              <a:t>A magnitude do Z-score (o quão longe de zero) mostra quão incomum ou extremo é o valor.</a:t>
            </a:r>
          </a:p>
        </p:txBody>
      </p:sp>
    </p:spTree>
    <p:extLst>
      <p:ext uri="{BB962C8B-B14F-4D97-AF65-F5344CB8AC3E}">
        <p14:creationId xmlns:p14="http://schemas.microsoft.com/office/powerpoint/2010/main" val="1901038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68" y="2451145"/>
            <a:ext cx="9921072" cy="374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966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881935" cy="1303867"/>
          </a:xfrm>
        </p:spPr>
        <p:txBody>
          <a:bodyPr>
            <a:normAutofit fontScale="90000"/>
          </a:bodyPr>
          <a:lstStyle/>
          <a:p>
            <a:r>
              <a:rPr lang="pt-BR" dirty="0"/>
              <a:t>Determinar a área utilizando o valor z na tabela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011" y="2514600"/>
            <a:ext cx="9211103" cy="368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496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325" y="38100"/>
            <a:ext cx="851535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23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64026"/>
          </a:xfrm>
        </p:spPr>
        <p:txBody>
          <a:bodyPr>
            <a:normAutofit fontScale="90000"/>
          </a:bodyPr>
          <a:lstStyle/>
          <a:p>
            <a:r>
              <a:rPr lang="pt-BR" dirty="0"/>
              <a:t>Cálculo de áreas</a:t>
            </a:r>
            <a:br>
              <a:rPr lang="pt-BR" dirty="0"/>
            </a:br>
            <a:r>
              <a:rPr lang="pt-BR" dirty="0"/>
              <a:t>para z=1,27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2570" y="2478505"/>
            <a:ext cx="8177143" cy="372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85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926" y="1044901"/>
            <a:ext cx="9130637" cy="3166151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725" y="4348162"/>
            <a:ext cx="7343775" cy="904875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671009" y="5390147"/>
            <a:ext cx="5017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Qual a probabilidade de z &gt; -1,25 ?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 = 1 - 0,1056 = 0,8944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220327" y="1843146"/>
            <a:ext cx="5329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Para 1,25 na tabela temos 0,3944.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Esta área é do lado próximo ao zero.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Então deve fazer: 0,5-0,3944=0,1056</a:t>
            </a:r>
          </a:p>
        </p:txBody>
      </p:sp>
    </p:spTree>
    <p:extLst>
      <p:ext uri="{BB962C8B-B14F-4D97-AF65-F5344CB8AC3E}">
        <p14:creationId xmlns:p14="http://schemas.microsoft.com/office/powerpoint/2010/main" val="4280824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646716"/>
            <a:ext cx="9464420" cy="5581261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7288495" y="2023789"/>
            <a:ext cx="41629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maneira similar temos:</a:t>
            </a:r>
          </a:p>
          <a:p>
            <a:r>
              <a:rPr lang="pt-BR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 maior que -1,25 = 0,3944 e</a:t>
            </a:r>
          </a:p>
          <a:p>
            <a:r>
              <a:rPr lang="pt-BR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 menor que 1,17 = 0,3790</a:t>
            </a:r>
          </a:p>
          <a:p>
            <a:r>
              <a:rPr lang="pt-BR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= 0,3944 + 0,3790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4821337" y="3532949"/>
            <a:ext cx="437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468411" y="4073453"/>
            <a:ext cx="437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5538325" y="2547009"/>
            <a:ext cx="437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5197434" y="3973206"/>
            <a:ext cx="437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880117" y="3990759"/>
            <a:ext cx="437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88108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654" y="685800"/>
            <a:ext cx="8270096" cy="555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436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169" y="664608"/>
            <a:ext cx="6665494" cy="5543687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8575191" y="4195296"/>
            <a:ext cx="2205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0,5 + Tabela</a:t>
            </a:r>
          </a:p>
        </p:txBody>
      </p:sp>
    </p:spTree>
    <p:extLst>
      <p:ext uri="{BB962C8B-B14F-4D97-AF65-F5344CB8AC3E}">
        <p14:creationId xmlns:p14="http://schemas.microsoft.com/office/powerpoint/2010/main" val="4704577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59306" y="673768"/>
            <a:ext cx="9601196" cy="815734"/>
          </a:xfrm>
        </p:spPr>
        <p:txBody>
          <a:bodyPr>
            <a:normAutofit/>
          </a:bodyPr>
          <a:lstStyle/>
          <a:p>
            <a:r>
              <a:rPr lang="pt-BR" dirty="0"/>
              <a:t>Escores z para Escores brutos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34126" y="1612017"/>
            <a:ext cx="7820527" cy="4608318"/>
          </a:xfrm>
          <a:prstGeom prst="rect">
            <a:avLst/>
          </a:prstGeom>
        </p:spPr>
      </p:pic>
      <p:grpSp>
        <p:nvGrpSpPr>
          <p:cNvPr id="7" name="Grupo 6"/>
          <p:cNvGrpSpPr/>
          <p:nvPr/>
        </p:nvGrpSpPr>
        <p:grpSpPr>
          <a:xfrm>
            <a:off x="9419572" y="5130834"/>
            <a:ext cx="2090969" cy="963408"/>
            <a:chOff x="9419572" y="5130834"/>
            <a:chExt cx="2090969" cy="96340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20406" y="5130834"/>
              <a:ext cx="1690135" cy="963408"/>
            </a:xfrm>
            <a:prstGeom prst="rect">
              <a:avLst/>
            </a:prstGeom>
          </p:spPr>
        </p:pic>
        <p:sp>
          <p:nvSpPr>
            <p:cNvPr id="6" name="CaixaDeTexto 5"/>
            <p:cNvSpPr txBox="1"/>
            <p:nvPr/>
          </p:nvSpPr>
          <p:spPr>
            <a:xfrm>
              <a:off x="9419572" y="5427872"/>
              <a:ext cx="3866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 dirty="0"/>
                <a:t>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9866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1087300"/>
          </a:xfrm>
        </p:spPr>
        <p:txBody>
          <a:bodyPr/>
          <a:lstStyle/>
          <a:p>
            <a:r>
              <a:rPr lang="pt-BR" dirty="0"/>
              <a:t>Exercício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30" y="2454884"/>
            <a:ext cx="10477150" cy="181676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8462" y="4067108"/>
            <a:ext cx="3372196" cy="1359569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663" y="3993602"/>
            <a:ext cx="5561063" cy="1156786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44752" y="4912548"/>
            <a:ext cx="1733550" cy="1292961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230" y="5729259"/>
            <a:ext cx="104775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2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375" y="754554"/>
            <a:ext cx="10385278" cy="414606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2175" y="5815929"/>
            <a:ext cx="771329" cy="40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5142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8B682-5152-79AF-0BFF-F4C135F19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35586-0E08-C1B9-0C48-68531072E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Teorema do Limite Central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01316-0814-5935-78F2-FBA08C35F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A média de muitas observações independentes tende a se comportar como uma Distribuição Normal, mesmo que a Distribuição original não seja Normal. </a:t>
            </a:r>
          </a:p>
          <a:p>
            <a:pPr algn="just"/>
            <a:r>
              <a:rPr lang="pt-BR" dirty="0"/>
              <a:t>Por isso a Distribuição Normal aparece em diversos tipos de aplicações práticas onde se efetua grandes quantidades de amostras, medições, testes de ruído e de desempenho médio, entre outros.</a:t>
            </a:r>
          </a:p>
        </p:txBody>
      </p:sp>
    </p:spTree>
    <p:extLst>
      <p:ext uri="{BB962C8B-B14F-4D97-AF65-F5344CB8AC3E}">
        <p14:creationId xmlns:p14="http://schemas.microsoft.com/office/powerpoint/2010/main" val="94730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4E62C-8637-2FF2-4AD1-10D633AB7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7904C-B07D-FDB8-9B4F-3852E2037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Quando Usar as Técnicas de </a:t>
            </a:r>
            <a:br>
              <a:rPr lang="pt-BR" dirty="0"/>
            </a:br>
            <a:r>
              <a:rPr lang="pt-BR" dirty="0"/>
              <a:t>Distribuição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FDF5DF-C112-92D7-8265-C5D5B95DA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Recomenda-se utilizar quando forem encontrados cenários contendo dados contínuos, histograma em “sino”, pouca assimetria, poucas caudas longas, presença de muitas pequenas fontes de variação.</a:t>
            </a:r>
          </a:p>
          <a:p>
            <a:pPr algn="just"/>
            <a:r>
              <a:rPr lang="pt-BR" dirty="0"/>
              <a:t>Mas cuidado com dados fortemente assimétricos (tempos até evento muitas vezes são Exponenciais), caudas pesadas (outliers frequentes), limites rígidos (ex.: porcentagens perto de 0%/100%).</a:t>
            </a:r>
          </a:p>
        </p:txBody>
      </p:sp>
    </p:spTree>
    <p:extLst>
      <p:ext uri="{BB962C8B-B14F-4D97-AF65-F5344CB8AC3E}">
        <p14:creationId xmlns:p14="http://schemas.microsoft.com/office/powerpoint/2010/main" val="996534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CF8E0-543E-3C9D-AB82-79F51A490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16388-D9E6-B3E2-2940-00289EC3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Distribuição Normal no Excel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C3D8D0-D703-A5B9-A6F7-7DE37BEAB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pt-BR" b="1" dirty="0"/>
              <a:t>Densidade/Acumulada: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pt-BR" dirty="0"/>
              <a:t>=DISTR.NORM(x; média; desvio; FALSO) → densidade f(x)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pt-BR" dirty="0"/>
              <a:t>=DISTR.NORM(x; média; desvio; VERDADEIRO) → acumulada F(x)</a:t>
            </a:r>
          </a:p>
          <a:p>
            <a:pPr algn="just">
              <a:spcBef>
                <a:spcPts val="1200"/>
              </a:spcBef>
            </a:pPr>
            <a:r>
              <a:rPr lang="pt-BR" b="1" dirty="0"/>
              <a:t>Normal Padrão (z):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pt-BR" dirty="0"/>
              <a:t>=DISTR.NORM.N(z; VERDADEIRO) → </a:t>
            </a:r>
            <a:r>
              <a:rPr lang="el-GR" dirty="0"/>
              <a:t>Φ(</a:t>
            </a:r>
            <a:r>
              <a:rPr lang="pt-BR" dirty="0"/>
              <a:t>z)</a:t>
            </a:r>
          </a:p>
        </p:txBody>
      </p:sp>
    </p:spTree>
    <p:extLst>
      <p:ext uri="{BB962C8B-B14F-4D97-AF65-F5344CB8AC3E}">
        <p14:creationId xmlns:p14="http://schemas.microsoft.com/office/powerpoint/2010/main" val="23712629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D0033-B5C4-1400-4666-FAE0CCDE4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3DA3E-CBAF-BA5E-69AC-31263C69B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Distribuição Normal no Excel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25629F-4426-9851-3593-56F6EF199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pt-BR" b="1" dirty="0"/>
              <a:t>Geração de Valores Normais (simulação):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pt-BR" dirty="0"/>
              <a:t>=INV.NORM(ALEATÓRIO(); μ; σ)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93873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9F9DA-8823-30D0-B824-FAF5576CD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593D9-412D-F1B6-6B22-8C953108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de Controle Estatístico de Processos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B1D7319-F823-64CF-FB8F-D3ECDE4AA7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6262" y="2437678"/>
            <a:ext cx="6051877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9085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2444</TotalTime>
  <Words>1065</Words>
  <Application>Microsoft Office PowerPoint</Application>
  <PresentationFormat>Widescreen</PresentationFormat>
  <Paragraphs>95</Paragraphs>
  <Slides>33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8" baseType="lpstr">
      <vt:lpstr>Arial</vt:lpstr>
      <vt:lpstr>Calibri</vt:lpstr>
      <vt:lpstr>Garamond</vt:lpstr>
      <vt:lpstr>Wingdings</vt:lpstr>
      <vt:lpstr>Orgânico</vt:lpstr>
      <vt:lpstr>Estatística Para Computação</vt:lpstr>
      <vt:lpstr>Distribuição Normal (Gaussiana)</vt:lpstr>
      <vt:lpstr>Principais Características</vt:lpstr>
      <vt:lpstr>Aplicações</vt:lpstr>
      <vt:lpstr>Ideia Central</vt:lpstr>
      <vt:lpstr>Distribuição Normal de Probabilidade</vt:lpstr>
      <vt:lpstr>Apresentação do PowerPoint</vt:lpstr>
      <vt:lpstr>Exemplo: Alturas de mulheres e homens adultos</vt:lpstr>
      <vt:lpstr>Apresentação do PowerPoint</vt:lpstr>
      <vt:lpstr>Fórmula da Função Densidade</vt:lpstr>
      <vt:lpstr>Propriedades Essenciais</vt:lpstr>
      <vt:lpstr>Apresentação do PowerPoint</vt:lpstr>
      <vt:lpstr>Apresentação do PowerPoint</vt:lpstr>
      <vt:lpstr>Padronização (Z-score)</vt:lpstr>
      <vt:lpstr>Distribuição Normal Padrão</vt:lpstr>
      <vt:lpstr>Fórmula do Escore Padrão Z</vt:lpstr>
      <vt:lpstr> Interpretação</vt:lpstr>
      <vt:lpstr>Exercícios</vt:lpstr>
      <vt:lpstr>Determinar a área utilizando o valor z na tabela</vt:lpstr>
      <vt:lpstr>Apresentação do PowerPoint</vt:lpstr>
      <vt:lpstr>Cálculo de áreas para z=1,27</vt:lpstr>
      <vt:lpstr>Apresentação do PowerPoint</vt:lpstr>
      <vt:lpstr>Apresentação do PowerPoint</vt:lpstr>
      <vt:lpstr>Apresentação do PowerPoint</vt:lpstr>
      <vt:lpstr>Apresentação do PowerPoint</vt:lpstr>
      <vt:lpstr>Escores z para Escores brutos</vt:lpstr>
      <vt:lpstr>Exercício</vt:lpstr>
      <vt:lpstr>Apresentação do PowerPoint</vt:lpstr>
      <vt:lpstr>Teorema do Limite Central</vt:lpstr>
      <vt:lpstr>Quando Usar as Técnicas de  Distribuição Normal</vt:lpstr>
      <vt:lpstr>Distribuição Normal no Excel</vt:lpstr>
      <vt:lpstr>Distribuição Normal no Excel</vt:lpstr>
      <vt:lpstr>Exemplo de Controle Estatístico de Processos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Disciplina Princípios de Engenharia</dc:title>
  <dc:creator>Cahue Sbrana</dc:creator>
  <cp:lastModifiedBy>CAHUE SBRANA</cp:lastModifiedBy>
  <cp:revision>623</cp:revision>
  <dcterms:created xsi:type="dcterms:W3CDTF">2016-01-25T19:09:02Z</dcterms:created>
  <dcterms:modified xsi:type="dcterms:W3CDTF">2025-09-13T11:43:07Z</dcterms:modified>
</cp:coreProperties>
</file>