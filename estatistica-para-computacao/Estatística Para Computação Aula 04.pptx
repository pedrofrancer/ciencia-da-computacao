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1"/>
  </p:notesMasterIdLst>
  <p:sldIdLst>
    <p:sldId id="256" r:id="rId2"/>
    <p:sldId id="283" r:id="rId3"/>
    <p:sldId id="284" r:id="rId4"/>
    <p:sldId id="285" r:id="rId5"/>
    <p:sldId id="286" r:id="rId6"/>
    <p:sldId id="295" r:id="rId7"/>
    <p:sldId id="296" r:id="rId8"/>
    <p:sldId id="297" r:id="rId9"/>
    <p:sldId id="300" r:id="rId10"/>
    <p:sldId id="291" r:id="rId11"/>
    <p:sldId id="292" r:id="rId12"/>
    <p:sldId id="293" r:id="rId13"/>
    <p:sldId id="294" r:id="rId14"/>
    <p:sldId id="302" r:id="rId15"/>
    <p:sldId id="301" r:id="rId16"/>
    <p:sldId id="298" r:id="rId17"/>
    <p:sldId id="288" r:id="rId18"/>
    <p:sldId id="287" r:id="rId19"/>
    <p:sldId id="299" r:id="rId20"/>
    <p:sldId id="303" r:id="rId21"/>
    <p:sldId id="289" r:id="rId22"/>
    <p:sldId id="304" r:id="rId23"/>
    <p:sldId id="305" r:id="rId24"/>
    <p:sldId id="307" r:id="rId25"/>
    <p:sldId id="308" r:id="rId26"/>
    <p:sldId id="309" r:id="rId27"/>
    <p:sldId id="310" r:id="rId28"/>
    <p:sldId id="277" r:id="rId29"/>
    <p:sldId id="311" r:id="rId30"/>
    <p:sldId id="312" r:id="rId31"/>
    <p:sldId id="313" r:id="rId32"/>
    <p:sldId id="314" r:id="rId33"/>
    <p:sldId id="276" r:id="rId34"/>
    <p:sldId id="315" r:id="rId35"/>
    <p:sldId id="320" r:id="rId36"/>
    <p:sldId id="316" r:id="rId37"/>
    <p:sldId id="317" r:id="rId38"/>
    <p:sldId id="318" r:id="rId39"/>
    <p:sldId id="319" r:id="rId4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485" autoAdjust="0"/>
    <p:restoredTop sz="94660"/>
  </p:normalViewPr>
  <p:slideViewPr>
    <p:cSldViewPr snapToGrid="0">
      <p:cViewPr varScale="1">
        <p:scale>
          <a:sx n="69" d="100"/>
          <a:sy n="69" d="100"/>
        </p:scale>
        <p:origin x="79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F6E0CE-FF79-421F-98AA-B00047F169A1}" type="datetimeFigureOut">
              <a:rPr lang="pt-BR" smtClean="0"/>
              <a:t>04/09/2025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021094-2F7D-4985-A9B0-7A020E3DC37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748566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9/4/2025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47F38-B617-4D2F-AE0A-013F0C4D2C57}" type="datetimeFigureOut">
              <a:rPr lang="en-US" dirty="0"/>
              <a:t>9/4/2025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dirty="0"/>
              <a:t>9/4/2025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9/4/2025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9/4/2025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8" r:id="rId2"/>
    <p:sldLayoutId id="2147483651" r:id="rId3"/>
    <p:sldLayoutId id="2147483669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690216"/>
          </a:xfrm>
        </p:spPr>
        <p:txBody>
          <a:bodyPr/>
          <a:lstStyle/>
          <a:p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Estatística Para Computação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7495310" y="4969043"/>
            <a:ext cx="23585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Prof. Dr. Cahue Sbrana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5065516" y="4207043"/>
            <a:ext cx="20694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000" b="1"/>
              <a:t>Aula 04</a:t>
            </a:r>
            <a:endParaRPr lang="pt-BR" sz="2000" b="1" dirty="0"/>
          </a:p>
        </p:txBody>
      </p:sp>
      <p:sp>
        <p:nvSpPr>
          <p:cNvPr id="5" name="Retângulo 4"/>
          <p:cNvSpPr/>
          <p:nvPr/>
        </p:nvSpPr>
        <p:spPr>
          <a:xfrm>
            <a:off x="3791810" y="3684140"/>
            <a:ext cx="444782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2400" dirty="0"/>
              <a:t>Distribuições Discretas e Contínuas</a:t>
            </a:r>
          </a:p>
        </p:txBody>
      </p:sp>
    </p:spTree>
    <p:extLst>
      <p:ext uri="{BB962C8B-B14F-4D97-AF65-F5344CB8AC3E}">
        <p14:creationId xmlns:p14="http://schemas.microsoft.com/office/powerpoint/2010/main" val="22949842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Distribuição de probabilidade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983673" y="2396836"/>
            <a:ext cx="10321636" cy="3851564"/>
          </a:xfrm>
        </p:spPr>
        <p:txBody>
          <a:bodyPr>
            <a:normAutofit/>
          </a:bodyPr>
          <a:lstStyle/>
          <a:p>
            <a:pPr algn="just"/>
            <a:r>
              <a:rPr lang="pt-BR" dirty="0"/>
              <a:t>Em probabilidade, distribuições são modelos matemáticos que descrevem e relacionam a probabilidade de ocorrência de cada valor possível de uma variável aleatória. </a:t>
            </a:r>
          </a:p>
          <a:p>
            <a:pPr algn="just"/>
            <a:r>
              <a:rPr lang="pt-BR" dirty="0"/>
              <a:t>Elas ajudam a entender o comportamento de fenômenos aleatórios e podem ser classificadas como discretas, quando a variável assume valores contáveis e distintos (como o número de carros em uma família), ou contínuas, quando a variável pode assumir qualquer valor dentro de um intervalo (como o peso de uma pessoa).</a:t>
            </a:r>
          </a:p>
          <a:p>
            <a:pPr algn="just"/>
            <a:r>
              <a:rPr lang="pt-BR" dirty="0"/>
              <a:t>Descrevem o comportamento aleatório de um fenômeno.</a:t>
            </a:r>
          </a:p>
          <a:p>
            <a:pPr algn="just"/>
            <a:r>
              <a:rPr lang="pt-BR" dirty="0"/>
              <a:t>Foram impulsionados com os estudos dos jogos de azar.</a:t>
            </a:r>
          </a:p>
        </p:txBody>
      </p:sp>
    </p:spTree>
    <p:extLst>
      <p:ext uri="{BB962C8B-B14F-4D97-AF65-F5344CB8AC3E}">
        <p14:creationId xmlns:p14="http://schemas.microsoft.com/office/powerpoint/2010/main" val="29073911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Tipos de distribuições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295402" y="2394287"/>
            <a:ext cx="9601196" cy="3808997"/>
          </a:xfrm>
        </p:spPr>
        <p:txBody>
          <a:bodyPr>
            <a:noAutofit/>
          </a:bodyPr>
          <a:lstStyle/>
          <a:p>
            <a:pPr>
              <a:spcAft>
                <a:spcPts val="0"/>
              </a:spcAft>
            </a:pPr>
            <a:r>
              <a:rPr lang="pt-BR" b="1" dirty="0"/>
              <a:t>Distribuições Discretas: </a:t>
            </a:r>
            <a:r>
              <a:rPr lang="pt-BR" dirty="0"/>
              <a:t>quando a variável que está sendo medida só pode assumir certos valores, como valores inteiros, etc.</a:t>
            </a:r>
          </a:p>
          <a:p>
            <a:pPr>
              <a:spcAft>
                <a:spcPts val="0"/>
              </a:spcAft>
            </a:pPr>
            <a:endParaRPr lang="pt-BR" dirty="0"/>
          </a:p>
          <a:p>
            <a:pPr>
              <a:spcAft>
                <a:spcPts val="0"/>
              </a:spcAft>
            </a:pPr>
            <a:r>
              <a:rPr lang="pt-BR" b="1" dirty="0"/>
              <a:t>Distribuições Contínuas: </a:t>
            </a:r>
            <a:r>
              <a:rPr lang="pt-BR" dirty="0"/>
              <a:t>Quando a variável que está sendo medida é expressa em uma escala contínua, com características dimensionais.</a:t>
            </a:r>
          </a:p>
        </p:txBody>
      </p:sp>
    </p:spTree>
    <p:extLst>
      <p:ext uri="{BB962C8B-B14F-4D97-AF65-F5344CB8AC3E}">
        <p14:creationId xmlns:p14="http://schemas.microsoft.com/office/powerpoint/2010/main" val="17025890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Principais Distribuições Discretas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295401" y="2707104"/>
            <a:ext cx="9601196" cy="3168763"/>
          </a:xfrm>
        </p:spPr>
        <p:txBody>
          <a:bodyPr>
            <a:normAutofit/>
          </a:bodyPr>
          <a:lstStyle/>
          <a:p>
            <a:pPr>
              <a:spcAft>
                <a:spcPts val="0"/>
              </a:spcAft>
            </a:pPr>
            <a:r>
              <a:rPr lang="pt-BR" sz="3200" dirty="0"/>
              <a:t>Distribuição Binomial.</a:t>
            </a:r>
          </a:p>
          <a:p>
            <a:pPr>
              <a:spcAft>
                <a:spcPts val="0"/>
              </a:spcAft>
            </a:pPr>
            <a:endParaRPr lang="pt-BR" sz="3200" dirty="0"/>
          </a:p>
          <a:p>
            <a:pPr>
              <a:spcAft>
                <a:spcPts val="0"/>
              </a:spcAft>
            </a:pPr>
            <a:r>
              <a:rPr lang="pt-BR" sz="3200" dirty="0"/>
              <a:t>Distribuição de Bernoulli.</a:t>
            </a:r>
          </a:p>
          <a:p>
            <a:pPr>
              <a:spcAft>
                <a:spcPts val="0"/>
              </a:spcAft>
            </a:pPr>
            <a:endParaRPr lang="pt-BR" sz="3200" dirty="0"/>
          </a:p>
          <a:p>
            <a:pPr>
              <a:spcAft>
                <a:spcPts val="0"/>
              </a:spcAft>
            </a:pPr>
            <a:r>
              <a:rPr lang="pt-BR" sz="3200" dirty="0"/>
              <a:t>Distribuição de Poisson.</a:t>
            </a:r>
          </a:p>
        </p:txBody>
      </p:sp>
    </p:spTree>
    <p:extLst>
      <p:ext uri="{BB962C8B-B14F-4D97-AF65-F5344CB8AC3E}">
        <p14:creationId xmlns:p14="http://schemas.microsoft.com/office/powerpoint/2010/main" val="744817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Distribuição Binomial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72836" y="2466109"/>
            <a:ext cx="10487891" cy="3810000"/>
          </a:xfrm>
        </p:spPr>
        <p:txBody>
          <a:bodyPr>
            <a:normAutofit lnSpcReduction="10000"/>
          </a:bodyPr>
          <a:lstStyle/>
          <a:p>
            <a:pPr algn="just"/>
            <a:r>
              <a:rPr lang="pt-BR" dirty="0"/>
              <a:t>A distribuição binomial é um modelo estatístico que calcula a probabilidade de um determinado número de sucessos em um número fixo de tentativas independentes, onde cada tentativa tem apenas dois resultados possíveis: sucesso ou fracasso. </a:t>
            </a:r>
          </a:p>
          <a:p>
            <a:pPr algn="just"/>
            <a:r>
              <a:rPr lang="pt-BR" dirty="0"/>
              <a:t>É uma ferramenta essencial para analisar situações onde a ocorrência de um evento é claramente dividido em dois e as tentativas representadas por sucesso ou falha são independentes. </a:t>
            </a:r>
          </a:p>
          <a:p>
            <a:pPr algn="just"/>
            <a:r>
              <a:rPr lang="pt-BR" dirty="0"/>
              <a:t>Essas duas categorias são mutuamente excludentes, sendo  uma distribuição bem simples.</a:t>
            </a:r>
          </a:p>
          <a:p>
            <a:pPr algn="just"/>
            <a:r>
              <a:rPr lang="pt-BR" dirty="0"/>
              <a:t>P(sucesso) + P( falha) = 1.</a:t>
            </a:r>
          </a:p>
        </p:txBody>
      </p:sp>
    </p:spTree>
    <p:extLst>
      <p:ext uri="{BB962C8B-B14F-4D97-AF65-F5344CB8AC3E}">
        <p14:creationId xmlns:p14="http://schemas.microsoft.com/office/powerpoint/2010/main" val="23057392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8D6B9A-F0A5-DD23-31BF-A95FD46039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3127A9-1A47-AD63-532E-2A5F6F7B6D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Características da Distribuição Binomial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3EE4556-E364-D23B-25B5-865592E470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2110" y="2396836"/>
            <a:ext cx="10446326" cy="3934691"/>
          </a:xfrm>
        </p:spPr>
        <p:txBody>
          <a:bodyPr>
            <a:normAutofit fontScale="92500"/>
          </a:bodyPr>
          <a:lstStyle/>
          <a:p>
            <a:pPr algn="just"/>
            <a:r>
              <a:rPr lang="pt-BR" b="1" dirty="0"/>
              <a:t>Número fixo de tentativas: </a:t>
            </a:r>
            <a:r>
              <a:rPr lang="pt-BR" dirty="0"/>
              <a:t>A distribuição binomial é aplicada quando um experimento é realizado um número definido de vezes, como lançar uma moeda 10 vezes. </a:t>
            </a:r>
          </a:p>
          <a:p>
            <a:pPr algn="just"/>
            <a:r>
              <a:rPr lang="pt-BR" b="1" dirty="0"/>
              <a:t>Tentativas independentes: </a:t>
            </a:r>
            <a:r>
              <a:rPr lang="pt-BR" dirty="0"/>
              <a:t>O resultado de uma tentativa não influencia o resultado de outra tentativa, por exemplo, o resultado de um lançamento de moeda não afeta o resultado do próximo. </a:t>
            </a:r>
          </a:p>
          <a:p>
            <a:pPr algn="just"/>
            <a:r>
              <a:rPr lang="pt-BR" b="1" dirty="0"/>
              <a:t>Dois resultados possíveis: </a:t>
            </a:r>
            <a:r>
              <a:rPr lang="pt-BR" dirty="0"/>
              <a:t>Cada tentativa resulta em um de dois resultados: sucesso ou fracasso, como cara ou coroa em um lançamento de moeda. </a:t>
            </a:r>
          </a:p>
          <a:p>
            <a:pPr algn="just"/>
            <a:r>
              <a:rPr lang="pt-BR" b="1" dirty="0"/>
              <a:t>Probabilidade de sucesso constante: </a:t>
            </a:r>
            <a:r>
              <a:rPr lang="pt-BR" dirty="0"/>
              <a:t>A probabilidade de sucesso permanece a mesma em cada tentativa, por exemplo, a probabilidade de sair cara em um lançamento de moeda é sempre 0.5. </a:t>
            </a:r>
          </a:p>
        </p:txBody>
      </p:sp>
    </p:spTree>
    <p:extLst>
      <p:ext uri="{BB962C8B-B14F-4D97-AF65-F5344CB8AC3E}">
        <p14:creationId xmlns:p14="http://schemas.microsoft.com/office/powerpoint/2010/main" val="41293189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967093-F524-FAE8-ECF1-9B278F4722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565F97-83A2-13FD-0BA7-583ADD9329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Exemplos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2F2A926-9BC2-16D2-4A02-F215F9878F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3782" y="2466109"/>
            <a:ext cx="10016835" cy="3810000"/>
          </a:xfrm>
        </p:spPr>
        <p:txBody>
          <a:bodyPr>
            <a:normAutofit/>
          </a:bodyPr>
          <a:lstStyle/>
          <a:p>
            <a:pPr algn="just"/>
            <a:r>
              <a:rPr lang="pt-BR" b="1" dirty="0"/>
              <a:t>Lançamento de moedas: </a:t>
            </a:r>
            <a:r>
              <a:rPr lang="pt-BR" dirty="0"/>
              <a:t>Calcular a probabilidade de obter exatamente 7 caras em 10 lançamentos de uma moeda justa. </a:t>
            </a:r>
          </a:p>
          <a:p>
            <a:pPr algn="just"/>
            <a:r>
              <a:rPr lang="pt-BR" b="1" dirty="0"/>
              <a:t>Controle de qualidade: </a:t>
            </a:r>
            <a:r>
              <a:rPr lang="pt-BR" dirty="0"/>
              <a:t>Calcular a probabilidade de encontrar 3 peças defeituosas em um lote de 20 peças, sabendo que a probabilidade de uma peça ser defeituosa é de 5%. </a:t>
            </a:r>
          </a:p>
          <a:p>
            <a:pPr algn="just"/>
            <a:r>
              <a:rPr lang="pt-BR" b="1" dirty="0"/>
              <a:t>Pesquisas de mercado: </a:t>
            </a:r>
            <a:r>
              <a:rPr lang="pt-BR" dirty="0"/>
              <a:t>Calcular a probabilidade de 80% dos entrevistados preferirem um determinado produto, em uma amostra de 100 pessoas. </a:t>
            </a:r>
          </a:p>
        </p:txBody>
      </p:sp>
    </p:spTree>
    <p:extLst>
      <p:ext uri="{BB962C8B-B14F-4D97-AF65-F5344CB8AC3E}">
        <p14:creationId xmlns:p14="http://schemas.microsoft.com/office/powerpoint/2010/main" val="9528357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3A43E6-01DD-3B5F-5E2B-95E41378FB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82AA1E-261B-B2BE-DF6D-BBF52AF032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Cálculos da Distribuição Binomial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3DFC604-C2E0-C24F-1BB8-A4759D0092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3782" y="2466109"/>
            <a:ext cx="10016835" cy="3810000"/>
          </a:xfrm>
        </p:spPr>
        <p:txBody>
          <a:bodyPr>
            <a:normAutofit/>
          </a:bodyPr>
          <a:lstStyle/>
          <a:p>
            <a:pPr algn="just"/>
            <a:r>
              <a:rPr lang="pt-BR" dirty="0"/>
              <a:t>Resultado de n repetições independentes de Bernoulli.</a:t>
            </a:r>
          </a:p>
          <a:p>
            <a:pPr algn="just"/>
            <a:r>
              <a:rPr lang="pt-BR" dirty="0"/>
              <a:t>Parâmetros: n = número de tentativas e p = probabilidade de sucesso</a:t>
            </a:r>
          </a:p>
          <a:p>
            <a:pPr algn="just"/>
            <a:r>
              <a:rPr lang="pt-BR" dirty="0"/>
              <a:t>Fórmula da Função de Probabilidade:                             </a:t>
            </a:r>
          </a:p>
          <a:p>
            <a:pPr algn="just"/>
            <a:r>
              <a:rPr lang="pt-BR" dirty="0"/>
              <a:t>Com  k = 0, 1,..., n.</a:t>
            </a:r>
          </a:p>
          <a:p>
            <a:pPr algn="just"/>
            <a:r>
              <a:rPr lang="pt-BR" dirty="0"/>
              <a:t>Média: E[X]=</a:t>
            </a:r>
            <a:r>
              <a:rPr lang="pt-BR" dirty="0" err="1"/>
              <a:t>np</a:t>
            </a:r>
            <a:endParaRPr lang="pt-BR" dirty="0"/>
          </a:p>
          <a:p>
            <a:pPr algn="just"/>
            <a:r>
              <a:rPr lang="pt-BR" dirty="0"/>
              <a:t>Variância: Var[X]=</a:t>
            </a:r>
            <a:r>
              <a:rPr lang="pt-BR" dirty="0" err="1"/>
              <a:t>np</a:t>
            </a:r>
            <a:r>
              <a:rPr lang="pt-BR" dirty="0"/>
              <a:t>(1−p)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4BC51495-FEF0-D136-189B-2C29FA3319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5590" y="4141168"/>
            <a:ext cx="5400000" cy="1211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1212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82E34C-1E58-743B-048C-46120EEA7B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7CBDCD-503D-38F9-0DED-4681014FD2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Aplicação de Binomial no Excel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E2B2CBE-500E-8CDC-5819-8819F9B345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3782" y="2466109"/>
            <a:ext cx="10016835" cy="3810000"/>
          </a:xfrm>
        </p:spPr>
        <p:txBody>
          <a:bodyPr>
            <a:normAutofit/>
          </a:bodyPr>
          <a:lstStyle/>
          <a:p>
            <a:pPr algn="just"/>
            <a:r>
              <a:rPr lang="pt-BR" dirty="0"/>
              <a:t>Função: =DISTRBINOM(n; k; p; FALSO), probabilidade exata de k sucessos.</a:t>
            </a:r>
          </a:p>
          <a:p>
            <a:pPr algn="just"/>
            <a:endParaRPr lang="pt-BR" dirty="0"/>
          </a:p>
          <a:p>
            <a:pPr algn="just"/>
            <a:r>
              <a:rPr lang="pt-BR" dirty="0"/>
              <a:t>Função: =DISTRBINOM(n; k; p; VERDADEIRO), probabilidade acumulada.</a:t>
            </a:r>
          </a:p>
        </p:txBody>
      </p:sp>
    </p:spTree>
    <p:extLst>
      <p:ext uri="{BB962C8B-B14F-4D97-AF65-F5344CB8AC3E}">
        <p14:creationId xmlns:p14="http://schemas.microsoft.com/office/powerpoint/2010/main" val="18984342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6D6738-F3DE-98A6-4EF1-A0C4751201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326B31-91FB-0EB4-AFC0-3BDBF27B18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Distribuição de Bernoulli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791C0F5-E3D4-AD45-851A-B93D7E9FDB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5856" y="2424547"/>
            <a:ext cx="10626435" cy="3823854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pt-BR" dirty="0"/>
              <a:t>A Distribuição de Bernoulli é um modelo de probabilidade discreta que descreve um experimento aleatório com apenas dois resultados possíveis: sucesso (geralmente representado por 1) ou fracasso (representado por 0). </a:t>
            </a:r>
          </a:p>
          <a:p>
            <a:pPr algn="just"/>
            <a:r>
              <a:rPr lang="pt-BR" dirty="0"/>
              <a:t>Ela é caracterizada por um único parâmetro (p), que é a probabilidade do sucesso.</a:t>
            </a:r>
          </a:p>
          <a:p>
            <a:pPr algn="just"/>
            <a:r>
              <a:rPr lang="pt-BR" dirty="0"/>
              <a:t>Um experimento que segue a distribuição de Bernoulli é chamado de um ensaio de Bernoulli, e a probabilidade de fracasso é dada por (1-p). </a:t>
            </a:r>
          </a:p>
          <a:p>
            <a:pPr algn="just"/>
            <a:r>
              <a:rPr lang="pt-BR" dirty="0"/>
              <a:t>Parâmetro: p = probabilidade de sucesso.</a:t>
            </a:r>
          </a:p>
          <a:p>
            <a:pPr algn="just"/>
            <a:r>
              <a:rPr lang="pt-BR" dirty="0"/>
              <a:t>Fórmula da Função de Probabilidade: P(X = x) = </a:t>
            </a:r>
            <a:r>
              <a:rPr lang="pt-BR" dirty="0" err="1"/>
              <a:t>p</a:t>
            </a:r>
            <a:r>
              <a:rPr lang="pt-BR" baseline="30000" dirty="0" err="1"/>
              <a:t>x</a:t>
            </a:r>
            <a:r>
              <a:rPr lang="pt-BR" dirty="0"/>
              <a:t> * (1−p)</a:t>
            </a:r>
            <a:r>
              <a:rPr lang="pt-BR" baseline="30000" dirty="0"/>
              <a:t>1−x </a:t>
            </a:r>
            <a:r>
              <a:rPr lang="pt-BR" dirty="0"/>
              <a:t>,     x ∈ {0,1}</a:t>
            </a:r>
          </a:p>
          <a:p>
            <a:pPr algn="just"/>
            <a:r>
              <a:rPr lang="pt-BR" dirty="0"/>
              <a:t>Média: E[X] = p</a:t>
            </a:r>
          </a:p>
          <a:p>
            <a:pPr algn="just"/>
            <a:r>
              <a:rPr lang="pt-BR" dirty="0"/>
              <a:t>Variância: Var[X] = p*(1−p)</a:t>
            </a:r>
          </a:p>
        </p:txBody>
      </p:sp>
    </p:spTree>
    <p:extLst>
      <p:ext uri="{BB962C8B-B14F-4D97-AF65-F5344CB8AC3E}">
        <p14:creationId xmlns:p14="http://schemas.microsoft.com/office/powerpoint/2010/main" val="35579892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F99E2B-5691-B1B1-CA68-26146285BC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6D96C8-F856-9FB6-971E-77F22D4DAC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Características Principais da </a:t>
            </a:r>
            <a:br>
              <a:rPr lang="pt-BR" dirty="0"/>
            </a:br>
            <a:r>
              <a:rPr lang="pt-BR" dirty="0"/>
              <a:t>Distribuição de Bernoulli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4B118F4-B8B3-0109-BF9A-B3E3E3A852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3" y="2424547"/>
            <a:ext cx="9601196" cy="3823854"/>
          </a:xfrm>
        </p:spPr>
        <p:txBody>
          <a:bodyPr>
            <a:normAutofit lnSpcReduction="10000"/>
          </a:bodyPr>
          <a:lstStyle/>
          <a:p>
            <a:pPr algn="just"/>
            <a:r>
              <a:rPr lang="pt-BR" dirty="0"/>
              <a:t>Dois resultados possíveis: O resultado de um ensaio de Bernoulli é binário, ou seja, existem apenas duas opções (</a:t>
            </a:r>
            <a:r>
              <a:rPr lang="pt-BR" dirty="0" err="1"/>
              <a:t>ex</a:t>
            </a:r>
            <a:r>
              <a:rPr lang="pt-BR" dirty="0"/>
              <a:t>: sim/não, correto/incorreto, cara/coroa). </a:t>
            </a:r>
          </a:p>
          <a:p>
            <a:pPr algn="just"/>
            <a:r>
              <a:rPr lang="pt-BR" dirty="0"/>
              <a:t>Probabilidade de sucesso (p): É a probabilidade de o resultado de interesse (o "sucesso") ocorrer. </a:t>
            </a:r>
          </a:p>
          <a:p>
            <a:pPr algn="just"/>
            <a:r>
              <a:rPr lang="pt-BR" dirty="0"/>
              <a:t>Probabilidade de fracasso (1-p): É a probabilidade do outro resultado possível (o "fracasso") ocorrer. </a:t>
            </a:r>
          </a:p>
          <a:p>
            <a:pPr algn="just"/>
            <a:r>
              <a:rPr lang="pt-BR" dirty="0"/>
              <a:t>Experimento único: A distribuição de Bernoulli modela o resultado de apenas um ensaio. </a:t>
            </a:r>
          </a:p>
        </p:txBody>
      </p:sp>
    </p:spTree>
    <p:extLst>
      <p:ext uri="{BB962C8B-B14F-4D97-AF65-F5344CB8AC3E}">
        <p14:creationId xmlns:p14="http://schemas.microsoft.com/office/powerpoint/2010/main" val="3913581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AE2161-20E9-E63C-24B2-8E08C52434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069282-8CC8-B36D-7D3D-C723B98E3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Exemplos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8328BD4-BD2C-0026-4A46-5DB77E4B13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2" y="2424547"/>
            <a:ext cx="9601196" cy="3823854"/>
          </a:xfrm>
        </p:spPr>
        <p:txBody>
          <a:bodyPr>
            <a:normAutofit/>
          </a:bodyPr>
          <a:lstStyle/>
          <a:p>
            <a:pPr algn="just"/>
            <a:r>
              <a:rPr lang="pt-BR" dirty="0"/>
              <a:t>Lançamento de uma moeda: Se "cara" é o sucesso, p é a probabilidade de sair cara, e (1-p) é a probabilidade de sair coroa. </a:t>
            </a:r>
          </a:p>
          <a:p>
            <a:pPr algn="just"/>
            <a:r>
              <a:rPr lang="pt-BR" dirty="0"/>
              <a:t>Peça defeituosa: A probabilidade de uma peça fabricada ser perfeita ou defeituosa. </a:t>
            </a:r>
          </a:p>
          <a:p>
            <a:pPr algn="just"/>
            <a:r>
              <a:rPr lang="pt-BR" dirty="0"/>
              <a:t>Paciente em terapia intensiva: A probabilidade de um paciente falecer ao dar entrada em uma UTI. </a:t>
            </a:r>
          </a:p>
        </p:txBody>
      </p:sp>
    </p:spTree>
    <p:extLst>
      <p:ext uri="{BB962C8B-B14F-4D97-AF65-F5344CB8AC3E}">
        <p14:creationId xmlns:p14="http://schemas.microsoft.com/office/powerpoint/2010/main" val="38999633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365958-7215-3789-A497-6F69505F05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263E02-E85E-B627-C216-3CFF4FF646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Relação com a Distribuição Binomial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42DD731-38BF-1B19-8A69-444C0E8927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3" y="2424547"/>
            <a:ext cx="9601196" cy="3823854"/>
          </a:xfrm>
        </p:spPr>
        <p:txBody>
          <a:bodyPr>
            <a:normAutofit/>
          </a:bodyPr>
          <a:lstStyle/>
          <a:p>
            <a:pPr algn="just"/>
            <a:r>
              <a:rPr lang="pt-BR" dirty="0"/>
              <a:t>A Distribuição de Bernoulli é um caso especial da Distribuição Binomial onde o número de ensaios (n) é igual a 1. </a:t>
            </a:r>
          </a:p>
          <a:p>
            <a:pPr algn="just"/>
            <a:r>
              <a:rPr lang="pt-BR" dirty="0"/>
              <a:t>Ou seja, se você repetir um ensaio de Bernoulli várias vezes (n vezes) e as tentativas forem independentes, a soma desses resultados seguirá uma distribuição binomial. </a:t>
            </a:r>
          </a:p>
        </p:txBody>
      </p:sp>
    </p:spTree>
    <p:extLst>
      <p:ext uri="{BB962C8B-B14F-4D97-AF65-F5344CB8AC3E}">
        <p14:creationId xmlns:p14="http://schemas.microsoft.com/office/powerpoint/2010/main" val="16153377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0CF0F3-C708-78FD-5EE6-F60AA2C0FA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00EC1B-8A9C-FC34-CBF2-5C44C9B6F6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Aplicação de Bernoulli no Excel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6B24EBC-029C-C4F4-5195-F4AA08C8BB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3782" y="2466109"/>
            <a:ext cx="10016835" cy="3810000"/>
          </a:xfrm>
        </p:spPr>
        <p:txBody>
          <a:bodyPr>
            <a:normAutofit/>
          </a:bodyPr>
          <a:lstStyle/>
          <a:p>
            <a:pPr algn="just"/>
            <a:r>
              <a:rPr lang="pt-BR" dirty="0"/>
              <a:t>Simular lançamentos com =SE(ALEATÓRIO()&lt;p;1;0)</a:t>
            </a:r>
          </a:p>
        </p:txBody>
      </p:sp>
    </p:spTree>
    <p:extLst>
      <p:ext uri="{BB962C8B-B14F-4D97-AF65-F5344CB8AC3E}">
        <p14:creationId xmlns:p14="http://schemas.microsoft.com/office/powerpoint/2010/main" val="30793520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B87BD2-3A25-4FF0-8D9B-3637B44CD3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234744-E7E9-9224-8E2F-0ADEE15649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Distribuição de Poisson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52E378A-A113-7BEA-844E-C29C3BF083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3782" y="2466109"/>
            <a:ext cx="10016835" cy="3810000"/>
          </a:xfrm>
        </p:spPr>
        <p:txBody>
          <a:bodyPr>
            <a:normAutofit/>
          </a:bodyPr>
          <a:lstStyle/>
          <a:p>
            <a:pPr algn="just"/>
            <a:r>
              <a:rPr lang="pt-BR" dirty="0"/>
              <a:t>É um modelo de probabilidade discreta que calcula a probabilidade de um número específico de eventos ocorrerem num intervalo fixo de tempo ou espaço, assumindo-se que esses eventos ocorrem a uma taxa média constante e de forma independente um do outro. </a:t>
            </a:r>
          </a:p>
          <a:p>
            <a:pPr algn="just"/>
            <a:r>
              <a:rPr lang="pt-BR" dirty="0"/>
              <a:t>É usada para eventos raros e discretos, como o número de acidentes numa estrada por semana, o número de clientes a chegar a uma loja (auxiliando em Teoria das Filas), ou o número de defeitos num lote de produtos. </a:t>
            </a:r>
          </a:p>
        </p:txBody>
      </p:sp>
    </p:spTree>
    <p:extLst>
      <p:ext uri="{BB962C8B-B14F-4D97-AF65-F5344CB8AC3E}">
        <p14:creationId xmlns:p14="http://schemas.microsoft.com/office/powerpoint/2010/main" val="15049301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49AC21-D14B-7CBF-76A9-F496989DE8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FAF7BF-DAD3-B6BC-D499-A765A71342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Principais Características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6E0558E-5C20-1B8E-F2CB-C36684776B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3782" y="2466109"/>
            <a:ext cx="10016835" cy="3810000"/>
          </a:xfrm>
        </p:spPr>
        <p:txBody>
          <a:bodyPr>
            <a:normAutofit/>
          </a:bodyPr>
          <a:lstStyle/>
          <a:p>
            <a:pPr algn="just"/>
            <a:r>
              <a:rPr lang="pt-BR" b="1" dirty="0"/>
              <a:t>Eventos discretos: </a:t>
            </a:r>
            <a:r>
              <a:rPr lang="pt-BR" dirty="0"/>
              <a:t>A variável aleatória assume valores inteiros não negativos (0, 1, 2, ...). </a:t>
            </a:r>
          </a:p>
          <a:p>
            <a:pPr algn="just"/>
            <a:r>
              <a:rPr lang="pt-BR" b="1" dirty="0"/>
              <a:t>Intervalo fixo: </a:t>
            </a:r>
            <a:r>
              <a:rPr lang="pt-BR" dirty="0"/>
              <a:t>Os eventos ocorrem dentro de um período de tempo ou área específica, como uma hora, um dia ou um metro quadrado. </a:t>
            </a:r>
          </a:p>
          <a:p>
            <a:pPr algn="just"/>
            <a:r>
              <a:rPr lang="pt-BR" b="1" dirty="0"/>
              <a:t>Taxa média constante (λ): </a:t>
            </a:r>
            <a:r>
              <a:rPr lang="pt-BR" dirty="0"/>
              <a:t>A taxa média de ocorrência dos eventos, representada pelo parâmetro λ, é constante ao longo do intervalo. </a:t>
            </a:r>
          </a:p>
          <a:p>
            <a:pPr algn="just"/>
            <a:r>
              <a:rPr lang="pt-BR" b="1" dirty="0"/>
              <a:t>Independência: </a:t>
            </a:r>
            <a:r>
              <a:rPr lang="pt-BR" dirty="0"/>
              <a:t>A ocorrência de um evento não afeta a probabilidade de ocorrência de outro. </a:t>
            </a:r>
          </a:p>
        </p:txBody>
      </p:sp>
    </p:spTree>
    <p:extLst>
      <p:ext uri="{BB962C8B-B14F-4D97-AF65-F5344CB8AC3E}">
        <p14:creationId xmlns:p14="http://schemas.microsoft.com/office/powerpoint/2010/main" val="8938323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Distribuição de Poisson Condições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O número de ocorrências durante qualquer intervalo depende somente da extensão do intervalo.</a:t>
            </a:r>
          </a:p>
          <a:p>
            <a:r>
              <a:rPr lang="pt-BR" dirty="0"/>
              <a:t>Um intervalo de amostras não exerce efeito sobre o número de ocorrências em outro intervalo.</a:t>
            </a:r>
          </a:p>
          <a:p>
            <a:r>
              <a:rPr lang="pt-BR" dirty="0"/>
              <a:t>A possibilidade de duas ou mais ocorrências acontecerem em um pequeno intervalo é muito pequena quando comparada à de uma única ocorrência.</a:t>
            </a:r>
          </a:p>
        </p:txBody>
      </p:sp>
    </p:spTree>
    <p:extLst>
      <p:ext uri="{BB962C8B-B14F-4D97-AF65-F5344CB8AC3E}">
        <p14:creationId xmlns:p14="http://schemas.microsoft.com/office/powerpoint/2010/main" val="10800361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Exemplos de Distribuição de Poisson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295401" y="2556932"/>
            <a:ext cx="9601196" cy="3663394"/>
          </a:xfrm>
        </p:spPr>
        <p:txBody>
          <a:bodyPr>
            <a:normAutofit/>
          </a:bodyPr>
          <a:lstStyle/>
          <a:p>
            <a:r>
              <a:rPr lang="pt-BR" dirty="0"/>
              <a:t>Em controle da qualidade como um modelo para o número de defeitos (não-conformidades) que ocorre por unidade de produto (por m</a:t>
            </a:r>
            <a:r>
              <a:rPr lang="pt-BR" baseline="30000" dirty="0"/>
              <a:t>2</a:t>
            </a:r>
            <a:r>
              <a:rPr lang="pt-BR" dirty="0"/>
              <a:t>, por volume ou por tempo, etc.).</a:t>
            </a:r>
          </a:p>
          <a:p>
            <a:r>
              <a:rPr lang="pt-BR" dirty="0"/>
              <a:t>Número de acidentes por mês, número de clientes atendidos por hora.</a:t>
            </a:r>
          </a:p>
          <a:p>
            <a:r>
              <a:rPr lang="pt-BR" dirty="0"/>
              <a:t>Número de chamadas recebidas numa linha de apoio em uma hora.</a:t>
            </a:r>
          </a:p>
          <a:p>
            <a:r>
              <a:rPr lang="pt-BR" dirty="0"/>
              <a:t>Quantidade de vendas realizadas por um corretor em um período de tempo.</a:t>
            </a:r>
          </a:p>
          <a:p>
            <a:r>
              <a:rPr lang="pt-BR" dirty="0"/>
              <a:t>Quantidade de acidentes de trânsito numa rodovia em um mês. </a:t>
            </a:r>
          </a:p>
        </p:txBody>
      </p:sp>
    </p:spTree>
    <p:extLst>
      <p:ext uri="{BB962C8B-B14F-4D97-AF65-F5344CB8AC3E}">
        <p14:creationId xmlns:p14="http://schemas.microsoft.com/office/powerpoint/2010/main" val="728058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F568AF-A636-6020-976D-92B4569CBF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59D189-BD3B-916C-4149-0E1FB5F88A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Fórmula da Função de Probabilidade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992136D-9AB8-2BD2-7E1D-7632C33380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3782" y="2466109"/>
            <a:ext cx="10016835" cy="3810000"/>
          </a:xfrm>
        </p:spPr>
        <p:txBody>
          <a:bodyPr>
            <a:normAutofit/>
          </a:bodyPr>
          <a:lstStyle/>
          <a:p>
            <a:pPr algn="just"/>
            <a:r>
              <a:rPr lang="pt-BR" dirty="0"/>
              <a:t>Parâmetro: 𝜆λ = média de ocorrências no intervalo.</a:t>
            </a:r>
          </a:p>
          <a:p>
            <a:pPr algn="just"/>
            <a:endParaRPr lang="pt-BR" dirty="0"/>
          </a:p>
          <a:p>
            <a:pPr algn="just"/>
            <a:endParaRPr lang="pt-BR" dirty="0"/>
          </a:p>
          <a:p>
            <a:pPr algn="just"/>
            <a:endParaRPr lang="pt-BR" dirty="0"/>
          </a:p>
          <a:p>
            <a:pPr algn="just"/>
            <a:r>
              <a:rPr lang="pt-BR" dirty="0"/>
              <a:t>k = 0,1,2,...</a:t>
            </a:r>
          </a:p>
          <a:p>
            <a:pPr algn="just"/>
            <a:r>
              <a:rPr lang="pt-BR" dirty="0"/>
              <a:t>Média e variância: E[X] = Var[X] = </a:t>
            </a:r>
            <a:r>
              <a:rPr lang="el-GR" dirty="0"/>
              <a:t>λ</a:t>
            </a:r>
            <a:endParaRPr lang="pt-BR" dirty="0"/>
          </a:p>
          <a:p>
            <a:pPr algn="just"/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3C553A00-0331-A693-2C8B-2270E5BC9A1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069" t="10327"/>
          <a:stretch>
            <a:fillRect/>
          </a:stretch>
        </p:blipFill>
        <p:spPr>
          <a:xfrm>
            <a:off x="1309257" y="2923306"/>
            <a:ext cx="5583241" cy="1567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17298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D1118-343B-6042-2E8D-485D0C9E81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5B0EA9-3477-6ECE-D8F3-1DFE9CD10C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Aplicação de Poisson no Excel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9235B8E-9F5E-72CC-6F21-56723BCFF0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3782" y="2466109"/>
            <a:ext cx="10016835" cy="3810000"/>
          </a:xfrm>
        </p:spPr>
        <p:txBody>
          <a:bodyPr>
            <a:normAutofit/>
          </a:bodyPr>
          <a:lstStyle/>
          <a:p>
            <a:pPr algn="just"/>
            <a:r>
              <a:rPr lang="pt-BR" dirty="0"/>
              <a:t>Função: =DISTRPOISSON(k; λ; FALSO), probabilidade exata.</a:t>
            </a:r>
          </a:p>
          <a:p>
            <a:pPr algn="just"/>
            <a:r>
              <a:rPr lang="pt-BR" dirty="0"/>
              <a:t>Função: =DISTRPOISSON(k; λ; VERDADEIRO), probabilidade acumulada.</a:t>
            </a:r>
          </a:p>
        </p:txBody>
      </p:sp>
    </p:spTree>
    <p:extLst>
      <p:ext uri="{BB962C8B-B14F-4D97-AF65-F5344CB8AC3E}">
        <p14:creationId xmlns:p14="http://schemas.microsoft.com/office/powerpoint/2010/main" val="23075846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Principais Distribuições Contínuas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Aft>
                <a:spcPts val="0"/>
              </a:spcAft>
            </a:pPr>
            <a:r>
              <a:rPr lang="pt-BR" sz="2800" dirty="0"/>
              <a:t>Distribuição Exponencial</a:t>
            </a:r>
          </a:p>
          <a:p>
            <a:pPr>
              <a:spcAft>
                <a:spcPts val="0"/>
              </a:spcAft>
            </a:pPr>
            <a:endParaRPr lang="pt-BR" sz="2800" dirty="0"/>
          </a:p>
          <a:p>
            <a:pPr>
              <a:spcAft>
                <a:spcPts val="0"/>
              </a:spcAft>
            </a:pPr>
            <a:r>
              <a:rPr lang="pt-BR" sz="2800" dirty="0"/>
              <a:t>Distribuição Uniforme</a:t>
            </a:r>
          </a:p>
          <a:p>
            <a:pPr>
              <a:spcAft>
                <a:spcPts val="0"/>
              </a:spcAft>
            </a:pPr>
            <a:endParaRPr lang="pt-BR" sz="2800" dirty="0"/>
          </a:p>
          <a:p>
            <a:pPr>
              <a:spcAft>
                <a:spcPts val="0"/>
              </a:spcAft>
            </a:pPr>
            <a:r>
              <a:rPr lang="pt-BR" sz="2800" dirty="0"/>
              <a:t>Distribuição Normal</a:t>
            </a:r>
          </a:p>
        </p:txBody>
      </p:sp>
    </p:spTree>
    <p:extLst>
      <p:ext uri="{BB962C8B-B14F-4D97-AF65-F5344CB8AC3E}">
        <p14:creationId xmlns:p14="http://schemas.microsoft.com/office/powerpoint/2010/main" val="212752970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BB0D5B-3B71-C4D2-3302-92A5016625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C817EC-CDA2-6FAE-09EE-DFD77053CA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Distribuição Exponencial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39986D8-2B52-5F33-26D1-7B67CFDAD7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3782" y="2466109"/>
            <a:ext cx="10016835" cy="3810000"/>
          </a:xfrm>
        </p:spPr>
        <p:txBody>
          <a:bodyPr>
            <a:normAutofit/>
          </a:bodyPr>
          <a:lstStyle/>
          <a:p>
            <a:pPr algn="just"/>
            <a:r>
              <a:rPr lang="pt-BR" dirty="0"/>
              <a:t>É uma distribuição de probabilidade contínua que modela o tempo entre eventos em um processo onde os eventos ocorrem de forma contínua e independente a uma taxa média constante, como um processo de Poisson. </a:t>
            </a:r>
          </a:p>
          <a:p>
            <a:pPr algn="just"/>
            <a:r>
              <a:rPr lang="pt-BR" dirty="0"/>
              <a:t>É frequentemente usada para modelar tempos de espera, tempos de vida de equipamentos ou o tempo entre chegadas a um serviço. </a:t>
            </a:r>
          </a:p>
          <a:p>
            <a:pPr algn="just"/>
            <a:r>
              <a:rPr lang="pt-BR" dirty="0"/>
              <a:t>Caracteriza-se pelo seu único parâmetro, λ (lambda), que representa a taxa média de ocorrência dos eventos. </a:t>
            </a:r>
          </a:p>
        </p:txBody>
      </p:sp>
    </p:spTree>
    <p:extLst>
      <p:ext uri="{BB962C8B-B14F-4D97-AF65-F5344CB8AC3E}">
        <p14:creationId xmlns:p14="http://schemas.microsoft.com/office/powerpoint/2010/main" val="60160313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E12585-19F1-9732-E7FF-24E0123A28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048EC5-4C06-9FDC-BEA7-093B5674B2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Principais Características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4EA2650-9D35-630B-82D4-AE41D06F11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3782" y="2466109"/>
            <a:ext cx="10016835" cy="3810000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pt-BR" b="1" dirty="0"/>
              <a:t>Contínua: </a:t>
            </a:r>
            <a:r>
              <a:rPr lang="pt-BR" dirty="0"/>
              <a:t>A variável aleatória pode assumir qualquer valor positivo, não apenas inteiros. </a:t>
            </a:r>
          </a:p>
          <a:p>
            <a:pPr algn="just"/>
            <a:r>
              <a:rPr lang="pt-BR" b="1" dirty="0"/>
              <a:t>Processo de Poisson: </a:t>
            </a:r>
            <a:r>
              <a:rPr lang="pt-BR" dirty="0"/>
              <a:t>A distribuição exponencial está diretamente relacionada a um processo de Poisson, onde os eventos são independentes e a taxa média de sua ocorrência é constante. </a:t>
            </a:r>
          </a:p>
          <a:p>
            <a:pPr algn="just"/>
            <a:r>
              <a:rPr lang="pt-BR" b="1" dirty="0"/>
              <a:t>Sem memória: </a:t>
            </a:r>
            <a:r>
              <a:rPr lang="pt-BR" dirty="0"/>
              <a:t>Uma propriedade fundamental é que a probabilidade de um evento ocorrer num determinado intervalo de tempo futuro não depende de quanto tempo se passou desde o último evento. </a:t>
            </a:r>
          </a:p>
          <a:p>
            <a:pPr algn="just"/>
            <a:r>
              <a:rPr lang="pt-BR" dirty="0"/>
              <a:t>Parâmetro λ (lambda):</a:t>
            </a:r>
          </a:p>
          <a:p>
            <a:pPr algn="just"/>
            <a:r>
              <a:rPr lang="pt-BR" dirty="0"/>
              <a:t>Este parâmetro representa a taxa média de eventos por unidade de tempo. Quanto maior λ, menor o tempo médio entre os eventos. </a:t>
            </a:r>
          </a:p>
        </p:txBody>
      </p:sp>
    </p:spTree>
    <p:extLst>
      <p:ext uri="{BB962C8B-B14F-4D97-AF65-F5344CB8AC3E}">
        <p14:creationId xmlns:p14="http://schemas.microsoft.com/office/powerpoint/2010/main" val="287981072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689DA8-8554-FD16-19F7-60005313CF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FAED17-1800-C6D9-93B9-84116A9FA2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Fórmula da Função de Probabilidade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DA790DF-6510-3EB1-7B3F-D80C09A998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3782" y="2466109"/>
            <a:ext cx="10016835" cy="3810000"/>
          </a:xfrm>
        </p:spPr>
        <p:txBody>
          <a:bodyPr>
            <a:normAutofit/>
          </a:bodyPr>
          <a:lstStyle/>
          <a:p>
            <a:pPr algn="just"/>
            <a:r>
              <a:rPr lang="pt-BR" sz="2800" dirty="0"/>
              <a:t>A fórmula da PDF da distribuição exponencial é </a:t>
            </a:r>
          </a:p>
          <a:p>
            <a:pPr algn="just"/>
            <a:r>
              <a:rPr lang="pt-BR" sz="2800" dirty="0"/>
              <a:t>f(x) = λ*e</a:t>
            </a:r>
            <a:r>
              <a:rPr lang="pt-BR" sz="2800" baseline="30000" dirty="0"/>
              <a:t>-</a:t>
            </a:r>
            <a:r>
              <a:rPr lang="pt-BR" sz="2800" baseline="30000" dirty="0" err="1"/>
              <a:t>λx</a:t>
            </a:r>
            <a:r>
              <a:rPr lang="pt-BR" sz="2800" dirty="0"/>
              <a:t> para x ≥ 0</a:t>
            </a:r>
          </a:p>
          <a:p>
            <a:pPr algn="just"/>
            <a:r>
              <a:rPr lang="pt-BR" sz="2800" dirty="0"/>
              <a:t>Onde </a:t>
            </a:r>
            <a:r>
              <a:rPr lang="pt-BR" sz="2800" b="1" dirty="0"/>
              <a:t>e</a:t>
            </a:r>
            <a:r>
              <a:rPr lang="pt-BR" sz="2800" dirty="0"/>
              <a:t> é a constante matemática de Euler (e= 2,71). </a:t>
            </a:r>
          </a:p>
        </p:txBody>
      </p:sp>
    </p:spTree>
    <p:extLst>
      <p:ext uri="{BB962C8B-B14F-4D97-AF65-F5344CB8AC3E}">
        <p14:creationId xmlns:p14="http://schemas.microsoft.com/office/powerpoint/2010/main" val="101413746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55CF8D-8966-8548-C03E-40787C9712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DF058E-4DBE-F2CC-0095-F2D830DD15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6583" y="982132"/>
            <a:ext cx="10695708" cy="1303867"/>
          </a:xfrm>
        </p:spPr>
        <p:txBody>
          <a:bodyPr>
            <a:normAutofit fontScale="90000"/>
          </a:bodyPr>
          <a:lstStyle/>
          <a:p>
            <a:r>
              <a:rPr lang="pt-BR" dirty="0"/>
              <a:t>Exemplos de Aplicação da Distribuição Exponencial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CFF62FC-803D-2EF5-906F-4327142E89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3782" y="2466109"/>
            <a:ext cx="10016835" cy="3810000"/>
          </a:xfrm>
        </p:spPr>
        <p:txBody>
          <a:bodyPr>
            <a:normAutofit/>
          </a:bodyPr>
          <a:lstStyle/>
          <a:p>
            <a:pPr algn="just"/>
            <a:r>
              <a:rPr lang="pt-BR" dirty="0"/>
              <a:t>Tempo entre requisições a um servidor.</a:t>
            </a:r>
          </a:p>
          <a:p>
            <a:pPr algn="just"/>
            <a:r>
              <a:rPr lang="pt-BR" dirty="0"/>
              <a:t>Intervalo entre falhas de hardware.</a:t>
            </a:r>
          </a:p>
          <a:p>
            <a:pPr algn="just"/>
            <a:r>
              <a:rPr lang="pt-BR" dirty="0"/>
              <a:t>Tempos de vida útil de um componente eletrônico antes de falhar. </a:t>
            </a:r>
          </a:p>
        </p:txBody>
      </p:sp>
    </p:spTree>
    <p:extLst>
      <p:ext uri="{BB962C8B-B14F-4D97-AF65-F5344CB8AC3E}">
        <p14:creationId xmlns:p14="http://schemas.microsoft.com/office/powerpoint/2010/main" val="262727673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20F0B0-3311-887D-852C-E1847C57E6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910594-2615-0212-38CB-62B608CA0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Lei de Resfriamento de Newton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92713A4-6BB6-22EC-C7F6-A3909BD997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3782" y="2466109"/>
            <a:ext cx="10016835" cy="3810000"/>
          </a:xfrm>
        </p:spPr>
        <p:txBody>
          <a:bodyPr>
            <a:normAutofit lnSpcReduction="10000"/>
          </a:bodyPr>
          <a:lstStyle/>
          <a:p>
            <a:pPr algn="just"/>
            <a:r>
              <a:rPr lang="pt-BR" dirty="0"/>
              <a:t>A temperatura de um corpo tende a se aproximar da temperatura ambiente de forma exponencial:</a:t>
            </a:r>
          </a:p>
          <a:p>
            <a:pPr algn="just"/>
            <a:r>
              <a:rPr lang="pt-BR" dirty="0"/>
              <a:t>T(t) = </a:t>
            </a:r>
            <a:r>
              <a:rPr lang="pt-BR" dirty="0" err="1"/>
              <a:t>Tamb</a:t>
            </a:r>
            <a:r>
              <a:rPr lang="pt-BR" dirty="0"/>
              <a:t>	​+ (T0​−</a:t>
            </a:r>
            <a:r>
              <a:rPr lang="pt-BR" dirty="0" err="1"/>
              <a:t>Tamb</a:t>
            </a:r>
            <a:r>
              <a:rPr lang="pt-BR" dirty="0"/>
              <a:t>​) * e</a:t>
            </a:r>
            <a:r>
              <a:rPr lang="pt-BR" baseline="30000" dirty="0"/>
              <a:t>−</a:t>
            </a:r>
            <a:r>
              <a:rPr lang="pt-BR" baseline="30000" dirty="0" err="1"/>
              <a:t>kt</a:t>
            </a:r>
            <a:endParaRPr lang="pt-BR" baseline="30000" dirty="0"/>
          </a:p>
          <a:p>
            <a:pPr algn="just"/>
            <a:r>
              <a:rPr lang="pt-BR" dirty="0"/>
              <a:t>Onde: </a:t>
            </a:r>
          </a:p>
          <a:p>
            <a:pPr algn="just"/>
            <a:r>
              <a:rPr lang="pt-BR" dirty="0"/>
              <a:t>T(t) = temperatura do corpo no tempo t.</a:t>
            </a:r>
          </a:p>
          <a:p>
            <a:pPr algn="just"/>
            <a:r>
              <a:rPr lang="pt-BR" dirty="0" err="1"/>
              <a:t>Tamb</a:t>
            </a:r>
            <a:r>
              <a:rPr lang="pt-BR" dirty="0"/>
              <a:t>	​ = temperatura do ambiente.</a:t>
            </a:r>
          </a:p>
          <a:p>
            <a:pPr algn="just"/>
            <a:r>
              <a:rPr lang="pt-BR" dirty="0"/>
              <a:t>T0	​ = temperatura inicial.</a:t>
            </a:r>
          </a:p>
          <a:p>
            <a:pPr algn="just"/>
            <a:r>
              <a:rPr lang="pt-BR" dirty="0"/>
              <a:t>k = constante de resfriamento.</a:t>
            </a:r>
          </a:p>
        </p:txBody>
      </p:sp>
    </p:spTree>
    <p:extLst>
      <p:ext uri="{BB962C8B-B14F-4D97-AF65-F5344CB8AC3E}">
        <p14:creationId xmlns:p14="http://schemas.microsoft.com/office/powerpoint/2010/main" val="173586883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D6628A-383E-AE18-E4DE-DEAE90E057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10FAF6-EE9E-5206-579E-1C2316D5D4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Lei de Resfriamento de Newton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CD1E6AC-EEAB-A0AB-0E37-90DBCF0619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3782" y="2355269"/>
            <a:ext cx="10016835" cy="3810000"/>
          </a:xfrm>
        </p:spPr>
        <p:txBody>
          <a:bodyPr>
            <a:normAutofit/>
          </a:bodyPr>
          <a:lstStyle/>
          <a:p>
            <a:pPr algn="just"/>
            <a:r>
              <a:rPr lang="pt-BR" dirty="0"/>
              <a:t>Um café a 90 °C em ambiente de 25 °C, com k = 0,015 s</a:t>
            </a:r>
            <a:r>
              <a:rPr lang="pt-BR" baseline="30000" dirty="0"/>
              <a:t>-1</a:t>
            </a:r>
            <a:r>
              <a:rPr lang="pt-BR" dirty="0"/>
              <a:t>, como seria a sua curva de resfriamento modelada por essa função? Sabendo que a taxa de perda de calor segue a função exponencial.</a:t>
            </a:r>
          </a:p>
          <a:p>
            <a:pPr algn="just"/>
            <a:endParaRPr lang="pt-BR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33C831CB-1725-795A-0852-E84944A073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71" y="3794413"/>
            <a:ext cx="3636000" cy="2324038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83EA3ADB-1954-F46F-61E2-112F72239D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1188" y="3499903"/>
            <a:ext cx="2052000" cy="2766229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FABE0D07-31B3-4004-AA03-05FEA0520A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3622" y="3151499"/>
            <a:ext cx="5112000" cy="3072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481098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057400" y="982132"/>
            <a:ext cx="8839198" cy="1303867"/>
          </a:xfrm>
        </p:spPr>
        <p:txBody>
          <a:bodyPr/>
          <a:lstStyle/>
          <a:p>
            <a:r>
              <a:rPr lang="pt-BR" dirty="0"/>
              <a:t>Determinação do Instante da Morte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506" y="633641"/>
            <a:ext cx="1651362" cy="5614782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6733" y="2480425"/>
            <a:ext cx="6340531" cy="3767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222312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C54FE4-8564-53A4-B048-3545FF42C2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F777C6-A92E-11C8-96BB-3DC0A497B8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Propagação de Microrganismos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32765E5-43C4-F515-1689-2F1C830E7D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3782" y="2466109"/>
            <a:ext cx="10016835" cy="3810000"/>
          </a:xfrm>
        </p:spPr>
        <p:txBody>
          <a:bodyPr>
            <a:normAutofit/>
          </a:bodyPr>
          <a:lstStyle/>
          <a:p>
            <a:pPr algn="just"/>
            <a:r>
              <a:rPr lang="pt-BR" dirty="0"/>
              <a:t>Muitos processos de crescimento bacteriano podem ser modelados por uma curva exponencial (ao menos em sua fase inicial):</a:t>
            </a:r>
          </a:p>
          <a:p>
            <a:pPr algn="just"/>
            <a:r>
              <a:rPr lang="pt-BR" dirty="0"/>
              <a:t>N(t) = N0*​</a:t>
            </a:r>
            <a:r>
              <a:rPr lang="pt-BR" dirty="0" err="1"/>
              <a:t>e</a:t>
            </a:r>
            <a:r>
              <a:rPr lang="pt-BR" baseline="30000" dirty="0" err="1"/>
              <a:t>rt</a:t>
            </a:r>
            <a:endParaRPr lang="pt-BR" baseline="30000" dirty="0"/>
          </a:p>
          <a:p>
            <a:pPr algn="just"/>
            <a:r>
              <a:rPr lang="pt-BR" dirty="0"/>
              <a:t>Onde:</a:t>
            </a:r>
          </a:p>
          <a:p>
            <a:pPr algn="just"/>
            <a:r>
              <a:rPr lang="pt-BR" dirty="0"/>
              <a:t>N(t) = número de microrganismos no tempo t.</a:t>
            </a:r>
          </a:p>
          <a:p>
            <a:pPr algn="just"/>
            <a:r>
              <a:rPr lang="pt-BR" dirty="0"/>
              <a:t>N0 = população inicial.</a:t>
            </a:r>
          </a:p>
          <a:p>
            <a:pPr algn="just"/>
            <a:r>
              <a:rPr lang="pt-BR" dirty="0"/>
              <a:t>r = taxa de crescimento.</a:t>
            </a:r>
          </a:p>
        </p:txBody>
      </p:sp>
    </p:spTree>
    <p:extLst>
      <p:ext uri="{BB962C8B-B14F-4D97-AF65-F5344CB8AC3E}">
        <p14:creationId xmlns:p14="http://schemas.microsoft.com/office/powerpoint/2010/main" val="5562047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DCD532-BB59-50C0-0041-8679701628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CAFB21-9FEB-B656-6DA2-12E7A78033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Propagação de Microrganismos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5F14F1C-8426-C3BD-4001-C937C4D4FD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9052" y="2347324"/>
            <a:ext cx="10016835" cy="3810000"/>
          </a:xfrm>
        </p:spPr>
        <p:txBody>
          <a:bodyPr>
            <a:normAutofit/>
          </a:bodyPr>
          <a:lstStyle/>
          <a:p>
            <a:pPr algn="just"/>
            <a:r>
              <a:rPr lang="pt-BR" dirty="0"/>
              <a:t>Uma colônia de bactérias dobra a cada 20 minutos (r = 0,03465736). </a:t>
            </a:r>
          </a:p>
          <a:p>
            <a:pPr algn="just"/>
            <a:r>
              <a:rPr lang="pt-BR" dirty="0"/>
              <a:t>Se começarmos com 1.000 células, após 1 hora teremos:</a:t>
            </a:r>
          </a:p>
          <a:p>
            <a:pPr algn="just"/>
            <a:r>
              <a:rPr lang="pt-BR" dirty="0"/>
              <a:t>N(60) = 1000*</a:t>
            </a:r>
            <a:r>
              <a:rPr lang="pt-BR" dirty="0" err="1"/>
              <a:t>exp</a:t>
            </a:r>
            <a:r>
              <a:rPr lang="pt-BR" dirty="0"/>
              <a:t>(0,0346⋅60) = 8000 células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4DE62502-C577-E938-EDE7-91E18F8751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455" y="3851273"/>
            <a:ext cx="3600000" cy="1560000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65D8D63E-D958-8E66-092A-D082AE1C5F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042" y="3776784"/>
            <a:ext cx="1842640" cy="2484000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74E4E07A-FB31-8C4F-2084-282B678C82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7706" y="3207697"/>
            <a:ext cx="5040000" cy="3029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208198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3B9199-0D6B-A55B-C426-213F48CEFA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F267EC-3B1F-9667-E038-9F88828581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Decaimento Radioativo (Carbono-14)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F03EE6-FD8A-5B9F-7BE7-F0C48E9545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3782" y="2466109"/>
            <a:ext cx="10016835" cy="3810000"/>
          </a:xfrm>
        </p:spPr>
        <p:txBody>
          <a:bodyPr>
            <a:normAutofit/>
          </a:bodyPr>
          <a:lstStyle/>
          <a:p>
            <a:pPr algn="just"/>
            <a:r>
              <a:rPr lang="pt-BR" dirty="0"/>
              <a:t>O Carbono-14 é usado na datação de fósseis e materiais orgânicos. </a:t>
            </a:r>
          </a:p>
          <a:p>
            <a:pPr algn="just"/>
            <a:r>
              <a:rPr lang="pt-BR" dirty="0"/>
              <a:t>Seu decaimento segue uma lei exponencial:</a:t>
            </a:r>
          </a:p>
          <a:p>
            <a:pPr algn="just"/>
            <a:r>
              <a:rPr lang="pt-BR" dirty="0"/>
              <a:t>N(t) = N0*​e</a:t>
            </a:r>
            <a:r>
              <a:rPr lang="pt-BR" baseline="30000" dirty="0"/>
              <a:t>-</a:t>
            </a:r>
            <a:r>
              <a:rPr lang="pt-BR" baseline="30000" dirty="0" err="1"/>
              <a:t>λt</a:t>
            </a:r>
            <a:endParaRPr lang="pt-BR" baseline="30000" dirty="0"/>
          </a:p>
          <a:p>
            <a:pPr algn="just"/>
            <a:r>
              <a:rPr lang="pt-BR" dirty="0"/>
              <a:t>Onde:</a:t>
            </a:r>
          </a:p>
          <a:p>
            <a:pPr algn="just"/>
            <a:r>
              <a:rPr lang="pt-BR" dirty="0"/>
              <a:t>N(t) = quantidade de C-14 no tempo t.</a:t>
            </a:r>
          </a:p>
          <a:p>
            <a:pPr algn="just"/>
            <a:r>
              <a:rPr lang="pt-BR" dirty="0"/>
              <a:t>N0	​ = quantidade inicial.</a:t>
            </a:r>
          </a:p>
          <a:p>
            <a:pPr algn="just"/>
            <a:r>
              <a:rPr lang="pt-BR" dirty="0"/>
              <a:t>λ = constante de decaimento radioativo.</a:t>
            </a:r>
          </a:p>
        </p:txBody>
      </p:sp>
    </p:spTree>
    <p:extLst>
      <p:ext uri="{BB962C8B-B14F-4D97-AF65-F5344CB8AC3E}">
        <p14:creationId xmlns:p14="http://schemas.microsoft.com/office/powerpoint/2010/main" val="50613824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BAA058-90AD-E30D-869A-8FA14D7295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91A9EA-9447-03B1-3520-14050C5C74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Decaimento Radioativo (Carbono-14)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323145F-6B06-537F-B108-00DE2C36D7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9070" y="2331199"/>
            <a:ext cx="10823497" cy="3810000"/>
          </a:xfrm>
        </p:spPr>
        <p:txBody>
          <a:bodyPr>
            <a:normAutofit/>
          </a:bodyPr>
          <a:lstStyle/>
          <a:p>
            <a:pPr algn="just">
              <a:spcBef>
                <a:spcPts val="0"/>
              </a:spcBef>
            </a:pPr>
            <a:r>
              <a:rPr lang="pt-BR" dirty="0"/>
              <a:t>O tempo de meia-vida do C-14 é aproximadamente 5730 anos. </a:t>
            </a:r>
          </a:p>
          <a:p>
            <a:pPr algn="just">
              <a:spcBef>
                <a:spcPts val="0"/>
              </a:spcBef>
            </a:pPr>
            <a:r>
              <a:rPr lang="pt-BR" dirty="0"/>
              <a:t>Isso significa que a cada 5730 anos (0,12097/mil anos) a quantidade de C-14 é reduzida à metade. Se um fóssil hoje contém 25% do C-14 original, podemos estimar sua idade:</a:t>
            </a:r>
          </a:p>
          <a:p>
            <a:pPr algn="just">
              <a:spcBef>
                <a:spcPts val="0"/>
              </a:spcBef>
            </a:pPr>
            <a:r>
              <a:rPr lang="pt-BR" dirty="0"/>
              <a:t>N(t) / N0 ​= 0,25 = e−</a:t>
            </a:r>
            <a:r>
              <a:rPr lang="pt-BR" dirty="0" err="1"/>
              <a:t>λt</a:t>
            </a:r>
            <a:r>
              <a:rPr lang="pt-BR" dirty="0"/>
              <a:t> ⇒ t ≈ 11460 anos.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4FB18478-E6FF-54E0-D1A4-FE0C6C11E0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142" y="4080425"/>
            <a:ext cx="3492000" cy="1788990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A7601BA8-75AF-009C-6049-650C661145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5822" y="3950655"/>
            <a:ext cx="2016000" cy="2331411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F5D46C7F-F1FE-2F8B-BABA-858E7162B1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4496" y="3569718"/>
            <a:ext cx="4680000" cy="2812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256191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Falha de Componentes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295401" y="2406316"/>
            <a:ext cx="9601196" cy="3826042"/>
          </a:xfrm>
        </p:spPr>
        <p:txBody>
          <a:bodyPr>
            <a:normAutofit fontScale="92500" lnSpcReduction="10000"/>
          </a:bodyPr>
          <a:lstStyle/>
          <a:p>
            <a:r>
              <a:rPr lang="pt-BR" dirty="0"/>
              <a:t>Por exemplo, suponha que uma máquina falhe em média uma vez a cada dois anos λ=1/2=0,5. Calcule a probabilidade da máquina falhar durante o próximo ano.</a:t>
            </a:r>
          </a:p>
          <a:p>
            <a:r>
              <a:rPr lang="pt-BR" dirty="0"/>
              <a:t>F(t) = 1-</a:t>
            </a:r>
            <a:r>
              <a:rPr lang="fr-FR" dirty="0"/>
              <a:t> e</a:t>
            </a:r>
            <a:r>
              <a:rPr lang="fr-FR" baseline="30000" dirty="0"/>
              <a:t>-λt</a:t>
            </a:r>
            <a:endParaRPr lang="pt-BR" baseline="30000" dirty="0"/>
          </a:p>
          <a:p>
            <a:r>
              <a:rPr lang="pt-BR" dirty="0"/>
              <a:t>F(t) = 1− e</a:t>
            </a:r>
            <a:r>
              <a:rPr lang="pt-BR" baseline="30000" dirty="0"/>
              <a:t>-0,5*1</a:t>
            </a:r>
            <a:r>
              <a:rPr lang="pt-BR" dirty="0"/>
              <a:t> = 1- 0,6065 = 0,3934</a:t>
            </a:r>
          </a:p>
          <a:p>
            <a:r>
              <a:rPr lang="pt-BR" dirty="0"/>
              <a:t>A probabilidade de falhar no próximo ano é de 0,3934 (39,34%) e de não falhar no próximo ano é de 1- 0,3934 = 0,6065 (60,65%).</a:t>
            </a:r>
          </a:p>
          <a:p>
            <a:r>
              <a:rPr lang="pt-BR" dirty="0"/>
              <a:t>Conhecendo-se os tempos até a falha de um produto é possível definir os períodos de garantia.</a:t>
            </a:r>
          </a:p>
          <a:p>
            <a:r>
              <a:rPr lang="pt-BR" dirty="0"/>
              <a:t>No segundo ano a Probabilidade falhar aumenta para 0,6321 (63,21%).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2241025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7768B2-A2F4-CE00-309C-38CF0FB4CD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8EC74E-EC90-2F49-B198-A5B3004ACA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No Excel Temos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1E5D2D1-9954-7A09-263A-E709662261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3782" y="2466109"/>
            <a:ext cx="10016835" cy="38100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pt-BR" dirty="0"/>
              <a:t>=1-EXP(-0,5*1): para a probabilidade de falhar no primeiro ano.</a:t>
            </a:r>
          </a:p>
          <a:p>
            <a:pPr marL="0" indent="0" algn="just">
              <a:buNone/>
            </a:pPr>
            <a:r>
              <a:rPr lang="pt-BR" dirty="0"/>
              <a:t>=1-EXP(-0,5*2): para a probabilidade de falhar no segundo ano.</a:t>
            </a:r>
          </a:p>
          <a:p>
            <a:pPr algn="just"/>
            <a:r>
              <a:rPr lang="pt-BR" dirty="0"/>
              <a:t>Para os próximos anos é só ir substituindo o tempo t da fórmula pelo número de anos. </a:t>
            </a:r>
          </a:p>
        </p:txBody>
      </p:sp>
    </p:spTree>
    <p:extLst>
      <p:ext uri="{BB962C8B-B14F-4D97-AF65-F5344CB8AC3E}">
        <p14:creationId xmlns:p14="http://schemas.microsoft.com/office/powerpoint/2010/main" val="138194538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AFC40C-20DE-48B7-10B4-F1C3852296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63559B-8414-B63F-989A-9BA96FF45D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Logaritmo Neperiano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4DFF962-E5D7-2772-FD46-671F8B2E31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3782" y="2466109"/>
            <a:ext cx="10016835" cy="3810000"/>
          </a:xfrm>
        </p:spPr>
        <p:txBody>
          <a:bodyPr>
            <a:normAutofit/>
          </a:bodyPr>
          <a:lstStyle/>
          <a:p>
            <a:pPr algn="just"/>
            <a:r>
              <a:rPr lang="pt-BR" dirty="0"/>
              <a:t>Logaritmo neperiano é a função inversa da função exponencial de e.</a:t>
            </a:r>
          </a:p>
          <a:p>
            <a:pPr algn="just"/>
            <a:r>
              <a:rPr lang="pt-BR" dirty="0" err="1"/>
              <a:t>Ln</a:t>
            </a:r>
            <a:r>
              <a:rPr lang="pt-BR" dirty="0"/>
              <a:t> = 1/e</a:t>
            </a:r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6509577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4EC97B-7050-3388-6E21-E8DE84FE6F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77112B-4A8C-AEAB-C058-8315C4FD65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Distribuição Uniforme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CF81CAE-C450-A8FC-1440-9B040100F6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3782" y="2466109"/>
            <a:ext cx="10016835" cy="3810000"/>
          </a:xfrm>
        </p:spPr>
        <p:txBody>
          <a:bodyPr>
            <a:normAutofit/>
          </a:bodyPr>
          <a:lstStyle/>
          <a:p>
            <a:pPr algn="just"/>
            <a:r>
              <a:rPr lang="pt-BR" dirty="0"/>
              <a:t>É um modelo onde todos os resultados de um determinado intervalo têm a mesma probabilidade de ocorrer. </a:t>
            </a:r>
          </a:p>
          <a:p>
            <a:pPr algn="just"/>
            <a:r>
              <a:rPr lang="pt-BR" dirty="0"/>
              <a:t>Isso significa que, para uma variável aleatória que segue esta distribuição, qualquer ponto dentro do seu intervalo de definição é igualmente provável de ser o resultado. </a:t>
            </a:r>
          </a:p>
          <a:p>
            <a:pPr algn="just"/>
            <a:r>
              <a:rPr lang="pt-BR" dirty="0"/>
              <a:t>É a distribuição contínua mais simples, frequentemente visualizada como um retângulo em um gráfico, e é usada quando os eventos são equiprováveis. </a:t>
            </a:r>
          </a:p>
        </p:txBody>
      </p:sp>
    </p:spTree>
    <p:extLst>
      <p:ext uri="{BB962C8B-B14F-4D97-AF65-F5344CB8AC3E}">
        <p14:creationId xmlns:p14="http://schemas.microsoft.com/office/powerpoint/2010/main" val="403271691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7A91EC-1DF7-116F-9CF8-45ACD0338C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0BCD33-9632-D564-CB71-0365A6E2D9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Características Principais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6FF3A63-FFEA-A6CD-D666-EEAA567A8A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3782" y="2466109"/>
            <a:ext cx="10016835" cy="3810000"/>
          </a:xfrm>
        </p:spPr>
        <p:txBody>
          <a:bodyPr>
            <a:normAutofit fontScale="92500"/>
          </a:bodyPr>
          <a:lstStyle/>
          <a:p>
            <a:pPr algn="just"/>
            <a:r>
              <a:rPr lang="pt-BR" b="1" dirty="0"/>
              <a:t>Resultados Equiprováveis: </a:t>
            </a:r>
            <a:r>
              <a:rPr lang="pt-BR" dirty="0"/>
              <a:t>A probabilidade de cada resultado dentro do intervalo é constante. </a:t>
            </a:r>
          </a:p>
          <a:p>
            <a:pPr algn="just"/>
            <a:r>
              <a:rPr lang="pt-BR" b="1" dirty="0"/>
              <a:t>Distribuição Contínua: </a:t>
            </a:r>
            <a:r>
              <a:rPr lang="pt-BR" dirty="0"/>
              <a:t>Ocorre com variáveis aleatórias que podem assumir qualquer valor dentro de um intervalo, como a temperatura ou a posição de um ponteiro. </a:t>
            </a:r>
          </a:p>
          <a:p>
            <a:pPr algn="just"/>
            <a:r>
              <a:rPr lang="pt-BR" b="1" dirty="0"/>
              <a:t>Forma Retangular: </a:t>
            </a:r>
            <a:r>
              <a:rPr lang="pt-BR" dirty="0"/>
              <a:t>O gráfico da sua função densidade de probabilidade tem a forma de um retângulo, onde a altura é constante e a área total (igual a 1) representa a probabilidade total. </a:t>
            </a:r>
          </a:p>
          <a:p>
            <a:pPr algn="just"/>
            <a:r>
              <a:rPr lang="pt-BR" b="1" dirty="0"/>
              <a:t>Parâmetros (a, b): </a:t>
            </a:r>
            <a:r>
              <a:rPr lang="pt-BR" dirty="0"/>
              <a:t>Geralmente, é definida por um intervalo [a, b], onde 'a' é o limite inferior e 'b' é o limite superior. </a:t>
            </a:r>
          </a:p>
        </p:txBody>
      </p:sp>
    </p:spTree>
    <p:extLst>
      <p:ext uri="{BB962C8B-B14F-4D97-AF65-F5344CB8AC3E}">
        <p14:creationId xmlns:p14="http://schemas.microsoft.com/office/powerpoint/2010/main" val="371118834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682165-8E2A-5F43-C728-A1AE47EAFA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736CD2-6A77-ADBD-CA6E-536F1F33CD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Exemplo de Distribuição Uniforme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A29FE5D-5D2B-635A-26CC-60032ABE1A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3782" y="2466109"/>
            <a:ext cx="10016835" cy="3810000"/>
          </a:xfrm>
        </p:spPr>
        <p:txBody>
          <a:bodyPr>
            <a:normAutofit/>
          </a:bodyPr>
          <a:lstStyle/>
          <a:p>
            <a:pPr algn="just"/>
            <a:r>
              <a:rPr lang="pt-BR" dirty="0"/>
              <a:t>Lançar um dado não viciado: Cada face do dado (1, 2, 3, 4, 5, 6) tem a mesma probabilidade de sair (1/6).</a:t>
            </a:r>
          </a:p>
          <a:p>
            <a:pPr algn="just"/>
            <a:r>
              <a:rPr lang="pt-BR" dirty="0"/>
              <a:t>Amostragem Aleatória: É fundamental para selecionar amostras de forma aleatória.</a:t>
            </a:r>
          </a:p>
          <a:p>
            <a:pPr algn="just"/>
            <a:r>
              <a:rPr lang="pt-BR" dirty="0"/>
              <a:t>Testes de Hipóteses: Usada em cenários de teste de hipóteses estatísticas.</a:t>
            </a:r>
          </a:p>
          <a:p>
            <a:pPr algn="just"/>
            <a:r>
              <a:rPr lang="pt-BR" dirty="0"/>
              <a:t>Finanças: Aplica-se em certas situações financeiras.</a:t>
            </a:r>
          </a:p>
          <a:p>
            <a:pPr algn="just"/>
            <a:r>
              <a:rPr lang="pt-BR" dirty="0"/>
              <a:t>Fenômenos Físicos: Experimentos como a emissão de partículas radioativas podem seguir essa distribuição.</a:t>
            </a:r>
          </a:p>
        </p:txBody>
      </p:sp>
    </p:spTree>
    <p:extLst>
      <p:ext uri="{BB962C8B-B14F-4D97-AF65-F5344CB8AC3E}">
        <p14:creationId xmlns:p14="http://schemas.microsoft.com/office/powerpoint/2010/main" val="16152133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DF945C-B1CD-E47A-226A-A6E26CA0FD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92ACCF-69C5-4DE2-64BA-BAFEDEBB2D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Fórmula da Função Densidade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BA78254-C959-8CF8-2C88-B53E0D7D4D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3782" y="2466109"/>
            <a:ext cx="10016835" cy="3810000"/>
          </a:xfrm>
        </p:spPr>
        <p:txBody>
          <a:bodyPr>
            <a:normAutofit/>
          </a:bodyPr>
          <a:lstStyle/>
          <a:p>
            <a:pPr algn="just"/>
            <a:r>
              <a:rPr lang="pt-BR" dirty="0"/>
              <a:t>Todos os valores dentro de um intervalo [</a:t>
            </a:r>
            <a:r>
              <a:rPr lang="pt-BR" dirty="0" err="1"/>
              <a:t>a,b</a:t>
            </a:r>
            <a:r>
              <a:rPr lang="pt-BR" dirty="0"/>
              <a:t>] são igualmente prováveis.</a:t>
            </a:r>
          </a:p>
          <a:p>
            <a:pPr algn="just"/>
            <a:r>
              <a:rPr lang="pt-BR" dirty="0"/>
              <a:t>𝑓(𝑥)= 1/(</a:t>
            </a:r>
            <a:r>
              <a:rPr lang="pt-BR" dirty="0" err="1"/>
              <a:t>b-a</a:t>
            </a:r>
            <a:r>
              <a:rPr lang="pt-BR" dirty="0"/>
              <a:t>) , </a:t>
            </a:r>
            <a:r>
              <a:rPr lang="pt-BR" dirty="0" err="1"/>
              <a:t>a≤x≤b</a:t>
            </a:r>
            <a:endParaRPr lang="pt-BR" dirty="0"/>
          </a:p>
          <a:p>
            <a:pPr algn="just"/>
            <a:r>
              <a:rPr lang="pt-BR" dirty="0"/>
              <a:t>Média = (𝑎+𝑏)/2</a:t>
            </a:r>
          </a:p>
          <a:p>
            <a:pPr algn="just"/>
            <a:r>
              <a:rPr lang="pt-BR" dirty="0"/>
              <a:t>Variância = (𝑏−𝑎)</a:t>
            </a:r>
            <a:r>
              <a:rPr lang="pt-BR" baseline="30000" dirty="0"/>
              <a:t>2</a:t>
            </a:r>
            <a:r>
              <a:rPr lang="pt-BR" dirty="0"/>
              <a:t>/12</a:t>
            </a:r>
          </a:p>
        </p:txBody>
      </p:sp>
    </p:spTree>
    <p:extLst>
      <p:ext uri="{BB962C8B-B14F-4D97-AF65-F5344CB8AC3E}">
        <p14:creationId xmlns:p14="http://schemas.microsoft.com/office/powerpoint/2010/main" val="224481567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ânico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2262</TotalTime>
  <Words>2478</Words>
  <Application>Microsoft Office PowerPoint</Application>
  <PresentationFormat>Widescreen</PresentationFormat>
  <Paragraphs>186</Paragraphs>
  <Slides>39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39</vt:i4>
      </vt:variant>
    </vt:vector>
  </HeadingPairs>
  <TitlesOfParts>
    <vt:vector size="43" baseType="lpstr">
      <vt:lpstr>Arial</vt:lpstr>
      <vt:lpstr>Calibri</vt:lpstr>
      <vt:lpstr>Garamond</vt:lpstr>
      <vt:lpstr>Orgânico</vt:lpstr>
      <vt:lpstr>Estatística Para Computação</vt:lpstr>
      <vt:lpstr>Distribuição de probabilidade</vt:lpstr>
      <vt:lpstr>Tipos de distribuições</vt:lpstr>
      <vt:lpstr>Principais Distribuições Discretas</vt:lpstr>
      <vt:lpstr>Distribuição Binomial</vt:lpstr>
      <vt:lpstr>Características da Distribuição Binomial </vt:lpstr>
      <vt:lpstr>Exemplos</vt:lpstr>
      <vt:lpstr>Cálculos da Distribuição Binomial</vt:lpstr>
      <vt:lpstr>Aplicação de Binomial no Excel</vt:lpstr>
      <vt:lpstr>Distribuição de Bernoulli</vt:lpstr>
      <vt:lpstr>Características Principais da  Distribuição de Bernoulli</vt:lpstr>
      <vt:lpstr>Exemplos</vt:lpstr>
      <vt:lpstr>Relação com a Distribuição Binomial</vt:lpstr>
      <vt:lpstr>Aplicação de Bernoulli no Excel</vt:lpstr>
      <vt:lpstr>Distribuição de Poisson</vt:lpstr>
      <vt:lpstr>Principais Características</vt:lpstr>
      <vt:lpstr>Distribuição de Poisson Condições</vt:lpstr>
      <vt:lpstr>Exemplos de Distribuição de Poisson</vt:lpstr>
      <vt:lpstr>Fórmula da Função de Probabilidade</vt:lpstr>
      <vt:lpstr>Aplicação de Poisson no Excel</vt:lpstr>
      <vt:lpstr>Principais Distribuições Contínuas</vt:lpstr>
      <vt:lpstr>Distribuição Exponencial</vt:lpstr>
      <vt:lpstr>Principais Características</vt:lpstr>
      <vt:lpstr>Fórmula da Função de Probabilidade</vt:lpstr>
      <vt:lpstr>Exemplos de Aplicação da Distribuição Exponencial</vt:lpstr>
      <vt:lpstr>Lei de Resfriamento de Newton</vt:lpstr>
      <vt:lpstr>Lei de Resfriamento de Newton</vt:lpstr>
      <vt:lpstr>Determinação do Instante da Morte</vt:lpstr>
      <vt:lpstr>Propagação de Microrganismos</vt:lpstr>
      <vt:lpstr>Propagação de Microrganismos</vt:lpstr>
      <vt:lpstr>Decaimento Radioativo (Carbono-14)</vt:lpstr>
      <vt:lpstr>Decaimento Radioativo (Carbono-14)</vt:lpstr>
      <vt:lpstr>Falha de Componentes</vt:lpstr>
      <vt:lpstr>No Excel Temos</vt:lpstr>
      <vt:lpstr>Logaritmo Neperiano</vt:lpstr>
      <vt:lpstr>Distribuição Uniforme</vt:lpstr>
      <vt:lpstr>Características Principais</vt:lpstr>
      <vt:lpstr>Exemplo de Distribuição Uniforme</vt:lpstr>
      <vt:lpstr>Fórmula da Função Densidade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Disciplina Princípios de Engenharia</dc:title>
  <dc:creator>Cahue Sbrana</dc:creator>
  <cp:lastModifiedBy>CAHUE SBRANA</cp:lastModifiedBy>
  <cp:revision>578</cp:revision>
  <dcterms:created xsi:type="dcterms:W3CDTF">2016-01-25T19:09:02Z</dcterms:created>
  <dcterms:modified xsi:type="dcterms:W3CDTF">2025-09-04T20:11:23Z</dcterms:modified>
</cp:coreProperties>
</file>