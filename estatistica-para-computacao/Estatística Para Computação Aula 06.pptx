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0"/>
  </p:notesMasterIdLst>
  <p:sldIdLst>
    <p:sldId id="256" r:id="rId2"/>
    <p:sldId id="265" r:id="rId3"/>
    <p:sldId id="266" r:id="rId4"/>
    <p:sldId id="268" r:id="rId5"/>
    <p:sldId id="296" r:id="rId6"/>
    <p:sldId id="298" r:id="rId7"/>
    <p:sldId id="302" r:id="rId8"/>
    <p:sldId id="297" r:id="rId9"/>
    <p:sldId id="299" r:id="rId10"/>
    <p:sldId id="267" r:id="rId11"/>
    <p:sldId id="269" r:id="rId12"/>
    <p:sldId id="271" r:id="rId13"/>
    <p:sldId id="270" r:id="rId14"/>
    <p:sldId id="272" r:id="rId15"/>
    <p:sldId id="273" r:id="rId16"/>
    <p:sldId id="275" r:id="rId17"/>
    <p:sldId id="276" r:id="rId18"/>
    <p:sldId id="277" r:id="rId19"/>
    <p:sldId id="280" r:id="rId20"/>
    <p:sldId id="281" r:id="rId21"/>
    <p:sldId id="274" r:id="rId22"/>
    <p:sldId id="278" r:id="rId23"/>
    <p:sldId id="279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2" r:id="rId33"/>
    <p:sldId id="293" r:id="rId34"/>
    <p:sldId id="294" r:id="rId35"/>
    <p:sldId id="300" r:id="rId36"/>
    <p:sldId id="290" r:id="rId37"/>
    <p:sldId id="295" r:id="rId38"/>
    <p:sldId id="30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6E0CE-FF79-421F-98AA-B00047F169A1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1094-2F7D-4985-A9B0-7A020E3D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85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3314480"/>
          </a:xfrm>
        </p:spPr>
        <p:txBody>
          <a:bodyPr/>
          <a:lstStyle/>
          <a:p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  <a:b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Inferência Estatística</a:t>
            </a:r>
            <a:b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Aula 06</a:t>
            </a:r>
            <a:endParaRPr lang="pt-B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Inferência Estatística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 conjunto de técnicas que objetiva estudar uma população através de evidências fornecidas por uma amostra.</a:t>
            </a:r>
          </a:p>
          <a:p>
            <a:r>
              <a:rPr lang="pt-BR" dirty="0"/>
              <a:t>População é o conjunto de todos os elementos ou resultados sob investigação.</a:t>
            </a:r>
          </a:p>
          <a:p>
            <a:r>
              <a:rPr lang="pt-BR" dirty="0"/>
              <a:t>Amostra é qualquer subconjunto da população.</a:t>
            </a:r>
          </a:p>
        </p:txBody>
      </p:sp>
    </p:spTree>
    <p:extLst>
      <p:ext uri="{BB962C8B-B14F-4D97-AF65-F5344CB8AC3E}">
        <p14:creationId xmlns:p14="http://schemas.microsoft.com/office/powerpoint/2010/main" val="204396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Inferência Estatística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79173"/>
          </a:xfrm>
        </p:spPr>
        <p:txBody>
          <a:bodyPr/>
          <a:lstStyle/>
          <a:p>
            <a:r>
              <a:rPr lang="pt-BR" dirty="0"/>
              <a:t>É fazer afirmações ou proposições sobre características de uma população, sobre um universo, baseando-se em resultados obtidos de amostras.</a:t>
            </a:r>
          </a:p>
          <a:p>
            <a:r>
              <a:rPr lang="pt-BR" dirty="0"/>
              <a:t>Dada um hipótese sobre esse universo, para o qual se quer tirar inferências, a inferência estatística consiste em primeiramente selecionar um modelo estatístico do processo que gere os dados e em seguida deduzir as proposições a partir do modelo.</a:t>
            </a:r>
          </a:p>
          <a:p>
            <a:r>
              <a:rPr lang="pt-BR" dirty="0"/>
              <a:t>Sendo assim, a maior parte dos problemas na inferência estatística podem ser considerados problemas relacionados à modelagem estatística utilizada.</a:t>
            </a:r>
          </a:p>
        </p:txBody>
      </p:sp>
    </p:spTree>
    <p:extLst>
      <p:ext uri="{BB962C8B-B14F-4D97-AF65-F5344CB8AC3E}">
        <p14:creationId xmlns:p14="http://schemas.microsoft.com/office/powerpoint/2010/main" val="168556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Respostas das Inferências são </a:t>
            </a:r>
            <a:br>
              <a:rPr lang="pt-BR" dirty="0"/>
            </a:br>
            <a:r>
              <a:rPr lang="pt-BR" dirty="0"/>
              <a:t>Proposições Estatísticas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24545"/>
            <a:ext cx="9601196" cy="3906982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Estimativa por ponto:</a:t>
            </a:r>
          </a:p>
          <a:p>
            <a:pPr marL="0" indent="0">
              <a:buNone/>
            </a:pPr>
            <a:r>
              <a:rPr lang="pt-BR" dirty="0"/>
              <a:t>Ex.: Valor particular que melhor aproxima o parâmetro de interesse;</a:t>
            </a:r>
          </a:p>
          <a:p>
            <a:r>
              <a:rPr lang="pt-BR" b="1" dirty="0"/>
              <a:t>Estimativa por intervalo:</a:t>
            </a:r>
          </a:p>
          <a:p>
            <a:pPr marL="0" indent="0">
              <a:buNone/>
            </a:pPr>
            <a:r>
              <a:rPr lang="pt-BR" dirty="0"/>
              <a:t>Ex. Um intervalo de confiança construído a partir do conjunto de dados tirados de um universo através de amostragem.</a:t>
            </a:r>
          </a:p>
          <a:p>
            <a:r>
              <a:rPr lang="pt-BR" b="1" dirty="0"/>
              <a:t>Intervalo de credibilidade:</a:t>
            </a:r>
          </a:p>
          <a:p>
            <a:pPr marL="0" indent="0">
              <a:buNone/>
            </a:pPr>
            <a:r>
              <a:rPr lang="pt-BR" dirty="0"/>
              <a:t>Ex. um conjunto de valores contendo, por exemplo, 95% de crença posterior.</a:t>
            </a:r>
          </a:p>
          <a:p>
            <a:r>
              <a:rPr lang="pt-BR" b="1" dirty="0"/>
              <a:t>Rejeição de uma hipótese.</a:t>
            </a:r>
          </a:p>
          <a:p>
            <a:r>
              <a:rPr lang="pt-BR" b="1" dirty="0" err="1"/>
              <a:t>Clustering</a:t>
            </a:r>
            <a:r>
              <a:rPr lang="pt-BR" b="1" dirty="0"/>
              <a:t> ou classificação de pontos de dados em grupos.</a:t>
            </a:r>
          </a:p>
        </p:txBody>
      </p:sp>
    </p:spTree>
    <p:extLst>
      <p:ext uri="{BB962C8B-B14F-4D97-AF65-F5344CB8AC3E}">
        <p14:creationId xmlns:p14="http://schemas.microsoft.com/office/powerpoint/2010/main" val="266740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A1F23-9129-1900-6DC3-72C9428D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da Inferência Estatística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F5AB17-E510-DF93-B832-E16FE87A4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818"/>
            <a:ext cx="9601196" cy="371301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b="1" dirty="0"/>
              <a:t>A inferência estatística é fundamental em diversas áreas, como:</a:t>
            </a:r>
          </a:p>
          <a:p>
            <a:pPr algn="just"/>
            <a:r>
              <a:rPr lang="pt-BR" b="1" dirty="0"/>
              <a:t>Pesquisa científica: </a:t>
            </a:r>
            <a:r>
              <a:rPr lang="pt-BR" dirty="0"/>
              <a:t>Para testar a eficácia de novos tratamentos médicos, a influência de fatores ambientais, etc.</a:t>
            </a:r>
          </a:p>
          <a:p>
            <a:pPr algn="just"/>
            <a:r>
              <a:rPr lang="pt-BR" b="1" dirty="0"/>
              <a:t>Marketing e negócios: </a:t>
            </a:r>
            <a:r>
              <a:rPr lang="pt-BR" dirty="0"/>
              <a:t>Para entender o comportamento do consumidor e a eficácia de campanhas publicitárias.</a:t>
            </a:r>
          </a:p>
          <a:p>
            <a:pPr algn="just"/>
            <a:r>
              <a:rPr lang="pt-BR" b="1" dirty="0"/>
              <a:t>Controle de qualidade: </a:t>
            </a:r>
            <a:r>
              <a:rPr lang="pt-BR" dirty="0"/>
              <a:t>Para verificar a qualidade de produtos fabricados em larga escala sem precisar inspecionar cada item.</a:t>
            </a:r>
          </a:p>
          <a:p>
            <a:pPr algn="just"/>
            <a:r>
              <a:rPr lang="pt-BR" b="1" dirty="0"/>
              <a:t>Pesquisas de opinião: </a:t>
            </a:r>
            <a:r>
              <a:rPr lang="pt-BR" dirty="0"/>
              <a:t>Para prever resultados de eleições a partir de uma amostra de eleitores.</a:t>
            </a:r>
          </a:p>
        </p:txBody>
      </p:sp>
    </p:spTree>
    <p:extLst>
      <p:ext uri="{BB962C8B-B14F-4D97-AF65-F5344CB8AC3E}">
        <p14:creationId xmlns:p14="http://schemas.microsoft.com/office/powerpoint/2010/main" val="2489922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BD7F-40D7-42F8-06D9-71D99DD11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2CFFC-FA05-C14D-092D-20575394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Inferência Estatística na Computação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6F76D4-E6E5-7D0A-C3D6-732E03B72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79963"/>
            <a:ext cx="9601196" cy="3754581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1200"/>
              </a:spcBef>
            </a:pPr>
            <a:r>
              <a:rPr lang="pt-BR" dirty="0"/>
              <a:t>A inferência estatística é extremamente importante para a computação, especialmente em áreas como aprendizado de máquina, inteligência artificial e ciência de dados. </a:t>
            </a:r>
          </a:p>
          <a:p>
            <a:pPr algn="just">
              <a:spcBef>
                <a:spcPts val="1200"/>
              </a:spcBef>
            </a:pPr>
            <a:r>
              <a:rPr lang="pt-BR" dirty="0"/>
              <a:t>Ela fornece as bases teóricas e as ferramentas matemáticas para que os computadores possam aprender com os dados e tomar decisões de forma inteligente.</a:t>
            </a:r>
          </a:p>
          <a:p>
            <a:pPr algn="just">
              <a:spcBef>
                <a:spcPts val="1200"/>
              </a:spcBef>
            </a:pPr>
            <a:r>
              <a:rPr lang="pt-BR" dirty="0"/>
              <a:t>Exemplos: Construção de Modelos de Machine Learning; Validação e Interpretação de Modelos Computacionais; Ciência de Dados e Análise Preditiva; Sistemas de Recomendação e Inteligência Artificial; entre outros.</a:t>
            </a:r>
          </a:p>
        </p:txBody>
      </p:sp>
    </p:spTree>
    <p:extLst>
      <p:ext uri="{BB962C8B-B14F-4D97-AF65-F5344CB8AC3E}">
        <p14:creationId xmlns:p14="http://schemas.microsoft.com/office/powerpoint/2010/main" val="197279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E8E3-782D-9811-B22D-CBE1029E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AA1A9-8F71-F60C-5619-621CBB0F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Pilares da Inferência Estatística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09830E-EB46-724D-F8E4-D1C3B52EE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/>
              <a:t>Estimação</a:t>
            </a:r>
          </a:p>
          <a:p>
            <a:pPr algn="just">
              <a:spcBef>
                <a:spcPts val="1200"/>
              </a:spcBef>
            </a:pPr>
            <a:endParaRPr lang="pt-BR" sz="3200" dirty="0"/>
          </a:p>
          <a:p>
            <a:pPr algn="just">
              <a:spcBef>
                <a:spcPts val="1200"/>
              </a:spcBef>
            </a:pPr>
            <a:r>
              <a:rPr lang="pt-BR" sz="3200" dirty="0"/>
              <a:t>Teste de Hipóteses </a:t>
            </a:r>
          </a:p>
          <a:p>
            <a:pPr algn="just">
              <a:spcBef>
                <a:spcPts val="1200"/>
              </a:spcBef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812369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CED2-F4BC-4324-8D8A-6CA16459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6C152-38FC-A0A3-7633-2FEE52ED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7AF1CC-0499-AC54-E366-CCE0F0398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4545"/>
            <a:ext cx="9857508" cy="385156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É o processo de usar os dados da amostra para calcular valores que representam os parâmetros da população (como a média, a proporção, o desvio padrão, etc.). </a:t>
            </a:r>
          </a:p>
          <a:p>
            <a:pPr marL="0" indent="0" algn="just">
              <a:buNone/>
            </a:pPr>
            <a:r>
              <a:rPr lang="pt-BR" b="1" dirty="0"/>
              <a:t>A estimação pode ser de dois tipos:</a:t>
            </a:r>
          </a:p>
          <a:p>
            <a:pPr algn="just"/>
            <a:r>
              <a:rPr lang="pt-BR" b="1" dirty="0"/>
              <a:t>Pontual: </a:t>
            </a:r>
            <a:r>
              <a:rPr lang="pt-BR" dirty="0"/>
              <a:t>Quando você dá um único valor como a melhor estimativa para o parâmetro da população.</a:t>
            </a:r>
          </a:p>
          <a:p>
            <a:pPr algn="just"/>
            <a:r>
              <a:rPr lang="pt-BR" b="1" dirty="0"/>
              <a:t>Intervalar: </a:t>
            </a:r>
            <a:r>
              <a:rPr lang="pt-BR" dirty="0"/>
              <a:t>Quando você fornece um intervalo de valores no qual o parâmetro da população provavelmente se encontra, com um certo nível de confiança.</a:t>
            </a:r>
          </a:p>
        </p:txBody>
      </p:sp>
    </p:spTree>
    <p:extLst>
      <p:ext uri="{BB962C8B-B14F-4D97-AF65-F5344CB8AC3E}">
        <p14:creationId xmlns:p14="http://schemas.microsoft.com/office/powerpoint/2010/main" val="232817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7F35-27CF-DC69-240D-B51FDE6C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8904F-CCD9-F7AC-FB3B-8667B295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de Hipóteses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BEC674-BCE4-10AD-0E18-14D09881C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É o processo de usar os dados da amostra para verificar se uma suposição ou teoria sobre a população é verdadeira. </a:t>
            </a:r>
          </a:p>
          <a:p>
            <a:pPr algn="just"/>
            <a:r>
              <a:rPr lang="pt-BR" dirty="0"/>
              <a:t>Por exemplo, você pode querer testar a hipótese de que um novo medicamento reduz a pressão arterial. </a:t>
            </a:r>
          </a:p>
          <a:p>
            <a:pPr algn="just"/>
            <a:r>
              <a:rPr lang="pt-BR" dirty="0"/>
              <a:t>Você pegaria uma amostra de pacientes, testaria o medicamento e usaria os dados para decidir se a hipótese é aceitável ou não.</a:t>
            </a:r>
          </a:p>
        </p:txBody>
      </p:sp>
    </p:spTree>
    <p:extLst>
      <p:ext uri="{BB962C8B-B14F-4D97-AF65-F5344CB8AC3E}">
        <p14:creationId xmlns:p14="http://schemas.microsoft.com/office/powerpoint/2010/main" val="4369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Estimação X Teste 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91654" y="2478507"/>
            <a:ext cx="4704346" cy="37177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800" b="1" dirty="0"/>
              <a:t>Estimação</a:t>
            </a:r>
          </a:p>
          <a:p>
            <a:r>
              <a:rPr lang="pt-BR" dirty="0"/>
              <a:t>Qual é a probabilidade de "cara“ no lançamento de uma moeda?</a:t>
            </a:r>
          </a:p>
          <a:p>
            <a:r>
              <a:rPr lang="pt-BR" dirty="0"/>
              <a:t>Qual é a proporção de votos que o candidato A tem nas eleições?</a:t>
            </a:r>
          </a:p>
          <a:p>
            <a:r>
              <a:rPr lang="pt-BR" dirty="0"/>
              <a:t>Qual é a proporção de motoristas que tiveram sua carteira apreendida após a vigência da nova lei de trânsito?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6456223" y="2478507"/>
            <a:ext cx="4800599" cy="37177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00" b="1" dirty="0"/>
              <a:t>Teste de Hipóteses</a:t>
            </a:r>
          </a:p>
          <a:p>
            <a:r>
              <a:rPr lang="pt-BR" dirty="0"/>
              <a:t>A moeda é honesta ou é desequilibrada?</a:t>
            </a:r>
          </a:p>
          <a:p>
            <a:r>
              <a:rPr lang="pt-BR" dirty="0"/>
              <a:t>O candidato A vencerá as eleições?</a:t>
            </a:r>
          </a:p>
          <a:p>
            <a:r>
              <a:rPr lang="pt-BR" dirty="0"/>
              <a:t>Pelo menos 2% dos motoristas habilitados de SP tiveram suas carteiras apreendidas após a entrada da nova lei do trânsito ou não?</a:t>
            </a:r>
          </a:p>
        </p:txBody>
      </p:sp>
    </p:spTree>
    <p:extLst>
      <p:ext uri="{BB962C8B-B14F-4D97-AF65-F5344CB8AC3E}">
        <p14:creationId xmlns:p14="http://schemas.microsoft.com/office/powerpoint/2010/main" val="1636313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e Suposições Estatísticas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27300"/>
          </a:xfrm>
        </p:spPr>
        <p:txBody>
          <a:bodyPr>
            <a:normAutofit/>
          </a:bodyPr>
          <a:lstStyle/>
          <a:p>
            <a:r>
              <a:rPr lang="pt-BR" dirty="0"/>
              <a:t>Qualquer inferência estatística requer algumas suposições. </a:t>
            </a:r>
          </a:p>
          <a:p>
            <a:r>
              <a:rPr lang="pt-BR" dirty="0"/>
              <a:t>Um modelo estatístico é um conjunto de suposições preocupadas com a geração dos dados observados e seus similares. </a:t>
            </a:r>
          </a:p>
          <a:p>
            <a:r>
              <a:rPr lang="pt-BR" dirty="0"/>
              <a:t>Descrições de modelos estatísticos normalmente enfatizam o papel das quantidades de universo de interesse, sobre os quais desejamos tirar inferência.</a:t>
            </a:r>
          </a:p>
        </p:txBody>
      </p:sp>
    </p:spTree>
    <p:extLst>
      <p:ext uri="{BB962C8B-B14F-4D97-AF65-F5344CB8AC3E}">
        <p14:creationId xmlns:p14="http://schemas.microsoft.com/office/powerpoint/2010/main" val="3643790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Suposições de Modelagem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sz="2800" dirty="0"/>
              <a:t>Paramétrico.</a:t>
            </a:r>
          </a:p>
          <a:p>
            <a:pPr>
              <a:spcBef>
                <a:spcPts val="1200"/>
              </a:spcBef>
            </a:pPr>
            <a:r>
              <a:rPr lang="pt-BR" sz="2800" dirty="0"/>
              <a:t>Não-paramétrico.</a:t>
            </a:r>
          </a:p>
          <a:p>
            <a:pPr>
              <a:spcBef>
                <a:spcPts val="1200"/>
              </a:spcBef>
            </a:pPr>
            <a:r>
              <a:rPr lang="pt-BR" sz="2800" dirty="0" err="1"/>
              <a:t>Semi-paramétrico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489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Paramétrico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7542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As distribuições de probabilidade descrevendo o processo de geração de dados são assumidas como completamente descritas por uma família de distribuições de probabilidade envolvendo apenas um número finito de parâmetros desconhecidos.</a:t>
            </a:r>
          </a:p>
          <a:p>
            <a:r>
              <a:rPr lang="pt-BR" dirty="0"/>
              <a:t>Por exemplo, um pode assumir que a distribuição dos valores do universo é verdadeiramente Normal, com média e variação desconhecidas, e que os conjuntos de dados são gerados pela amostragem aleatória "simples". </a:t>
            </a:r>
          </a:p>
          <a:p>
            <a:r>
              <a:rPr lang="pt-BR" dirty="0"/>
              <a:t>A família de modelos lineares generalizados é uma classe amplamente usada e flexível de modelos paramétricos.</a:t>
            </a:r>
          </a:p>
        </p:txBody>
      </p:sp>
    </p:spTree>
    <p:extLst>
      <p:ext uri="{BB962C8B-B14F-4D97-AF65-F5344CB8AC3E}">
        <p14:creationId xmlns:p14="http://schemas.microsoft.com/office/powerpoint/2010/main" val="659488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Não-paramétrico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suposições feitas sobre o processo de geração </a:t>
            </a:r>
            <a:r>
              <a:rPr lang="pt-BR"/>
              <a:t>de dados </a:t>
            </a:r>
            <a:r>
              <a:rPr lang="pt-BR" dirty="0"/>
              <a:t>são muito menores que nas estatísticas paramétricas e podem ser mínimas.</a:t>
            </a:r>
          </a:p>
          <a:p>
            <a:r>
              <a:rPr lang="pt-BR" dirty="0"/>
              <a:t>Por exemplo, toda distribuição de probabilidade contínua tem um valor médio, o qual pode ser estimado usando a média da amostragem ou o estimador de </a:t>
            </a:r>
            <a:r>
              <a:rPr lang="pt-BR" dirty="0" err="1"/>
              <a:t>Hodges-Lehmann</a:t>
            </a:r>
            <a:r>
              <a:rPr lang="pt-BR" dirty="0"/>
              <a:t>, o qual tem boas propriedades quando os dados surgem desde amostragens aleatórias simples.</a:t>
            </a:r>
          </a:p>
        </p:txBody>
      </p:sp>
    </p:spTree>
    <p:extLst>
      <p:ext uri="{BB962C8B-B14F-4D97-AF65-F5344CB8AC3E}">
        <p14:creationId xmlns:p14="http://schemas.microsoft.com/office/powerpoint/2010/main" val="3376492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Semi-paramétrico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7542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Este termo tipicamente implica suposições entre abordagens paramétricas e não-paramétricas. </a:t>
            </a:r>
          </a:p>
          <a:p>
            <a:r>
              <a:rPr lang="pt-BR" dirty="0"/>
              <a:t>Por exemplo, um pode assumir que uma distribuição de população tem uma média finita.</a:t>
            </a:r>
          </a:p>
          <a:p>
            <a:r>
              <a:rPr lang="pt-BR" dirty="0"/>
              <a:t>Um pode assumir que o nível de resposta média na população depende, de forma verdadeiramente linear, de algumas </a:t>
            </a:r>
            <a:r>
              <a:rPr lang="pt-BR" dirty="0" err="1"/>
              <a:t>co-variações</a:t>
            </a:r>
            <a:r>
              <a:rPr lang="pt-BR" dirty="0"/>
              <a:t> (uma suposição paramétrica) mas não fazer qualquer suposição paramétrica descrevendo a variação ao redor da média.</a:t>
            </a:r>
          </a:p>
          <a:p>
            <a:r>
              <a:rPr lang="pt-BR" dirty="0"/>
              <a:t>Em resumo, um componente é tratado de forma paramétrica e o outro não.</a:t>
            </a:r>
          </a:p>
        </p:txBody>
      </p:sp>
    </p:spTree>
    <p:extLst>
      <p:ext uri="{BB962C8B-B14F-4D97-AF65-F5344CB8AC3E}">
        <p14:creationId xmlns:p14="http://schemas.microsoft.com/office/powerpoint/2010/main" val="2187204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simples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84739"/>
            <a:ext cx="9601196" cy="3819807"/>
          </a:xfrm>
        </p:spPr>
        <p:txBody>
          <a:bodyPr>
            <a:normAutofit/>
          </a:bodyPr>
          <a:lstStyle/>
          <a:p>
            <a:r>
              <a:rPr lang="pt-BR" dirty="0"/>
              <a:t>Queremos estimar valores de determinada variável </a:t>
            </a:r>
            <a:r>
              <a:rPr lang="pt-BR" b="1" dirty="0"/>
              <a:t>y</a:t>
            </a:r>
            <a:r>
              <a:rPr lang="pt-BR" dirty="0"/>
              <a:t>. Para isso, consideramos os valores de outra variável </a:t>
            </a:r>
            <a:r>
              <a:rPr lang="pt-BR" b="1" dirty="0"/>
              <a:t>x</a:t>
            </a:r>
            <a:r>
              <a:rPr lang="pt-BR" dirty="0"/>
              <a:t> que acreditamos ter poder de explicação sobre </a:t>
            </a:r>
            <a:r>
              <a:rPr lang="pt-BR" b="1" dirty="0"/>
              <a:t>y</a:t>
            </a:r>
            <a:r>
              <a:rPr lang="pt-BR" dirty="0"/>
              <a:t> conforme a fórmula:</a:t>
            </a:r>
          </a:p>
          <a:p>
            <a:r>
              <a:rPr lang="pt-BR" dirty="0"/>
              <a:t>onde:</a:t>
            </a:r>
          </a:p>
          <a:p>
            <a:r>
              <a:rPr lang="el-GR" sz="3200" dirty="0"/>
              <a:t>α</a:t>
            </a:r>
            <a:r>
              <a:rPr lang="pt-BR" dirty="0"/>
              <a:t>: Parâmetro do modelo chamado de constante (porque não depende de ).</a:t>
            </a:r>
          </a:p>
          <a:p>
            <a:r>
              <a:rPr lang="el-GR" sz="3200" dirty="0"/>
              <a:t>β</a:t>
            </a:r>
            <a:r>
              <a:rPr lang="pt-BR" dirty="0"/>
              <a:t>: Parâmetro do modelo chamado de coeficiente da variável .</a:t>
            </a:r>
          </a:p>
          <a:p>
            <a:r>
              <a:rPr lang="el-GR" sz="3200" dirty="0"/>
              <a:t>ε</a:t>
            </a:r>
            <a:r>
              <a:rPr lang="pt-BR" dirty="0"/>
              <a:t>: Erro - representa a variação de que não é explicada pelo modelo.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965" y="3264316"/>
            <a:ext cx="2741233" cy="4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05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simples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75426"/>
          </a:xfrm>
        </p:spPr>
        <p:txBody>
          <a:bodyPr>
            <a:normAutofit/>
          </a:bodyPr>
          <a:lstStyle/>
          <a:p>
            <a:r>
              <a:rPr lang="pt-BR" dirty="0"/>
              <a:t>Partindo de uma base de dados com </a:t>
            </a:r>
            <a:r>
              <a:rPr lang="pt-BR" b="1" dirty="0"/>
              <a:t>n</a:t>
            </a:r>
            <a:r>
              <a:rPr lang="pt-BR" dirty="0"/>
              <a:t> valores observados de </a:t>
            </a:r>
            <a:r>
              <a:rPr lang="pt-BR" b="1" dirty="0"/>
              <a:t>x</a:t>
            </a:r>
            <a:r>
              <a:rPr lang="pt-BR" dirty="0"/>
              <a:t> e de </a:t>
            </a:r>
            <a:r>
              <a:rPr lang="pt-BR" b="1" dirty="0"/>
              <a:t>y</a:t>
            </a:r>
            <a:r>
              <a:rPr lang="pt-BR" dirty="0"/>
              <a:t>. </a:t>
            </a:r>
          </a:p>
          <a:p>
            <a:r>
              <a:rPr lang="pt-BR" dirty="0"/>
              <a:t>Usando essa base de dados, </a:t>
            </a:r>
            <a:r>
              <a:rPr lang="pt-BR" b="1" dirty="0"/>
              <a:t>x</a:t>
            </a:r>
            <a:r>
              <a:rPr lang="pt-BR" dirty="0"/>
              <a:t> e </a:t>
            </a:r>
            <a:r>
              <a:rPr lang="pt-BR" b="1" dirty="0"/>
              <a:t>y</a:t>
            </a:r>
            <a:r>
              <a:rPr lang="pt-BR" dirty="0"/>
              <a:t> representam uma lista de valores, um para cada observação da base de dados.</a:t>
            </a:r>
          </a:p>
          <a:p>
            <a:r>
              <a:rPr lang="pt-BR" dirty="0"/>
              <a:t>O método dos mínimos quadrados ajuda a encontrar as estimativas de </a:t>
            </a:r>
            <a:r>
              <a:rPr lang="el-GR" sz="2600" b="1" dirty="0"/>
              <a:t>α</a:t>
            </a:r>
            <a:r>
              <a:rPr lang="el-GR" dirty="0"/>
              <a:t> </a:t>
            </a:r>
            <a:r>
              <a:rPr lang="pt-BR" dirty="0"/>
              <a:t>e </a:t>
            </a:r>
            <a:r>
              <a:rPr lang="el-GR" sz="2800" b="1" dirty="0"/>
              <a:t>β</a:t>
            </a:r>
            <a:r>
              <a:rPr lang="pt-BR" dirty="0"/>
              <a:t>. </a:t>
            </a:r>
          </a:p>
          <a:p>
            <a:r>
              <a:rPr lang="pt-BR" dirty="0"/>
              <a:t>Como o nome diz, serão somente estimativas desses parâmetros, porque o valor real dos parâmetros são desconhecidos.</a:t>
            </a:r>
          </a:p>
        </p:txBody>
      </p:sp>
    </p:spTree>
    <p:extLst>
      <p:ext uri="{BB962C8B-B14F-4D97-AF65-F5344CB8AC3E}">
        <p14:creationId xmlns:p14="http://schemas.microsoft.com/office/powerpoint/2010/main" val="396806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simples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1526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Ao se fazer uma estimativa, mudamos a nomenclatura de algumas variáveis: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l-GR" sz="3600" b="1" dirty="0"/>
              <a:t>α</a:t>
            </a:r>
            <a:r>
              <a:rPr lang="pt-BR" sz="2800" dirty="0"/>
              <a:t> =&gt; 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l-GR" sz="3600" b="1" dirty="0"/>
              <a:t>β</a:t>
            </a:r>
            <a:r>
              <a:rPr lang="pt-BR" sz="2800" dirty="0"/>
              <a:t> =&gt; b.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l-GR" sz="3600" b="1" dirty="0"/>
              <a:t>ε</a:t>
            </a:r>
            <a:r>
              <a:rPr lang="pt-BR" sz="2800" dirty="0"/>
              <a:t> =&gt; e.</a:t>
            </a:r>
          </a:p>
          <a:p>
            <a:r>
              <a:rPr lang="pt-BR" dirty="0"/>
              <a:t>Onde</a:t>
            </a:r>
            <a:r>
              <a:rPr lang="pt-BR" sz="3200" dirty="0"/>
              <a:t> </a:t>
            </a:r>
            <a:r>
              <a:rPr lang="pt-BR" sz="3200" b="1" dirty="0"/>
              <a:t>i</a:t>
            </a:r>
            <a:r>
              <a:rPr lang="pt-BR" sz="3200" dirty="0"/>
              <a:t> </a:t>
            </a:r>
            <a:r>
              <a:rPr lang="pt-BR" dirty="0"/>
              <a:t>indica cada uma das </a:t>
            </a:r>
            <a:r>
              <a:rPr lang="pt-BR" sz="3200" b="1" dirty="0"/>
              <a:t>n</a:t>
            </a:r>
            <a:r>
              <a:rPr lang="pt-BR" dirty="0"/>
              <a:t> observações da base de dados e</a:t>
            </a:r>
            <a:r>
              <a:rPr lang="pt-BR" b="1" dirty="0"/>
              <a:t> </a:t>
            </a:r>
            <a:r>
              <a:rPr lang="pt-BR" sz="3200" b="1" dirty="0" err="1"/>
              <a:t>e</a:t>
            </a:r>
            <a:r>
              <a:rPr lang="pt-BR" b="1" dirty="0"/>
              <a:t> </a:t>
            </a:r>
            <a:r>
              <a:rPr lang="pt-BR" dirty="0"/>
              <a:t>passa a ser chamado de resíduo, ao invés de erro.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426" y="3691438"/>
            <a:ext cx="4070170" cy="86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85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múltipla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321" y="4176375"/>
            <a:ext cx="7919357" cy="914400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435768" y="2516015"/>
            <a:ext cx="9296399" cy="1430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regressão múltipla apresenta um funcionamento parecido com o da regressão simples, porém, leva em consideração diversas variáveis explicativas influenciando ao mesmo tempo:</a:t>
            </a:r>
          </a:p>
        </p:txBody>
      </p:sp>
    </p:spTree>
    <p:extLst>
      <p:ext uri="{BB962C8B-B14F-4D97-AF65-F5344CB8AC3E}">
        <p14:creationId xmlns:p14="http://schemas.microsoft.com/office/powerpoint/2010/main" val="2082592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múltipla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usar a base de dados com </a:t>
            </a:r>
            <a:r>
              <a:rPr lang="pt-BR" sz="2800" b="1" dirty="0"/>
              <a:t>k</a:t>
            </a:r>
            <a:r>
              <a:rPr lang="pt-BR" dirty="0"/>
              <a:t> variáveis explicativas e </a:t>
            </a:r>
            <a:r>
              <a:rPr lang="pt-BR" sz="2800" b="1" dirty="0"/>
              <a:t>n</a:t>
            </a:r>
            <a:r>
              <a:rPr lang="pt-BR" dirty="0"/>
              <a:t> observações, o modelo pode ser escrito na forma matricial: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916" y="3521618"/>
            <a:ext cx="7122201" cy="23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70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dos 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30381"/>
            <a:ext cx="9601196" cy="389823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É uma técnica de otimização matemática que procura encontrar o melhor ajuste para um conjunto de dados tentando minimizar a soma dos quadrados das diferenças entre o valor estimado e os dados observados.</a:t>
            </a:r>
          </a:p>
          <a:p>
            <a:r>
              <a:rPr lang="pt-BR" dirty="0"/>
              <a:t>Consiste em um estimador que minimiza a soma dos quadrados dos resíduos da regressão, de forma a maximizar o grau de ajuste do modelo aos dados observados.</a:t>
            </a:r>
          </a:p>
          <a:p>
            <a:r>
              <a:rPr lang="pt-BR" dirty="0"/>
              <a:t>Um requisito para o método dos mínimos quadrados é que o fator imprevisível (erro) seja distribuído aleatoriamente, essa distribuição seja normal e independente.</a:t>
            </a:r>
          </a:p>
          <a:p>
            <a:r>
              <a:rPr lang="pt-BR" dirty="0"/>
              <a:t>Outro requisito é que o modelo é linear</a:t>
            </a:r>
          </a:p>
        </p:txBody>
      </p:sp>
    </p:spTree>
    <p:extLst>
      <p:ext uri="{BB962C8B-B14F-4D97-AF65-F5344CB8AC3E}">
        <p14:creationId xmlns:p14="http://schemas.microsoft.com/office/powerpoint/2010/main" val="787345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dos 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86668"/>
          </a:xfrm>
        </p:spPr>
        <p:txBody>
          <a:bodyPr/>
          <a:lstStyle/>
          <a:p>
            <a:r>
              <a:rPr lang="pt-BR" dirty="0"/>
              <a:t>O método dos mínimos quadrados minimiza a soma dos quadrado dos resíduos, ou seja, minimiza</a:t>
            </a:r>
          </a:p>
          <a:p>
            <a:endParaRPr lang="pt-BR" dirty="0"/>
          </a:p>
          <a:p>
            <a:r>
              <a:rPr lang="pt-BR" dirty="0"/>
              <a:t>Substituindo </a:t>
            </a:r>
            <a:r>
              <a:rPr lang="pt-BR" sz="2800" b="1" dirty="0"/>
              <a:t>e</a:t>
            </a:r>
            <a:r>
              <a:rPr lang="pt-BR" b="1" dirty="0"/>
              <a:t>i</a:t>
            </a:r>
            <a:r>
              <a:rPr lang="pt-BR" dirty="0"/>
              <a:t> por </a:t>
            </a:r>
            <a:r>
              <a:rPr lang="pt-BR" sz="2800" b="1" dirty="0" err="1"/>
              <a:t>y</a:t>
            </a:r>
            <a:r>
              <a:rPr lang="pt-BR" b="1" dirty="0" err="1"/>
              <a:t>i</a:t>
            </a:r>
            <a:r>
              <a:rPr lang="pt-BR" b="1" dirty="0"/>
              <a:t> – a –</a:t>
            </a:r>
            <a:r>
              <a:rPr lang="pt-BR" b="1" dirty="0" err="1"/>
              <a:t>b</a:t>
            </a:r>
            <a:r>
              <a:rPr lang="pt-BR" sz="2800" b="1" dirty="0" err="1"/>
              <a:t>x</a:t>
            </a:r>
            <a:r>
              <a:rPr lang="pt-BR" b="1" dirty="0" err="1"/>
              <a:t>i</a:t>
            </a:r>
            <a:r>
              <a:rPr lang="pt-BR" dirty="0"/>
              <a:t>, temos: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4903867" y="2896853"/>
            <a:ext cx="723900" cy="84772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537" y="4752474"/>
            <a:ext cx="4421857" cy="97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27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dos 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39331"/>
          </a:xfrm>
        </p:spPr>
        <p:txBody>
          <a:bodyPr/>
          <a:lstStyle/>
          <a:p>
            <a:r>
              <a:rPr lang="pt-BR" dirty="0"/>
              <a:t>A minimização se dá ao derivar             em relação a </a:t>
            </a:r>
            <a:r>
              <a:rPr lang="pt-BR" sz="2800" b="1" dirty="0" err="1"/>
              <a:t>a</a:t>
            </a:r>
            <a:r>
              <a:rPr lang="pt-BR" dirty="0"/>
              <a:t> e </a:t>
            </a:r>
            <a:r>
              <a:rPr lang="pt-BR" sz="2800" b="1" dirty="0"/>
              <a:t>b</a:t>
            </a:r>
            <a:r>
              <a:rPr lang="pt-BR" dirty="0"/>
              <a:t>, e igualar a zero: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317" y="2580997"/>
            <a:ext cx="801700" cy="42514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1" y="3165781"/>
            <a:ext cx="4365298" cy="188447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71" y="3314277"/>
            <a:ext cx="1797898" cy="52379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997" y="4379495"/>
            <a:ext cx="3232880" cy="1158687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440" y="5538182"/>
            <a:ext cx="6341065" cy="50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14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Consideremos a seguinte tabela de valores de uma função y = f(x): 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203" y="3269414"/>
            <a:ext cx="6685920" cy="142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30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0179" y="2556932"/>
            <a:ext cx="7218952" cy="3555110"/>
          </a:xfrm>
        </p:spPr>
        <p:txBody>
          <a:bodyPr>
            <a:normAutofit/>
          </a:bodyPr>
          <a:lstStyle/>
          <a:p>
            <a:r>
              <a:rPr lang="pt-BR" dirty="0"/>
              <a:t>Pretende-se estimar valores da função em pontos não tabelados. </a:t>
            </a:r>
          </a:p>
          <a:p>
            <a:r>
              <a:rPr lang="pt-BR" dirty="0"/>
              <a:t>Designando por f(x) tal função: f(xi ) = </a:t>
            </a:r>
            <a:r>
              <a:rPr lang="pt-BR" dirty="0" err="1"/>
              <a:t>yi</a:t>
            </a:r>
            <a:r>
              <a:rPr lang="pt-BR" dirty="0"/>
              <a:t> , i= 1, 2, 3 e 4.</a:t>
            </a:r>
          </a:p>
          <a:p>
            <a:r>
              <a:rPr lang="pt-BR" dirty="0"/>
              <a:t> Representando em eixos cartesianos o conjunto de pontos da tabela: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131" y="2467587"/>
            <a:ext cx="3350544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04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394283"/>
            <a:ext cx="9942093" cy="389823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Verifica-se que os pontos se dispõem quase em linha reta (representação gráfica de um polinómio do 1º grau). </a:t>
            </a:r>
          </a:p>
          <a:p>
            <a:r>
              <a:rPr lang="pt-BR" dirty="0"/>
              <a:t>Se usarmos essa linha reta para aproximar os valores de f(x), essa função “não passará” pelos pontos tabelados, ou melhor dizendo, não será interpoladora de f(x), nesses mesmos pontos.</a:t>
            </a:r>
          </a:p>
          <a:p>
            <a:r>
              <a:rPr lang="pt-BR" dirty="0"/>
              <a:t>Em vez de um polinómio interpolador de f(x), pode usar-se a reta que “passe mais próximo” dos pontos tabelados, ou seja que minimize a soma das distâncias dos pontos tabelados à reta. </a:t>
            </a:r>
          </a:p>
          <a:p>
            <a:r>
              <a:rPr lang="pt-BR" dirty="0"/>
              <a:t>Mas minimizar a soma das distâncias dos pontos tabelados à reta é equivalente a minimizar a soma dos quadrados das distâncias dos pontos tabelados à reta. </a:t>
            </a:r>
          </a:p>
        </p:txBody>
      </p:sp>
    </p:spTree>
    <p:extLst>
      <p:ext uri="{BB962C8B-B14F-4D97-AF65-F5344CB8AC3E}">
        <p14:creationId xmlns:p14="http://schemas.microsoft.com/office/powerpoint/2010/main" val="311556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6597315" cy="3661022"/>
          </a:xfrm>
        </p:spPr>
        <p:txBody>
          <a:bodyPr/>
          <a:lstStyle/>
          <a:p>
            <a:r>
              <a:rPr lang="pt-BR" dirty="0"/>
              <a:t>A aproximação por mínimos quadrados consiste em encontrar a função que “melhor se ajuste”, ao conjunto de pontos dado, minimizando o erro resultante do ajustamento, ou seja, pretende-se minimizar a soma dos quadrados das diferenças entre os valores tabelados e os valores obtidos pela aproximação.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16" y="2451527"/>
            <a:ext cx="3513221" cy="376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57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Designando </a:t>
            </a:r>
            <a:r>
              <a:rPr lang="pt-BR" dirty="0" err="1"/>
              <a:t>ax</a:t>
            </a:r>
            <a:r>
              <a:rPr lang="pt-BR" baseline="-25000" dirty="0" err="1"/>
              <a:t>i</a:t>
            </a:r>
            <a:r>
              <a:rPr lang="pt-BR" dirty="0"/>
              <a:t> + b, o i-</a:t>
            </a:r>
            <a:r>
              <a:rPr lang="pt-BR" dirty="0" err="1"/>
              <a:t>ésimo</a:t>
            </a:r>
            <a:r>
              <a:rPr lang="pt-BR" dirty="0"/>
              <a:t> valor dado pela aproximação, o problema consiste em encontrar as constantes a e b que minimizam:</a:t>
            </a:r>
          </a:p>
          <a:p>
            <a:endParaRPr lang="pt-BR" dirty="0"/>
          </a:p>
          <a:p>
            <a:r>
              <a:rPr lang="pt-BR" dirty="0"/>
              <a:t>No exemplo apresentado, o problema reduz-se a encontrar as constantes a e b que minimizam.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t="11978" b="14032"/>
          <a:stretch/>
        </p:blipFill>
        <p:spPr>
          <a:xfrm>
            <a:off x="4386261" y="3332747"/>
            <a:ext cx="2316246" cy="69783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371" y="4776540"/>
            <a:ext cx="9456106" cy="128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29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54442"/>
            <a:ext cx="9601196" cy="3838074"/>
          </a:xfrm>
        </p:spPr>
        <p:txBody>
          <a:bodyPr>
            <a:normAutofit/>
          </a:bodyPr>
          <a:lstStyle/>
          <a:p>
            <a:r>
              <a:rPr lang="pt-BR" dirty="0"/>
              <a:t>Se considerar uma função de duas variáveis, para que um par ordenado (</a:t>
            </a:r>
            <a:r>
              <a:rPr lang="pt-BR" dirty="0" err="1"/>
              <a:t>a,b</a:t>
            </a:r>
            <a:r>
              <a:rPr lang="pt-BR" dirty="0"/>
              <a:t>) seja um mínimo local é condição necessária (não suficiente) que as derivadas parciais da função em ordem a </a:t>
            </a:r>
            <a:r>
              <a:rPr lang="pt-BR" b="1" dirty="0" err="1"/>
              <a:t>a</a:t>
            </a:r>
            <a:r>
              <a:rPr lang="pt-BR" dirty="0"/>
              <a:t> e </a:t>
            </a:r>
            <a:r>
              <a:rPr lang="pt-BR" b="1" dirty="0"/>
              <a:t>b</a:t>
            </a:r>
            <a:r>
              <a:rPr lang="pt-BR" dirty="0"/>
              <a:t> se anulem em (</a:t>
            </a:r>
            <a:r>
              <a:rPr lang="pt-BR" dirty="0" err="1"/>
              <a:t>a,b</a:t>
            </a:r>
            <a:r>
              <a:rPr lang="pt-BR" dirty="0"/>
              <a:t>), ou seja: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Onde para este exemplo, 30a + 5b = 134 e 20a + 4b = 81. </a:t>
            </a:r>
          </a:p>
          <a:p>
            <a:r>
              <a:rPr lang="pt-BR" dirty="0"/>
              <a:t>A solução deste sistema de equações lineares é a = 6,55 e b = - 12,5, logo a função </a:t>
            </a:r>
            <a:r>
              <a:rPr lang="pt-BR" dirty="0" err="1"/>
              <a:t>aproximadora</a:t>
            </a:r>
            <a:r>
              <a:rPr lang="pt-BR" dirty="0"/>
              <a:t> pretendida é:  </a:t>
            </a:r>
            <a:r>
              <a:rPr lang="pt-BR" b="1" dirty="0"/>
              <a:t>f(x) = 6,55x – 12,5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t="15661" b="9242"/>
          <a:stretch/>
        </p:blipFill>
        <p:spPr>
          <a:xfrm>
            <a:off x="1684950" y="3765884"/>
            <a:ext cx="8798034" cy="78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0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30379"/>
            <a:ext cx="9601196" cy="3826041"/>
          </a:xfrm>
        </p:spPr>
        <p:txBody>
          <a:bodyPr/>
          <a:lstStyle/>
          <a:p>
            <a:r>
              <a:rPr lang="pt-BR" dirty="0"/>
              <a:t>O problema de encontrar a reta que “melhor se ajuste” a um conjunto de pontos dado, pode então ser formulado como: </a:t>
            </a:r>
          </a:p>
          <a:p>
            <a:endParaRPr lang="pt-BR" dirty="0"/>
          </a:p>
          <a:p>
            <a:r>
              <a:rPr lang="pt-BR" dirty="0"/>
              <a:t>Para que o mínimo exista é necessário que: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t="8122" b="10500"/>
          <a:stretch/>
        </p:blipFill>
        <p:spPr>
          <a:xfrm>
            <a:off x="4483059" y="3212426"/>
            <a:ext cx="3127415" cy="74595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t="6596" b="4774"/>
          <a:stretch/>
        </p:blipFill>
        <p:spPr>
          <a:xfrm>
            <a:off x="3522117" y="4236241"/>
            <a:ext cx="5814387" cy="198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85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Aproximação por </a:t>
            </a:r>
            <a:br>
              <a:rPr lang="pt-BR" dirty="0"/>
            </a:br>
            <a:r>
              <a:rPr lang="pt-BR" dirty="0"/>
              <a:t>Mínimos Quadrados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30379"/>
            <a:ext cx="9601196" cy="3589869"/>
          </a:xfrm>
        </p:spPr>
        <p:txBody>
          <a:bodyPr/>
          <a:lstStyle/>
          <a:p>
            <a:r>
              <a:rPr lang="pt-BR" dirty="0"/>
              <a:t>Estas equações podem ser simplificadas, assumindo a seguinte forma: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que se costuma chamar equações normais, e cuja solução é: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27" y="2873034"/>
            <a:ext cx="3510324" cy="87758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73033"/>
            <a:ext cx="2747211" cy="87758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627" y="4683995"/>
            <a:ext cx="3471187" cy="133625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040" y="4683995"/>
            <a:ext cx="3603018" cy="119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01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Coeficiente de Determinação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30968" y="2436169"/>
            <a:ext cx="9765630" cy="386837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O coeficiente de determinação, também conhecido como R</a:t>
            </a:r>
            <a:r>
              <a:rPr lang="pt-BR" baseline="30000" dirty="0"/>
              <a:t>2</a:t>
            </a:r>
            <a:r>
              <a:rPr lang="pt-BR" dirty="0"/>
              <a:t>, ou simplesmente r</a:t>
            </a:r>
            <a:r>
              <a:rPr lang="pt-BR" baseline="30000" dirty="0"/>
              <a:t>2</a:t>
            </a:r>
            <a:r>
              <a:rPr lang="pt-BR" dirty="0"/>
              <a:t> para o caso de regressão linear simples, fornece uma informação auxiliar ao resultado da análise de variância da regressão, como uma maneira de se verificar se o modelo proposto é adequado ou não para descrever o fenômeno.</a:t>
            </a:r>
          </a:p>
          <a:p>
            <a:pPr algn="just"/>
            <a:r>
              <a:rPr lang="pt-BR" dirty="0"/>
              <a:t>O valor de R</a:t>
            </a:r>
            <a:r>
              <a:rPr lang="pt-BR" baseline="30000" dirty="0"/>
              <a:t>2</a:t>
            </a:r>
            <a:r>
              <a:rPr lang="pt-BR" dirty="0"/>
              <a:t> varia no intervalo de 0 a 1 (0&lt;R</a:t>
            </a:r>
            <a:r>
              <a:rPr lang="pt-BR" baseline="30000" dirty="0"/>
              <a:t>2</a:t>
            </a:r>
            <a:r>
              <a:rPr lang="pt-BR" dirty="0"/>
              <a:t>&lt;1). Valores próximos de 1 indicam que o modelo proposto é adequado para descrever o fenômeno, valores intermediários, próximos a 0,5 indicam que o modelo descreve de forma moderada e valores próximos de 0 indicam que é inadequado. </a:t>
            </a:r>
          </a:p>
          <a:p>
            <a:pPr algn="just"/>
            <a:r>
              <a:rPr lang="pt-BR" dirty="0"/>
              <a:t>Um R</a:t>
            </a:r>
            <a:r>
              <a:rPr lang="pt-BR" baseline="30000" dirty="0"/>
              <a:t>2</a:t>
            </a:r>
            <a:r>
              <a:rPr lang="pt-BR" dirty="0"/>
              <a:t> de 0,49 indica que as variáveis independentes explicam 49% da variação da variável dependente.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1088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Coeficiente de Determinação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0" y="2430378"/>
            <a:ext cx="10131593" cy="3741821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 R</a:t>
            </a:r>
            <a:r>
              <a:rPr lang="pt-BR" baseline="30000" dirty="0"/>
              <a:t>2</a:t>
            </a:r>
            <a:r>
              <a:rPr lang="pt-BR" dirty="0"/>
              <a:t> indica a proporção (ou porcentagem) da variação de Y que é “explicada” pela regressão, ou quanto da variação na variável dependente Y está sendo “explicada” pela variável independente X.</a:t>
            </a:r>
          </a:p>
          <a:p>
            <a:pPr algn="just"/>
            <a:endParaRPr lang="pt-BR" dirty="0"/>
          </a:p>
          <a:p>
            <a:pPr algn="just"/>
            <a:endParaRPr lang="pt-BR" sz="1200" dirty="0"/>
          </a:p>
          <a:p>
            <a:pPr algn="just"/>
            <a:r>
              <a:rPr lang="pt-BR" dirty="0"/>
              <a:t>Onde:  - n é o numero de observações;</a:t>
            </a:r>
          </a:p>
          <a:p>
            <a:pPr algn="just">
              <a:buFontTx/>
              <a:buChar char="-"/>
            </a:pPr>
            <a:r>
              <a:rPr lang="pt-BR" dirty="0"/>
              <a:t>y é o valor observado e     é a média das observações;</a:t>
            </a:r>
          </a:p>
          <a:p>
            <a:pPr algn="just">
              <a:buFontTx/>
              <a:buChar char="-"/>
            </a:pPr>
            <a:r>
              <a:rPr lang="pt-BR" dirty="0"/>
              <a:t>   é o valor estimado de </a:t>
            </a:r>
            <a:r>
              <a:rPr lang="pt-BR" dirty="0" err="1"/>
              <a:t>yi</a:t>
            </a:r>
            <a:r>
              <a:rPr lang="pt-BR" dirty="0"/>
              <a:t>.</a:t>
            </a:r>
          </a:p>
          <a:p>
            <a:pPr algn="just"/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t="11292" r="2231" b="8539"/>
          <a:stretch/>
        </p:blipFill>
        <p:spPr>
          <a:xfrm>
            <a:off x="1295401" y="3657595"/>
            <a:ext cx="3673641" cy="85424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326" y="3657595"/>
            <a:ext cx="2446422" cy="919262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519" y="3669627"/>
            <a:ext cx="2792476" cy="919262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391" y="4893261"/>
            <a:ext cx="3230475" cy="721894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031" y="5025613"/>
            <a:ext cx="297509" cy="385011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9445" y="5567144"/>
            <a:ext cx="253417" cy="34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31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R² ajustado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723552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inclusão de inúmeras variáveis, mesmo que tenham muito pouco poder explicativo sobre a variável dependente, aumentarão o valor de R².</a:t>
            </a:r>
          </a:p>
          <a:p>
            <a:pPr algn="just"/>
            <a:r>
              <a:rPr lang="pt-BR" dirty="0"/>
              <a:t> Isto incentiva a inclusão indiscriminada de variáveis. </a:t>
            </a:r>
          </a:p>
          <a:p>
            <a:pPr algn="just"/>
            <a:r>
              <a:rPr lang="pt-BR" dirty="0"/>
              <a:t>Para combater esta tendência, podemos usar uma medida alternativa do coeficiente de determinação, que penaliza a inclusão de </a:t>
            </a:r>
            <a:r>
              <a:rPr lang="pt-BR" dirty="0" err="1"/>
              <a:t>regressores</a:t>
            </a:r>
            <a:r>
              <a:rPr lang="pt-BR" dirty="0"/>
              <a:t> pouco explicativos.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Onde (k+1) representa o número de variáveis explicativas mais a constante.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54" y="4753272"/>
            <a:ext cx="5169585" cy="103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75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982D-49D9-0392-AB82-C8F2F7D4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3755A-8CD6-7128-7E11-EEBE920E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R²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41339D-77C3-F768-999E-BA5592FC4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=RQUAD(Y,X)</a:t>
            </a:r>
          </a:p>
        </p:txBody>
      </p:sp>
    </p:spTree>
    <p:extLst>
      <p:ext uri="{BB962C8B-B14F-4D97-AF65-F5344CB8AC3E}">
        <p14:creationId xmlns:p14="http://schemas.microsoft.com/office/powerpoint/2010/main" val="1609587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Coeficiente de Correlação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34718" y="2731167"/>
            <a:ext cx="10226841" cy="339290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É um valor numérico, uma medida, para o grau de associação entre duas variáveis.</a:t>
            </a:r>
          </a:p>
          <a:p>
            <a:pPr algn="just"/>
            <a:r>
              <a:rPr lang="pt-BR" dirty="0"/>
              <a:t>Se for observada uma associação entre as variáveis quantitativas (a partir de um diagrama de dispersão, por exemplo), é muito útil quantificar essa associabilidade.</a:t>
            </a:r>
          </a:p>
          <a:p>
            <a:pPr algn="just"/>
            <a:r>
              <a:rPr lang="pt-BR" dirty="0"/>
              <a:t>Existem muitos tipos de associação possíveis, sendo o mais simples o tipo de relação linear.</a:t>
            </a:r>
          </a:p>
          <a:p>
            <a:pPr algn="just"/>
            <a:r>
              <a:rPr lang="pt-BR" dirty="0"/>
              <a:t>Onde se verifica o quanto a nuvem de pontos do diagrama de dispersão se aproxima de uma reta.</a:t>
            </a:r>
          </a:p>
        </p:txBody>
      </p:sp>
    </p:spTree>
    <p:extLst>
      <p:ext uri="{BB962C8B-B14F-4D97-AF65-F5344CB8AC3E}">
        <p14:creationId xmlns:p14="http://schemas.microsoft.com/office/powerpoint/2010/main" val="34755869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Coeficiente de Correlação </a:t>
            </a:r>
            <a:r>
              <a:rPr lang="pt-PT" dirty="0"/>
              <a:t>de Pearson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Esse coeficiente deve indicar o grau de intensidade da correlação entre as duas variáveis e o sentido dessa correlação (positivo ou negativo).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555111"/>
            <a:ext cx="9448797" cy="232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46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B71A-4156-8A64-FD69-B078DD78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1B09C-78E0-F157-E57F-92923E45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Coeficiente </a:t>
            </a:r>
            <a:r>
              <a:rPr lang="pt-PT" dirty="0"/>
              <a:t>de Pearson</a:t>
            </a:r>
            <a:r>
              <a:rPr lang="pt-BR" dirty="0"/>
              <a:t>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1B0AB5-C3FD-B414-9566-05309BB1F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=PEARSON(X,Y)</a:t>
            </a:r>
          </a:p>
        </p:txBody>
      </p:sp>
    </p:spTree>
    <p:extLst>
      <p:ext uri="{BB962C8B-B14F-4D97-AF65-F5344CB8AC3E}">
        <p14:creationId xmlns:p14="http://schemas.microsoft.com/office/powerpoint/2010/main" val="1264538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2552</TotalTime>
  <Words>2275</Words>
  <Application>Microsoft Office PowerPoint</Application>
  <PresentationFormat>Widescreen</PresentationFormat>
  <Paragraphs>165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Garamond</vt:lpstr>
      <vt:lpstr>Wingdings</vt:lpstr>
      <vt:lpstr>Orgânico</vt:lpstr>
      <vt:lpstr>Estatística Para Computação  Inferência Estatística Aula 06</vt:lpstr>
      <vt:lpstr>Inferência Estatística</vt:lpstr>
      <vt:lpstr>Inferência Estatística</vt:lpstr>
      <vt:lpstr>As Respostas das Inferências são  Proposições Estatísticas</vt:lpstr>
      <vt:lpstr>Importância da Inferência Estatística</vt:lpstr>
      <vt:lpstr>Inferência Estatística na Computação</vt:lpstr>
      <vt:lpstr>Principais Pilares da Inferência Estatística</vt:lpstr>
      <vt:lpstr>Estimação </vt:lpstr>
      <vt:lpstr>Teste de Hipóteses</vt:lpstr>
      <vt:lpstr>Estimação X Teste de Hipóteses</vt:lpstr>
      <vt:lpstr>Modelos e Suposições Estatísticas</vt:lpstr>
      <vt:lpstr>Suposições de Modelagem</vt:lpstr>
      <vt:lpstr>Paramétrico</vt:lpstr>
      <vt:lpstr>Não-paramétrico</vt:lpstr>
      <vt:lpstr>Semi-paramétrico</vt:lpstr>
      <vt:lpstr>Regressão simples</vt:lpstr>
      <vt:lpstr>Regressão simples</vt:lpstr>
      <vt:lpstr>Regressão simples</vt:lpstr>
      <vt:lpstr>Regressão múltipla</vt:lpstr>
      <vt:lpstr>Regressão múltipla</vt:lpstr>
      <vt:lpstr>Método dos Mínimos Quadrados</vt:lpstr>
      <vt:lpstr>Método dos Mínimos Quadrados</vt:lpstr>
      <vt:lpstr>Método dos Mínimos Quadrados</vt:lpstr>
      <vt:lpstr>Exemplo de Aproximação por  Mínimos Quadrados</vt:lpstr>
      <vt:lpstr>Exemplo de Aproximação por  Mínimos Quadrados</vt:lpstr>
      <vt:lpstr>Exemplo de Aproximação por  Mínimos Quadrados</vt:lpstr>
      <vt:lpstr>Exemplo de Aproximação por  Mínimos Quadrados</vt:lpstr>
      <vt:lpstr>Exemplo de Aproximação por  Mínimos Quadrados</vt:lpstr>
      <vt:lpstr>Exemplo de Aproximação por  Mínimos Quadrados</vt:lpstr>
      <vt:lpstr>Exemplo de Aproximação por  Mínimos Quadrados</vt:lpstr>
      <vt:lpstr>Exemplo de Aproximação por  Mínimos Quadrados</vt:lpstr>
      <vt:lpstr>Coeficiente de Determinação</vt:lpstr>
      <vt:lpstr>Coeficiente de Determinação</vt:lpstr>
      <vt:lpstr>R² ajustado</vt:lpstr>
      <vt:lpstr>R² no Excel</vt:lpstr>
      <vt:lpstr>Coeficiente de Correlação</vt:lpstr>
      <vt:lpstr>Coeficiente de Correlação de Pearson</vt:lpstr>
      <vt:lpstr>Coeficiente de Pearson no Excel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800</cp:revision>
  <dcterms:created xsi:type="dcterms:W3CDTF">2016-01-25T19:09:02Z</dcterms:created>
  <dcterms:modified xsi:type="dcterms:W3CDTF">2025-09-13T12:11:34Z</dcterms:modified>
</cp:coreProperties>
</file>