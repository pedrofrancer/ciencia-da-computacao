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4"/>
  </p:notesMasterIdLst>
  <p:sldIdLst>
    <p:sldId id="256" r:id="rId2"/>
    <p:sldId id="265" r:id="rId3"/>
    <p:sldId id="274" r:id="rId4"/>
    <p:sldId id="266" r:id="rId5"/>
    <p:sldId id="298" r:id="rId6"/>
    <p:sldId id="275" r:id="rId7"/>
    <p:sldId id="270" r:id="rId8"/>
    <p:sldId id="267" r:id="rId9"/>
    <p:sldId id="271" r:id="rId10"/>
    <p:sldId id="269" r:id="rId11"/>
    <p:sldId id="272" r:id="rId12"/>
    <p:sldId id="278" r:id="rId13"/>
    <p:sldId id="279" r:id="rId14"/>
    <p:sldId id="299" r:id="rId15"/>
    <p:sldId id="300" r:id="rId16"/>
    <p:sldId id="268" r:id="rId17"/>
    <p:sldId id="281" r:id="rId18"/>
    <p:sldId id="282" r:id="rId19"/>
    <p:sldId id="283" r:id="rId20"/>
    <p:sldId id="284" r:id="rId21"/>
    <p:sldId id="285" r:id="rId22"/>
    <p:sldId id="286" r:id="rId23"/>
    <p:sldId id="287" r:id="rId24"/>
    <p:sldId id="288" r:id="rId25"/>
    <p:sldId id="290" r:id="rId26"/>
    <p:sldId id="289" r:id="rId27"/>
    <p:sldId id="295" r:id="rId28"/>
    <p:sldId id="296" r:id="rId29"/>
    <p:sldId id="297" r:id="rId30"/>
    <p:sldId id="301" r:id="rId31"/>
    <p:sldId id="302" r:id="rId32"/>
    <p:sldId id="291"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485" autoAdjust="0"/>
    <p:restoredTop sz="94660"/>
  </p:normalViewPr>
  <p:slideViewPr>
    <p:cSldViewPr snapToGrid="0">
      <p:cViewPr varScale="1">
        <p:scale>
          <a:sx n="69" d="100"/>
          <a:sy n="69" d="100"/>
        </p:scale>
        <p:origin x="79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oleObject" Target="file:///C:\Users\cahue.sbrana\Downloads\UVA\Ferramentas%20estat&#237;sticas\Aula%2009.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cahue.sbrana\Downloads\UVA\Ferramentas%20estat&#237;sticas\Aula%2009.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cahue.sbrana\Downloads\UVA\Ferramentas%20estat&#237;sticas\Aula%2009.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cahue.sbrana\Downloads\UVA\Ferramentas%20estat&#237;sticas\Aula%2009.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cahue.sbrana\Downloads\UVA\Ferramentas%20estat&#237;sticas\Aula%2009.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cahue.sbrana\Downloads\UVA\Ferramentas%20estat&#237;sticas\Aula%2009.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cahue.sbrana\Downloads\UVA\Ferramentas%20estat&#237;sticas\Aula%2009.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cahue.sbrana\Downloads\UVA\Ferramentas%20estat&#237;sticas\Aula%2009.xlsx" TargetMode="External"/><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800" b="1"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r>
              <a:rPr lang="pt-BR" sz="2800" b="1" i="0" u="none" strike="noStrike" baseline="0">
                <a:effectLst/>
                <a:latin typeface="Arial" panose="020B0604020202020204" pitchFamily="34" charset="0"/>
                <a:cs typeface="Arial" panose="020B0604020202020204" pitchFamily="34" charset="0"/>
              </a:rPr>
              <a:t>Correlação Positiva</a:t>
            </a:r>
            <a:endParaRPr lang="en-US" sz="2800" b="1">
              <a:latin typeface="Arial" panose="020B0604020202020204" pitchFamily="34" charset="0"/>
              <a:cs typeface="Arial" panose="020B0604020202020204" pitchFamily="34" charset="0"/>
            </a:endParaRPr>
          </a:p>
        </c:rich>
      </c:tx>
      <c:layout>
        <c:manualLayout>
          <c:xMode val="edge"/>
          <c:yMode val="edge"/>
          <c:x val="0.31258453942918973"/>
          <c:y val="2.1161074656752744E-2"/>
        </c:manualLayout>
      </c:layout>
      <c:overlay val="0"/>
      <c:spPr>
        <a:noFill/>
        <a:ln>
          <a:noFill/>
        </a:ln>
        <a:effectLst/>
      </c:spPr>
      <c:txPr>
        <a:bodyPr rot="0" spcFirstLastPara="1" vertOverflow="ellipsis" vert="horz" wrap="square" anchor="ctr" anchorCtr="1"/>
        <a:lstStyle/>
        <a:p>
          <a:pPr>
            <a:defRPr sz="2800" b="1"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title>
    <c:autoTitleDeleted val="0"/>
    <c:plotArea>
      <c:layout>
        <c:manualLayout>
          <c:layoutTarget val="inner"/>
          <c:xMode val="edge"/>
          <c:yMode val="edge"/>
          <c:x val="7.2358722265367936E-2"/>
          <c:y val="0.14393518518518519"/>
          <c:w val="0.89830799556823415"/>
          <c:h val="0.70803659847666178"/>
        </c:manualLayout>
      </c:layout>
      <c:scatterChart>
        <c:scatterStyle val="lineMarker"/>
        <c:varyColors val="0"/>
        <c:ser>
          <c:idx val="0"/>
          <c:order val="0"/>
          <c:tx>
            <c:strRef>
              <c:f>Correlação!$B$2</c:f>
              <c:strCache>
                <c:ptCount val="1"/>
                <c:pt idx="0">
                  <c:v>Correlação Positiva</c:v>
                </c:pt>
              </c:strCache>
            </c:strRef>
          </c:tx>
          <c:spPr>
            <a:ln w="25400" cap="rnd">
              <a:noFill/>
              <a:round/>
            </a:ln>
            <a:effectLst/>
          </c:spPr>
          <c:marker>
            <c:symbol val="circle"/>
            <c:size val="5"/>
            <c:spPr>
              <a:solidFill>
                <a:schemeClr val="accent1"/>
              </a:solidFill>
              <a:ln w="50800">
                <a:solidFill>
                  <a:schemeClr val="accent1"/>
                </a:solidFill>
              </a:ln>
              <a:effectLst/>
            </c:spPr>
          </c:marker>
          <c:xVal>
            <c:numRef>
              <c:f>Correlação!$B$4:$B$13</c:f>
              <c:numCache>
                <c:formatCode>General</c:formatCode>
                <c:ptCount val="10"/>
                <c:pt idx="0">
                  <c:v>1</c:v>
                </c:pt>
                <c:pt idx="1">
                  <c:v>2</c:v>
                </c:pt>
                <c:pt idx="2">
                  <c:v>3</c:v>
                </c:pt>
                <c:pt idx="3">
                  <c:v>4</c:v>
                </c:pt>
                <c:pt idx="4">
                  <c:v>5</c:v>
                </c:pt>
                <c:pt idx="5">
                  <c:v>6</c:v>
                </c:pt>
                <c:pt idx="6">
                  <c:v>7</c:v>
                </c:pt>
                <c:pt idx="7">
                  <c:v>8</c:v>
                </c:pt>
                <c:pt idx="8">
                  <c:v>9</c:v>
                </c:pt>
                <c:pt idx="9">
                  <c:v>10</c:v>
                </c:pt>
              </c:numCache>
            </c:numRef>
          </c:xVal>
          <c:yVal>
            <c:numRef>
              <c:f>Correlação!$C$4:$C$13</c:f>
              <c:numCache>
                <c:formatCode>General</c:formatCode>
                <c:ptCount val="10"/>
                <c:pt idx="0">
                  <c:v>1.5</c:v>
                </c:pt>
                <c:pt idx="1">
                  <c:v>2.1</c:v>
                </c:pt>
                <c:pt idx="2">
                  <c:v>3.7</c:v>
                </c:pt>
                <c:pt idx="3">
                  <c:v>4.5</c:v>
                </c:pt>
                <c:pt idx="4">
                  <c:v>5.8</c:v>
                </c:pt>
                <c:pt idx="5">
                  <c:v>6.9</c:v>
                </c:pt>
                <c:pt idx="6">
                  <c:v>7.3</c:v>
                </c:pt>
                <c:pt idx="7">
                  <c:v>8.4</c:v>
                </c:pt>
                <c:pt idx="8">
                  <c:v>9.1</c:v>
                </c:pt>
                <c:pt idx="9">
                  <c:v>9.9</c:v>
                </c:pt>
              </c:numCache>
            </c:numRef>
          </c:yVal>
          <c:smooth val="0"/>
          <c:extLst>
            <c:ext xmlns:c16="http://schemas.microsoft.com/office/drawing/2014/chart" uri="{C3380CC4-5D6E-409C-BE32-E72D297353CC}">
              <c16:uniqueId val="{00000000-4DAC-40EC-B292-E07452C0F98A}"/>
            </c:ext>
          </c:extLst>
        </c:ser>
        <c:dLbls>
          <c:showLegendKey val="0"/>
          <c:showVal val="0"/>
          <c:showCatName val="0"/>
          <c:showSerName val="0"/>
          <c:showPercent val="0"/>
          <c:showBubbleSize val="0"/>
        </c:dLbls>
        <c:axId val="153571016"/>
        <c:axId val="153573448"/>
      </c:scatterChart>
      <c:valAx>
        <c:axId val="153571016"/>
        <c:scaling>
          <c:orientation val="minMax"/>
          <c:max val="1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24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pt-BR" sz="2400" b="1">
                    <a:latin typeface="Arial" panose="020B0604020202020204" pitchFamily="34" charset="0"/>
                    <a:cs typeface="Arial" panose="020B0604020202020204" pitchFamily="34" charset="0"/>
                  </a:rPr>
                  <a:t>X</a:t>
                </a:r>
              </a:p>
            </c:rich>
          </c:tx>
          <c:layout>
            <c:manualLayout>
              <c:xMode val="edge"/>
              <c:yMode val="edge"/>
              <c:x val="0.49226948662339259"/>
              <c:y val="0.92754636876514296"/>
            </c:manualLayout>
          </c:layout>
          <c:overlay val="0"/>
          <c:spPr>
            <a:noFill/>
            <a:ln>
              <a:noFill/>
            </a:ln>
            <a:effectLst/>
          </c:spPr>
          <c:txPr>
            <a:bodyPr rot="0" spcFirstLastPara="1" vertOverflow="ellipsis" vert="horz" wrap="square" anchor="ctr" anchorCtr="1"/>
            <a:lstStyle/>
            <a:p>
              <a:pPr>
                <a:defRPr sz="24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pt-BR"/>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400" b="0" i="0" u="none" strike="noStrike" kern="1200" baseline="0">
                <a:solidFill>
                  <a:schemeClr val="tx1">
                    <a:lumMod val="65000"/>
                    <a:lumOff val="35000"/>
                  </a:schemeClr>
                </a:solidFill>
                <a:latin typeface="+mn-lt"/>
                <a:ea typeface="+mn-ea"/>
                <a:cs typeface="+mn-cs"/>
              </a:defRPr>
            </a:pPr>
            <a:endParaRPr lang="pt-BR"/>
          </a:p>
        </c:txPr>
        <c:crossAx val="153573448"/>
        <c:crosses val="autoZero"/>
        <c:crossBetween val="midCat"/>
      </c:valAx>
      <c:valAx>
        <c:axId val="153573448"/>
        <c:scaling>
          <c:orientation val="minMax"/>
          <c:max val="10"/>
        </c:scaling>
        <c:delete val="0"/>
        <c:axPos val="l"/>
        <c:majorGridlines>
          <c:spPr>
            <a:ln w="9525" cap="flat" cmpd="sng" algn="ctr">
              <a:solidFill>
                <a:schemeClr val="tx1">
                  <a:lumMod val="15000"/>
                  <a:lumOff val="85000"/>
                </a:schemeClr>
              </a:solidFill>
              <a:round/>
            </a:ln>
            <a:effectLst/>
          </c:spPr>
        </c:majorGridlines>
        <c:title>
          <c:tx>
            <c:rich>
              <a:bodyPr rot="0" spcFirstLastPara="1" vertOverflow="ellipsis" wrap="square" anchor="ctr" anchorCtr="1"/>
              <a:lstStyle/>
              <a:p>
                <a:pPr>
                  <a:defRPr sz="24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pt-BR" sz="2400" b="1">
                    <a:latin typeface="Arial" panose="020B0604020202020204" pitchFamily="34" charset="0"/>
                    <a:cs typeface="Arial" panose="020B0604020202020204" pitchFamily="34" charset="0"/>
                  </a:rPr>
                  <a:t>Y</a:t>
                </a:r>
              </a:p>
            </c:rich>
          </c:tx>
          <c:layout>
            <c:manualLayout>
              <c:xMode val="edge"/>
              <c:yMode val="edge"/>
              <c:x val="1.3888888888888888E-2"/>
              <c:y val="2.7341790609507151E-2"/>
            </c:manualLayout>
          </c:layout>
          <c:overlay val="0"/>
          <c:spPr>
            <a:noFill/>
            <a:ln>
              <a:noFill/>
            </a:ln>
            <a:effectLst/>
          </c:spPr>
          <c:txPr>
            <a:bodyPr rot="0" spcFirstLastPara="1" vertOverflow="ellipsis" wrap="square" anchor="ctr" anchorCtr="1"/>
            <a:lstStyle/>
            <a:p>
              <a:pPr>
                <a:defRPr sz="24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pt-BR"/>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400" b="0" i="0" u="none" strike="noStrike" kern="1200" baseline="0">
                <a:solidFill>
                  <a:schemeClr val="tx1">
                    <a:lumMod val="65000"/>
                    <a:lumOff val="35000"/>
                  </a:schemeClr>
                </a:solidFill>
                <a:latin typeface="+mn-lt"/>
                <a:ea typeface="+mn-ea"/>
                <a:cs typeface="+mn-cs"/>
              </a:defRPr>
            </a:pPr>
            <a:endParaRPr lang="pt-BR"/>
          </a:p>
        </c:txPr>
        <c:crossAx val="153571016"/>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pt-B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3200" b="1"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r>
              <a:rPr lang="pt-BR" sz="3200" b="1" i="0" u="none" strike="noStrike" baseline="0">
                <a:effectLst/>
                <a:latin typeface="Arial" panose="020B0604020202020204" pitchFamily="34" charset="0"/>
                <a:cs typeface="Arial" panose="020B0604020202020204" pitchFamily="34" charset="0"/>
              </a:rPr>
              <a:t>Correlação Negativa</a:t>
            </a:r>
            <a:endParaRPr lang="en-US" sz="3200" b="1">
              <a:latin typeface="Arial" panose="020B0604020202020204" pitchFamily="34" charset="0"/>
              <a:cs typeface="Arial" panose="020B0604020202020204" pitchFamily="34" charset="0"/>
            </a:endParaRPr>
          </a:p>
        </c:rich>
      </c:tx>
      <c:overlay val="0"/>
      <c:spPr>
        <a:noFill/>
        <a:ln>
          <a:noFill/>
        </a:ln>
        <a:effectLst/>
      </c:spPr>
      <c:txPr>
        <a:bodyPr rot="0" spcFirstLastPara="1" vertOverflow="ellipsis" vert="horz" wrap="square" anchor="ctr" anchorCtr="1"/>
        <a:lstStyle/>
        <a:p>
          <a:pPr>
            <a:defRPr sz="3200" b="1"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title>
    <c:autoTitleDeleted val="0"/>
    <c:plotArea>
      <c:layout>
        <c:manualLayout>
          <c:layoutTarget val="inner"/>
          <c:xMode val="edge"/>
          <c:yMode val="edge"/>
          <c:x val="5.5469816272965877E-2"/>
          <c:y val="0.14393518518518519"/>
          <c:w val="0.9151968503937008"/>
          <c:h val="0.72919765237678613"/>
        </c:manualLayout>
      </c:layout>
      <c:scatterChart>
        <c:scatterStyle val="lineMarker"/>
        <c:varyColors val="0"/>
        <c:ser>
          <c:idx val="0"/>
          <c:order val="0"/>
          <c:tx>
            <c:strRef>
              <c:f>Correlação!$K$2</c:f>
              <c:strCache>
                <c:ptCount val="1"/>
                <c:pt idx="0">
                  <c:v>Correlação Negativa</c:v>
                </c:pt>
              </c:strCache>
            </c:strRef>
          </c:tx>
          <c:spPr>
            <a:ln w="25400" cap="rnd">
              <a:noFill/>
              <a:round/>
            </a:ln>
            <a:effectLst/>
          </c:spPr>
          <c:marker>
            <c:symbol val="circle"/>
            <c:size val="5"/>
            <c:spPr>
              <a:solidFill>
                <a:schemeClr val="accent1"/>
              </a:solidFill>
              <a:ln w="50800">
                <a:solidFill>
                  <a:schemeClr val="accent1"/>
                </a:solidFill>
              </a:ln>
              <a:effectLst/>
            </c:spPr>
          </c:marker>
          <c:xVal>
            <c:numRef>
              <c:f>Correlação!$K$4:$K$13</c:f>
              <c:numCache>
                <c:formatCode>General</c:formatCode>
                <c:ptCount val="10"/>
                <c:pt idx="0">
                  <c:v>1</c:v>
                </c:pt>
                <c:pt idx="1">
                  <c:v>2</c:v>
                </c:pt>
                <c:pt idx="2">
                  <c:v>3</c:v>
                </c:pt>
                <c:pt idx="3">
                  <c:v>4</c:v>
                </c:pt>
                <c:pt idx="4">
                  <c:v>5</c:v>
                </c:pt>
                <c:pt idx="5">
                  <c:v>6</c:v>
                </c:pt>
                <c:pt idx="6">
                  <c:v>7</c:v>
                </c:pt>
                <c:pt idx="7">
                  <c:v>8</c:v>
                </c:pt>
                <c:pt idx="8">
                  <c:v>9</c:v>
                </c:pt>
                <c:pt idx="9">
                  <c:v>10</c:v>
                </c:pt>
              </c:numCache>
            </c:numRef>
          </c:xVal>
          <c:yVal>
            <c:numRef>
              <c:f>Correlação!$L$4:$L$13</c:f>
              <c:numCache>
                <c:formatCode>General</c:formatCode>
                <c:ptCount val="10"/>
                <c:pt idx="0">
                  <c:v>9.9</c:v>
                </c:pt>
                <c:pt idx="1">
                  <c:v>9.1</c:v>
                </c:pt>
                <c:pt idx="2">
                  <c:v>8.4</c:v>
                </c:pt>
                <c:pt idx="3">
                  <c:v>7.3</c:v>
                </c:pt>
                <c:pt idx="4">
                  <c:v>6.9</c:v>
                </c:pt>
                <c:pt idx="5">
                  <c:v>5.8</c:v>
                </c:pt>
                <c:pt idx="6">
                  <c:v>4.5</c:v>
                </c:pt>
                <c:pt idx="7">
                  <c:v>3.7</c:v>
                </c:pt>
                <c:pt idx="8">
                  <c:v>2.1</c:v>
                </c:pt>
                <c:pt idx="9">
                  <c:v>1.5</c:v>
                </c:pt>
              </c:numCache>
            </c:numRef>
          </c:yVal>
          <c:smooth val="0"/>
          <c:extLst>
            <c:ext xmlns:c16="http://schemas.microsoft.com/office/drawing/2014/chart" uri="{C3380CC4-5D6E-409C-BE32-E72D297353CC}">
              <c16:uniqueId val="{00000000-F9B4-4430-9733-CD51D2027560}"/>
            </c:ext>
          </c:extLst>
        </c:ser>
        <c:dLbls>
          <c:showLegendKey val="0"/>
          <c:showVal val="0"/>
          <c:showCatName val="0"/>
          <c:showSerName val="0"/>
          <c:showPercent val="0"/>
          <c:showBubbleSize val="0"/>
        </c:dLbls>
        <c:axId val="153093648"/>
        <c:axId val="153101904"/>
      </c:scatterChart>
      <c:valAx>
        <c:axId val="153093648"/>
        <c:scaling>
          <c:orientation val="minMax"/>
          <c:max val="1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24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pt-BR" sz="2400" b="1">
                    <a:latin typeface="Arial" panose="020B0604020202020204" pitchFamily="34" charset="0"/>
                    <a:cs typeface="Arial" panose="020B0604020202020204" pitchFamily="34" charset="0"/>
                  </a:rPr>
                  <a:t>X</a:t>
                </a:r>
              </a:p>
            </c:rich>
          </c:tx>
          <c:layout>
            <c:manualLayout>
              <c:xMode val="edge"/>
              <c:yMode val="edge"/>
              <c:x val="0.49226946631671031"/>
              <c:y val="0.91108778069407992"/>
            </c:manualLayout>
          </c:layout>
          <c:overlay val="0"/>
          <c:spPr>
            <a:noFill/>
            <a:ln>
              <a:noFill/>
            </a:ln>
            <a:effectLst/>
          </c:spPr>
          <c:txPr>
            <a:bodyPr rot="0" spcFirstLastPara="1" vertOverflow="ellipsis" vert="horz" wrap="square" anchor="ctr" anchorCtr="1"/>
            <a:lstStyle/>
            <a:p>
              <a:pPr>
                <a:defRPr sz="24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pt-BR"/>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400" b="0" i="0" u="none" strike="noStrike" kern="1200" baseline="0">
                <a:solidFill>
                  <a:schemeClr val="tx1">
                    <a:lumMod val="65000"/>
                    <a:lumOff val="35000"/>
                  </a:schemeClr>
                </a:solidFill>
                <a:latin typeface="+mn-lt"/>
                <a:ea typeface="+mn-ea"/>
                <a:cs typeface="+mn-cs"/>
              </a:defRPr>
            </a:pPr>
            <a:endParaRPr lang="pt-BR"/>
          </a:p>
        </c:txPr>
        <c:crossAx val="153101904"/>
        <c:crosses val="autoZero"/>
        <c:crossBetween val="midCat"/>
      </c:valAx>
      <c:valAx>
        <c:axId val="153101904"/>
        <c:scaling>
          <c:orientation val="minMax"/>
          <c:max val="10"/>
        </c:scaling>
        <c:delete val="0"/>
        <c:axPos val="l"/>
        <c:majorGridlines>
          <c:spPr>
            <a:ln w="9525" cap="flat" cmpd="sng" algn="ctr">
              <a:solidFill>
                <a:schemeClr val="tx1">
                  <a:lumMod val="15000"/>
                  <a:lumOff val="85000"/>
                </a:schemeClr>
              </a:solidFill>
              <a:round/>
            </a:ln>
            <a:effectLst/>
          </c:spPr>
        </c:majorGridlines>
        <c:title>
          <c:tx>
            <c:rich>
              <a:bodyPr rot="0" spcFirstLastPara="1" vertOverflow="ellipsis" wrap="square" anchor="ctr" anchorCtr="1"/>
              <a:lstStyle/>
              <a:p>
                <a:pPr>
                  <a:defRPr sz="24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pt-BR" sz="2400" b="1">
                    <a:latin typeface="Arial" panose="020B0604020202020204" pitchFamily="34" charset="0"/>
                    <a:cs typeface="Arial" panose="020B0604020202020204" pitchFamily="34" charset="0"/>
                  </a:rPr>
                  <a:t>Y</a:t>
                </a:r>
              </a:p>
            </c:rich>
          </c:tx>
          <c:layout>
            <c:manualLayout>
              <c:xMode val="edge"/>
              <c:yMode val="edge"/>
              <c:x val="1.3888888888888888E-2"/>
              <c:y val="2.7341790609507151E-2"/>
            </c:manualLayout>
          </c:layout>
          <c:overlay val="0"/>
          <c:spPr>
            <a:noFill/>
            <a:ln>
              <a:noFill/>
            </a:ln>
            <a:effectLst/>
          </c:spPr>
          <c:txPr>
            <a:bodyPr rot="0" spcFirstLastPara="1" vertOverflow="ellipsis" wrap="square" anchor="ctr" anchorCtr="1"/>
            <a:lstStyle/>
            <a:p>
              <a:pPr>
                <a:defRPr sz="24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pt-BR"/>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400" b="0" i="0" u="none" strike="noStrike" kern="1200" baseline="0">
                <a:solidFill>
                  <a:schemeClr val="tx1">
                    <a:lumMod val="65000"/>
                    <a:lumOff val="35000"/>
                  </a:schemeClr>
                </a:solidFill>
                <a:latin typeface="+mn-lt"/>
                <a:ea typeface="+mn-ea"/>
                <a:cs typeface="+mn-cs"/>
              </a:defRPr>
            </a:pPr>
            <a:endParaRPr lang="pt-BR"/>
          </a:p>
        </c:txPr>
        <c:crossAx val="153093648"/>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pt-B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800" b="1"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r>
              <a:rPr lang="pt-BR" sz="2800" b="1" i="0" u="none" strike="noStrike" baseline="0">
                <a:effectLst/>
                <a:latin typeface="Arial" panose="020B0604020202020204" pitchFamily="34" charset="0"/>
                <a:cs typeface="Arial" panose="020B0604020202020204" pitchFamily="34" charset="0"/>
              </a:rPr>
              <a:t>Correlação Nula</a:t>
            </a:r>
            <a:endParaRPr lang="en-US" sz="2800" b="1">
              <a:latin typeface="Arial" panose="020B0604020202020204" pitchFamily="34" charset="0"/>
              <a:cs typeface="Arial" panose="020B0604020202020204" pitchFamily="34" charset="0"/>
            </a:endParaRPr>
          </a:p>
        </c:rich>
      </c:tx>
      <c:overlay val="0"/>
      <c:spPr>
        <a:noFill/>
        <a:ln>
          <a:noFill/>
        </a:ln>
        <a:effectLst/>
      </c:spPr>
      <c:txPr>
        <a:bodyPr rot="0" spcFirstLastPara="1" vertOverflow="ellipsis" vert="horz" wrap="square" anchor="ctr" anchorCtr="1"/>
        <a:lstStyle/>
        <a:p>
          <a:pPr>
            <a:defRPr sz="2800" b="1"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title>
    <c:autoTitleDeleted val="0"/>
    <c:plotArea>
      <c:layout>
        <c:manualLayout>
          <c:layoutTarget val="inner"/>
          <c:xMode val="edge"/>
          <c:yMode val="edge"/>
          <c:x val="5.5469816272965877E-2"/>
          <c:y val="0.14393518518518519"/>
          <c:w val="0.9151968503937008"/>
          <c:h val="0.72919765237678613"/>
        </c:manualLayout>
      </c:layout>
      <c:scatterChart>
        <c:scatterStyle val="lineMarker"/>
        <c:varyColors val="0"/>
        <c:ser>
          <c:idx val="0"/>
          <c:order val="0"/>
          <c:tx>
            <c:strRef>
              <c:f>Correlação!$B$15</c:f>
              <c:strCache>
                <c:ptCount val="1"/>
                <c:pt idx="0">
                  <c:v>Correlação Nula</c:v>
                </c:pt>
              </c:strCache>
            </c:strRef>
          </c:tx>
          <c:spPr>
            <a:ln w="25400" cap="rnd">
              <a:noFill/>
              <a:round/>
            </a:ln>
            <a:effectLst/>
          </c:spPr>
          <c:marker>
            <c:symbol val="circle"/>
            <c:size val="5"/>
            <c:spPr>
              <a:solidFill>
                <a:schemeClr val="accent1"/>
              </a:solidFill>
              <a:ln w="50800">
                <a:solidFill>
                  <a:schemeClr val="accent1"/>
                </a:solidFill>
              </a:ln>
              <a:effectLst/>
            </c:spPr>
          </c:marker>
          <c:xVal>
            <c:numRef>
              <c:f>Correlação!$B$17:$B$26</c:f>
              <c:numCache>
                <c:formatCode>General</c:formatCode>
                <c:ptCount val="10"/>
                <c:pt idx="0">
                  <c:v>1</c:v>
                </c:pt>
                <c:pt idx="1">
                  <c:v>2</c:v>
                </c:pt>
                <c:pt idx="2">
                  <c:v>3</c:v>
                </c:pt>
                <c:pt idx="3">
                  <c:v>4</c:v>
                </c:pt>
                <c:pt idx="4">
                  <c:v>5</c:v>
                </c:pt>
                <c:pt idx="5">
                  <c:v>6</c:v>
                </c:pt>
                <c:pt idx="6">
                  <c:v>7</c:v>
                </c:pt>
                <c:pt idx="7">
                  <c:v>8</c:v>
                </c:pt>
                <c:pt idx="8">
                  <c:v>9</c:v>
                </c:pt>
                <c:pt idx="9">
                  <c:v>10</c:v>
                </c:pt>
              </c:numCache>
            </c:numRef>
          </c:xVal>
          <c:yVal>
            <c:numRef>
              <c:f>Correlação!$C$17:$C$26</c:f>
              <c:numCache>
                <c:formatCode>General</c:formatCode>
                <c:ptCount val="10"/>
                <c:pt idx="0">
                  <c:v>5.8</c:v>
                </c:pt>
                <c:pt idx="1">
                  <c:v>3.1</c:v>
                </c:pt>
                <c:pt idx="2">
                  <c:v>7.5</c:v>
                </c:pt>
                <c:pt idx="3">
                  <c:v>9.9</c:v>
                </c:pt>
                <c:pt idx="4">
                  <c:v>6.3</c:v>
                </c:pt>
                <c:pt idx="5">
                  <c:v>2.2000000000000002</c:v>
                </c:pt>
                <c:pt idx="6">
                  <c:v>4.8</c:v>
                </c:pt>
                <c:pt idx="7">
                  <c:v>9.1</c:v>
                </c:pt>
                <c:pt idx="8">
                  <c:v>8.3000000000000007</c:v>
                </c:pt>
                <c:pt idx="9">
                  <c:v>1.1000000000000001</c:v>
                </c:pt>
              </c:numCache>
            </c:numRef>
          </c:yVal>
          <c:smooth val="0"/>
          <c:extLst>
            <c:ext xmlns:c16="http://schemas.microsoft.com/office/drawing/2014/chart" uri="{C3380CC4-5D6E-409C-BE32-E72D297353CC}">
              <c16:uniqueId val="{00000000-F8E9-41C5-8247-D2037528C823}"/>
            </c:ext>
          </c:extLst>
        </c:ser>
        <c:dLbls>
          <c:showLegendKey val="0"/>
          <c:showVal val="0"/>
          <c:showCatName val="0"/>
          <c:showSerName val="0"/>
          <c:showPercent val="0"/>
          <c:showBubbleSize val="0"/>
        </c:dLbls>
        <c:axId val="153188560"/>
        <c:axId val="153223440"/>
      </c:scatterChart>
      <c:valAx>
        <c:axId val="153188560"/>
        <c:scaling>
          <c:orientation val="minMax"/>
          <c:max val="1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24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pt-BR" sz="2400" b="1">
                    <a:latin typeface="Arial" panose="020B0604020202020204" pitchFamily="34" charset="0"/>
                    <a:cs typeface="Arial" panose="020B0604020202020204" pitchFamily="34" charset="0"/>
                  </a:rPr>
                  <a:t>X</a:t>
                </a:r>
              </a:p>
            </c:rich>
          </c:tx>
          <c:layout>
            <c:manualLayout>
              <c:xMode val="edge"/>
              <c:yMode val="edge"/>
              <c:x val="0.49827378803486239"/>
              <c:y val="0.92271275097087568"/>
            </c:manualLayout>
          </c:layout>
          <c:overlay val="0"/>
          <c:spPr>
            <a:noFill/>
            <a:ln>
              <a:noFill/>
            </a:ln>
            <a:effectLst/>
          </c:spPr>
          <c:txPr>
            <a:bodyPr rot="0" spcFirstLastPara="1" vertOverflow="ellipsis" vert="horz" wrap="square" anchor="ctr" anchorCtr="1"/>
            <a:lstStyle/>
            <a:p>
              <a:pPr>
                <a:defRPr sz="24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pt-BR"/>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400" b="0" i="0" u="none" strike="noStrike" kern="1200" baseline="0">
                <a:solidFill>
                  <a:schemeClr val="tx1">
                    <a:lumMod val="65000"/>
                    <a:lumOff val="35000"/>
                  </a:schemeClr>
                </a:solidFill>
                <a:latin typeface="+mn-lt"/>
                <a:ea typeface="+mn-ea"/>
                <a:cs typeface="+mn-cs"/>
              </a:defRPr>
            </a:pPr>
            <a:endParaRPr lang="pt-BR"/>
          </a:p>
        </c:txPr>
        <c:crossAx val="153223440"/>
        <c:crosses val="autoZero"/>
        <c:crossBetween val="midCat"/>
      </c:valAx>
      <c:valAx>
        <c:axId val="153223440"/>
        <c:scaling>
          <c:orientation val="minMax"/>
          <c:max val="10"/>
        </c:scaling>
        <c:delete val="0"/>
        <c:axPos val="l"/>
        <c:majorGridlines>
          <c:spPr>
            <a:ln w="9525" cap="flat" cmpd="sng" algn="ctr">
              <a:solidFill>
                <a:schemeClr val="tx1">
                  <a:lumMod val="15000"/>
                  <a:lumOff val="85000"/>
                </a:schemeClr>
              </a:solidFill>
              <a:round/>
            </a:ln>
            <a:effectLst/>
          </c:spPr>
        </c:majorGridlines>
        <c:title>
          <c:tx>
            <c:rich>
              <a:bodyPr rot="0" spcFirstLastPara="1" vertOverflow="ellipsis" wrap="square" anchor="ctr" anchorCtr="1"/>
              <a:lstStyle/>
              <a:p>
                <a:pPr>
                  <a:defRPr sz="24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pt-BR" sz="2400" b="1">
                    <a:latin typeface="Arial" panose="020B0604020202020204" pitchFamily="34" charset="0"/>
                    <a:cs typeface="Arial" panose="020B0604020202020204" pitchFamily="34" charset="0"/>
                  </a:rPr>
                  <a:t>Y</a:t>
                </a:r>
              </a:p>
            </c:rich>
          </c:tx>
          <c:layout>
            <c:manualLayout>
              <c:xMode val="edge"/>
              <c:yMode val="edge"/>
              <c:x val="1.3888888888888888E-2"/>
              <c:y val="2.7341790609507151E-2"/>
            </c:manualLayout>
          </c:layout>
          <c:overlay val="0"/>
          <c:spPr>
            <a:noFill/>
            <a:ln>
              <a:noFill/>
            </a:ln>
            <a:effectLst/>
          </c:spPr>
          <c:txPr>
            <a:bodyPr rot="0" spcFirstLastPara="1" vertOverflow="ellipsis" wrap="square" anchor="ctr" anchorCtr="1"/>
            <a:lstStyle/>
            <a:p>
              <a:pPr>
                <a:defRPr sz="24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pt-BR"/>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400" b="0" i="0" u="none" strike="noStrike" kern="1200" baseline="0">
                <a:solidFill>
                  <a:schemeClr val="tx1">
                    <a:lumMod val="65000"/>
                    <a:lumOff val="35000"/>
                  </a:schemeClr>
                </a:solidFill>
                <a:latin typeface="+mn-lt"/>
                <a:ea typeface="+mn-ea"/>
                <a:cs typeface="+mn-cs"/>
              </a:defRPr>
            </a:pPr>
            <a:endParaRPr lang="pt-BR"/>
          </a:p>
        </c:txPr>
        <c:crossAx val="153188560"/>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pt-BR"/>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800" b="1"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r>
              <a:rPr lang="pt-BR" sz="2800" b="1" i="0" u="none" strike="noStrike" baseline="0">
                <a:effectLst/>
                <a:latin typeface="Arial" panose="020B0604020202020204" pitchFamily="34" charset="0"/>
                <a:cs typeface="Arial" panose="020B0604020202020204" pitchFamily="34" charset="0"/>
              </a:rPr>
              <a:t>Correlação Não Linear</a:t>
            </a:r>
            <a:endParaRPr lang="en-US" sz="2800" b="1">
              <a:latin typeface="Arial" panose="020B0604020202020204" pitchFamily="34" charset="0"/>
              <a:cs typeface="Arial" panose="020B0604020202020204" pitchFamily="34" charset="0"/>
            </a:endParaRPr>
          </a:p>
        </c:rich>
      </c:tx>
      <c:overlay val="0"/>
      <c:spPr>
        <a:noFill/>
        <a:ln>
          <a:noFill/>
        </a:ln>
        <a:effectLst/>
      </c:spPr>
      <c:txPr>
        <a:bodyPr rot="0" spcFirstLastPara="1" vertOverflow="ellipsis" vert="horz" wrap="square" anchor="ctr" anchorCtr="1"/>
        <a:lstStyle/>
        <a:p>
          <a:pPr>
            <a:defRPr sz="2800" b="1"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title>
    <c:autoTitleDeleted val="0"/>
    <c:plotArea>
      <c:layout>
        <c:manualLayout>
          <c:layoutTarget val="inner"/>
          <c:xMode val="edge"/>
          <c:yMode val="edge"/>
          <c:x val="5.5469816272965877E-2"/>
          <c:y val="0.14393518518518519"/>
          <c:w val="0.9151968503937008"/>
          <c:h val="0.72919765237678613"/>
        </c:manualLayout>
      </c:layout>
      <c:scatterChart>
        <c:scatterStyle val="lineMarker"/>
        <c:varyColors val="0"/>
        <c:ser>
          <c:idx val="0"/>
          <c:order val="0"/>
          <c:tx>
            <c:strRef>
              <c:f>Correlação!$K$15</c:f>
              <c:strCache>
                <c:ptCount val="1"/>
                <c:pt idx="0">
                  <c:v>Correlação Não linear</c:v>
                </c:pt>
              </c:strCache>
            </c:strRef>
          </c:tx>
          <c:spPr>
            <a:ln w="25400" cap="rnd">
              <a:noFill/>
              <a:round/>
            </a:ln>
            <a:effectLst/>
          </c:spPr>
          <c:marker>
            <c:symbol val="circle"/>
            <c:size val="5"/>
            <c:spPr>
              <a:solidFill>
                <a:schemeClr val="accent1"/>
              </a:solidFill>
              <a:ln w="50800">
                <a:solidFill>
                  <a:schemeClr val="accent1"/>
                </a:solidFill>
              </a:ln>
              <a:effectLst/>
            </c:spPr>
          </c:marker>
          <c:xVal>
            <c:numRef>
              <c:f>Correlação!$K$17:$K$26</c:f>
              <c:numCache>
                <c:formatCode>General</c:formatCode>
                <c:ptCount val="10"/>
                <c:pt idx="0">
                  <c:v>1</c:v>
                </c:pt>
                <c:pt idx="1">
                  <c:v>2</c:v>
                </c:pt>
                <c:pt idx="2">
                  <c:v>3</c:v>
                </c:pt>
                <c:pt idx="3">
                  <c:v>4</c:v>
                </c:pt>
                <c:pt idx="4">
                  <c:v>5</c:v>
                </c:pt>
                <c:pt idx="5">
                  <c:v>6</c:v>
                </c:pt>
                <c:pt idx="6">
                  <c:v>7</c:v>
                </c:pt>
                <c:pt idx="7">
                  <c:v>8</c:v>
                </c:pt>
                <c:pt idx="8">
                  <c:v>9</c:v>
                </c:pt>
                <c:pt idx="9">
                  <c:v>10</c:v>
                </c:pt>
              </c:numCache>
            </c:numRef>
          </c:xVal>
          <c:yVal>
            <c:numRef>
              <c:f>Correlação!$L$17:$L$26</c:f>
              <c:numCache>
                <c:formatCode>General</c:formatCode>
                <c:ptCount val="10"/>
                <c:pt idx="0">
                  <c:v>1.5</c:v>
                </c:pt>
                <c:pt idx="1">
                  <c:v>5</c:v>
                </c:pt>
                <c:pt idx="2">
                  <c:v>8</c:v>
                </c:pt>
                <c:pt idx="3">
                  <c:v>15</c:v>
                </c:pt>
                <c:pt idx="4">
                  <c:v>27</c:v>
                </c:pt>
                <c:pt idx="5">
                  <c:v>33</c:v>
                </c:pt>
                <c:pt idx="6">
                  <c:v>50</c:v>
                </c:pt>
                <c:pt idx="7">
                  <c:v>68</c:v>
                </c:pt>
                <c:pt idx="8">
                  <c:v>92</c:v>
                </c:pt>
                <c:pt idx="9">
                  <c:v>99</c:v>
                </c:pt>
              </c:numCache>
            </c:numRef>
          </c:yVal>
          <c:smooth val="0"/>
          <c:extLst>
            <c:ext xmlns:c16="http://schemas.microsoft.com/office/drawing/2014/chart" uri="{C3380CC4-5D6E-409C-BE32-E72D297353CC}">
              <c16:uniqueId val="{00000000-B982-4A8B-A27F-E68E8887B180}"/>
            </c:ext>
          </c:extLst>
        </c:ser>
        <c:dLbls>
          <c:showLegendKey val="0"/>
          <c:showVal val="0"/>
          <c:showCatName val="0"/>
          <c:showSerName val="0"/>
          <c:showPercent val="0"/>
          <c:showBubbleSize val="0"/>
        </c:dLbls>
        <c:axId val="153324312"/>
        <c:axId val="153324696"/>
      </c:scatterChart>
      <c:valAx>
        <c:axId val="153324312"/>
        <c:scaling>
          <c:orientation val="minMax"/>
          <c:max val="1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24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pt-BR" sz="2400" b="1">
                    <a:latin typeface="Arial" panose="020B0604020202020204" pitchFamily="34" charset="0"/>
                    <a:cs typeface="Arial" panose="020B0604020202020204" pitchFamily="34" charset="0"/>
                  </a:rPr>
                  <a:t>X</a:t>
                </a:r>
              </a:p>
            </c:rich>
          </c:tx>
          <c:layout>
            <c:manualLayout>
              <c:xMode val="edge"/>
              <c:yMode val="edge"/>
              <c:x val="0.49226944492741903"/>
              <c:y val="0.92722081610928153"/>
            </c:manualLayout>
          </c:layout>
          <c:overlay val="0"/>
          <c:spPr>
            <a:noFill/>
            <a:ln>
              <a:noFill/>
            </a:ln>
            <a:effectLst/>
          </c:spPr>
          <c:txPr>
            <a:bodyPr rot="0" spcFirstLastPara="1" vertOverflow="ellipsis" vert="horz" wrap="square" anchor="ctr" anchorCtr="1"/>
            <a:lstStyle/>
            <a:p>
              <a:pPr>
                <a:defRPr sz="24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pt-BR"/>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400" b="0" i="0" u="none" strike="noStrike" kern="1200" baseline="0">
                <a:solidFill>
                  <a:schemeClr val="tx1">
                    <a:lumMod val="65000"/>
                    <a:lumOff val="35000"/>
                  </a:schemeClr>
                </a:solidFill>
                <a:latin typeface="+mn-lt"/>
                <a:ea typeface="+mn-ea"/>
                <a:cs typeface="+mn-cs"/>
              </a:defRPr>
            </a:pPr>
            <a:endParaRPr lang="pt-BR"/>
          </a:p>
        </c:txPr>
        <c:crossAx val="153324696"/>
        <c:crosses val="autoZero"/>
        <c:crossBetween val="midCat"/>
      </c:valAx>
      <c:valAx>
        <c:axId val="153324696"/>
        <c:scaling>
          <c:orientation val="minMax"/>
          <c:max val="100"/>
        </c:scaling>
        <c:delete val="0"/>
        <c:axPos val="l"/>
        <c:majorGridlines>
          <c:spPr>
            <a:ln w="9525" cap="flat" cmpd="sng" algn="ctr">
              <a:solidFill>
                <a:schemeClr val="tx1">
                  <a:lumMod val="15000"/>
                  <a:lumOff val="85000"/>
                </a:schemeClr>
              </a:solidFill>
              <a:round/>
            </a:ln>
            <a:effectLst/>
          </c:spPr>
        </c:majorGridlines>
        <c:title>
          <c:tx>
            <c:rich>
              <a:bodyPr rot="0" spcFirstLastPara="1" vertOverflow="ellipsis" wrap="square" anchor="ctr" anchorCtr="1"/>
              <a:lstStyle/>
              <a:p>
                <a:pPr>
                  <a:defRPr sz="24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pt-BR" sz="2400" b="1">
                    <a:latin typeface="Arial" panose="020B0604020202020204" pitchFamily="34" charset="0"/>
                    <a:cs typeface="Arial" panose="020B0604020202020204" pitchFamily="34" charset="0"/>
                  </a:rPr>
                  <a:t>Y</a:t>
                </a:r>
              </a:p>
            </c:rich>
          </c:tx>
          <c:layout>
            <c:manualLayout>
              <c:xMode val="edge"/>
              <c:yMode val="edge"/>
              <c:x val="1.3888888888888888E-2"/>
              <c:y val="2.7341790609507151E-2"/>
            </c:manualLayout>
          </c:layout>
          <c:overlay val="0"/>
          <c:spPr>
            <a:noFill/>
            <a:ln>
              <a:noFill/>
            </a:ln>
            <a:effectLst/>
          </c:spPr>
          <c:txPr>
            <a:bodyPr rot="0" spcFirstLastPara="1" vertOverflow="ellipsis" wrap="square" anchor="ctr" anchorCtr="1"/>
            <a:lstStyle/>
            <a:p>
              <a:pPr>
                <a:defRPr sz="24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pt-BR"/>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400" b="0" i="0" u="none" strike="noStrike" kern="1200" baseline="0">
                <a:solidFill>
                  <a:schemeClr val="tx1">
                    <a:lumMod val="65000"/>
                    <a:lumOff val="35000"/>
                  </a:schemeClr>
                </a:solidFill>
                <a:latin typeface="+mn-lt"/>
                <a:ea typeface="+mn-ea"/>
                <a:cs typeface="+mn-cs"/>
              </a:defRPr>
            </a:pPr>
            <a:endParaRPr lang="pt-BR"/>
          </a:p>
        </c:txPr>
        <c:crossAx val="153324312"/>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pt-BR"/>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800" b="1"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r>
              <a:rPr lang="pt-BR" sz="2800" b="1" i="0" u="none" strike="noStrike" baseline="0">
                <a:effectLst/>
                <a:latin typeface="Arial" panose="020B0604020202020204" pitchFamily="34" charset="0"/>
                <a:cs typeface="Arial" panose="020B0604020202020204" pitchFamily="34" charset="0"/>
              </a:rPr>
              <a:t>Correlação Positiva</a:t>
            </a:r>
            <a:endParaRPr lang="en-US" sz="2800" b="1">
              <a:latin typeface="Arial" panose="020B0604020202020204" pitchFamily="34" charset="0"/>
              <a:cs typeface="Arial" panose="020B0604020202020204" pitchFamily="34" charset="0"/>
            </a:endParaRPr>
          </a:p>
        </c:rich>
      </c:tx>
      <c:layout>
        <c:manualLayout>
          <c:xMode val="edge"/>
          <c:yMode val="edge"/>
          <c:x val="0.31258453942918973"/>
          <c:y val="2.1161074656752744E-2"/>
        </c:manualLayout>
      </c:layout>
      <c:overlay val="0"/>
      <c:spPr>
        <a:noFill/>
        <a:ln>
          <a:noFill/>
        </a:ln>
        <a:effectLst/>
      </c:spPr>
      <c:txPr>
        <a:bodyPr rot="0" spcFirstLastPara="1" vertOverflow="ellipsis" vert="horz" wrap="square" anchor="ctr" anchorCtr="1"/>
        <a:lstStyle/>
        <a:p>
          <a:pPr>
            <a:defRPr sz="2800" b="1"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title>
    <c:autoTitleDeleted val="0"/>
    <c:plotArea>
      <c:layout>
        <c:manualLayout>
          <c:layoutTarget val="inner"/>
          <c:xMode val="edge"/>
          <c:yMode val="edge"/>
          <c:x val="7.2358722265367936E-2"/>
          <c:y val="0.14393518518518519"/>
          <c:w val="0.89830799556823415"/>
          <c:h val="0.70803659847666178"/>
        </c:manualLayout>
      </c:layout>
      <c:scatterChart>
        <c:scatterStyle val="lineMarker"/>
        <c:varyColors val="0"/>
        <c:ser>
          <c:idx val="0"/>
          <c:order val="0"/>
          <c:tx>
            <c:strRef>
              <c:f>Correlação!$B$2</c:f>
              <c:strCache>
                <c:ptCount val="1"/>
                <c:pt idx="0">
                  <c:v>Correlação Positiva</c:v>
                </c:pt>
              </c:strCache>
            </c:strRef>
          </c:tx>
          <c:spPr>
            <a:ln w="25400" cap="rnd">
              <a:noFill/>
              <a:round/>
            </a:ln>
            <a:effectLst/>
          </c:spPr>
          <c:marker>
            <c:symbol val="circle"/>
            <c:size val="5"/>
            <c:spPr>
              <a:solidFill>
                <a:schemeClr val="accent1"/>
              </a:solidFill>
              <a:ln w="50800">
                <a:solidFill>
                  <a:schemeClr val="accent1"/>
                </a:solidFill>
              </a:ln>
              <a:effectLst/>
            </c:spPr>
          </c:marker>
          <c:trendline>
            <c:spPr>
              <a:ln w="19050" cap="rnd">
                <a:solidFill>
                  <a:schemeClr val="accent1"/>
                </a:solidFill>
                <a:prstDash val="sysDot"/>
              </a:ln>
              <a:effectLst/>
            </c:spPr>
            <c:trendlineType val="linear"/>
            <c:dispRSqr val="1"/>
            <c:dispEq val="1"/>
            <c:trendlineLbl>
              <c:layout>
                <c:manualLayout>
                  <c:x val="-0.15277405213252135"/>
                  <c:y val="0.45797990049666504"/>
                </c:manualLayout>
              </c:layout>
              <c:numFmt formatCode="General" sourceLinked="0"/>
              <c:spPr>
                <a:noFill/>
                <a:ln>
                  <a:noFill/>
                </a:ln>
                <a:effectLst/>
              </c:spPr>
              <c:txPr>
                <a:bodyPr rot="0" spcFirstLastPara="1" vertOverflow="ellipsis" vert="horz" wrap="square" anchor="ctr" anchorCtr="1"/>
                <a:lstStyle/>
                <a:p>
                  <a:pPr>
                    <a:defRPr sz="2400" b="0" i="0" u="none" strike="noStrike" kern="1200" baseline="0">
                      <a:solidFill>
                        <a:schemeClr val="tx1">
                          <a:lumMod val="65000"/>
                          <a:lumOff val="35000"/>
                        </a:schemeClr>
                      </a:solidFill>
                      <a:latin typeface="+mn-lt"/>
                      <a:ea typeface="+mn-ea"/>
                      <a:cs typeface="+mn-cs"/>
                    </a:defRPr>
                  </a:pPr>
                  <a:endParaRPr lang="pt-BR"/>
                </a:p>
              </c:txPr>
            </c:trendlineLbl>
          </c:trendline>
          <c:xVal>
            <c:numRef>
              <c:f>Correlação!$B$4:$B$13</c:f>
              <c:numCache>
                <c:formatCode>General</c:formatCode>
                <c:ptCount val="10"/>
                <c:pt idx="0">
                  <c:v>1</c:v>
                </c:pt>
                <c:pt idx="1">
                  <c:v>2</c:v>
                </c:pt>
                <c:pt idx="2">
                  <c:v>3</c:v>
                </c:pt>
                <c:pt idx="3">
                  <c:v>4</c:v>
                </c:pt>
                <c:pt idx="4">
                  <c:v>5</c:v>
                </c:pt>
                <c:pt idx="5">
                  <c:v>6</c:v>
                </c:pt>
                <c:pt idx="6">
                  <c:v>7</c:v>
                </c:pt>
                <c:pt idx="7">
                  <c:v>8</c:v>
                </c:pt>
                <c:pt idx="8">
                  <c:v>9</c:v>
                </c:pt>
                <c:pt idx="9">
                  <c:v>10</c:v>
                </c:pt>
              </c:numCache>
            </c:numRef>
          </c:xVal>
          <c:yVal>
            <c:numRef>
              <c:f>Correlação!$C$4:$C$13</c:f>
              <c:numCache>
                <c:formatCode>General</c:formatCode>
                <c:ptCount val="10"/>
                <c:pt idx="0">
                  <c:v>1.5</c:v>
                </c:pt>
                <c:pt idx="1">
                  <c:v>2.1</c:v>
                </c:pt>
                <c:pt idx="2">
                  <c:v>3.7</c:v>
                </c:pt>
                <c:pt idx="3">
                  <c:v>4.5</c:v>
                </c:pt>
                <c:pt idx="4">
                  <c:v>5.8</c:v>
                </c:pt>
                <c:pt idx="5">
                  <c:v>6.9</c:v>
                </c:pt>
                <c:pt idx="6">
                  <c:v>7.3</c:v>
                </c:pt>
                <c:pt idx="7">
                  <c:v>8.4</c:v>
                </c:pt>
                <c:pt idx="8">
                  <c:v>9.1</c:v>
                </c:pt>
                <c:pt idx="9">
                  <c:v>9.9</c:v>
                </c:pt>
              </c:numCache>
            </c:numRef>
          </c:yVal>
          <c:smooth val="0"/>
          <c:extLst>
            <c:ext xmlns:c16="http://schemas.microsoft.com/office/drawing/2014/chart" uri="{C3380CC4-5D6E-409C-BE32-E72D297353CC}">
              <c16:uniqueId val="{00000001-C054-4E46-BB69-C6CFD9240D58}"/>
            </c:ext>
          </c:extLst>
        </c:ser>
        <c:dLbls>
          <c:showLegendKey val="0"/>
          <c:showVal val="0"/>
          <c:showCatName val="0"/>
          <c:showSerName val="0"/>
          <c:showPercent val="0"/>
          <c:showBubbleSize val="0"/>
        </c:dLbls>
        <c:axId val="152661208"/>
        <c:axId val="152661600"/>
      </c:scatterChart>
      <c:valAx>
        <c:axId val="152661208"/>
        <c:scaling>
          <c:orientation val="minMax"/>
          <c:max val="1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24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pt-BR" sz="2400" b="1">
                    <a:latin typeface="Arial" panose="020B0604020202020204" pitchFamily="34" charset="0"/>
                    <a:cs typeface="Arial" panose="020B0604020202020204" pitchFamily="34" charset="0"/>
                  </a:rPr>
                  <a:t>X</a:t>
                </a:r>
              </a:p>
            </c:rich>
          </c:tx>
          <c:layout>
            <c:manualLayout>
              <c:xMode val="edge"/>
              <c:yMode val="edge"/>
              <c:x val="0.49226948662339259"/>
              <c:y val="0.92754636876514296"/>
            </c:manualLayout>
          </c:layout>
          <c:overlay val="0"/>
          <c:spPr>
            <a:noFill/>
            <a:ln>
              <a:noFill/>
            </a:ln>
            <a:effectLst/>
          </c:spPr>
          <c:txPr>
            <a:bodyPr rot="0" spcFirstLastPara="1" vertOverflow="ellipsis" vert="horz" wrap="square" anchor="ctr" anchorCtr="1"/>
            <a:lstStyle/>
            <a:p>
              <a:pPr>
                <a:defRPr sz="24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pt-BR"/>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400" b="0" i="0" u="none" strike="noStrike" kern="1200" baseline="0">
                <a:solidFill>
                  <a:schemeClr val="tx1">
                    <a:lumMod val="65000"/>
                    <a:lumOff val="35000"/>
                  </a:schemeClr>
                </a:solidFill>
                <a:latin typeface="+mn-lt"/>
                <a:ea typeface="+mn-ea"/>
                <a:cs typeface="+mn-cs"/>
              </a:defRPr>
            </a:pPr>
            <a:endParaRPr lang="pt-BR"/>
          </a:p>
        </c:txPr>
        <c:crossAx val="152661600"/>
        <c:crosses val="autoZero"/>
        <c:crossBetween val="midCat"/>
      </c:valAx>
      <c:valAx>
        <c:axId val="152661600"/>
        <c:scaling>
          <c:orientation val="minMax"/>
          <c:max val="10"/>
        </c:scaling>
        <c:delete val="0"/>
        <c:axPos val="l"/>
        <c:majorGridlines>
          <c:spPr>
            <a:ln w="9525" cap="flat" cmpd="sng" algn="ctr">
              <a:solidFill>
                <a:schemeClr val="tx1">
                  <a:lumMod val="15000"/>
                  <a:lumOff val="85000"/>
                </a:schemeClr>
              </a:solidFill>
              <a:round/>
            </a:ln>
            <a:effectLst/>
          </c:spPr>
        </c:majorGridlines>
        <c:title>
          <c:tx>
            <c:rich>
              <a:bodyPr rot="0" spcFirstLastPara="1" vertOverflow="ellipsis" wrap="square" anchor="ctr" anchorCtr="1"/>
              <a:lstStyle/>
              <a:p>
                <a:pPr>
                  <a:defRPr sz="24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pt-BR" sz="2400" b="1">
                    <a:latin typeface="Arial" panose="020B0604020202020204" pitchFamily="34" charset="0"/>
                    <a:cs typeface="Arial" panose="020B0604020202020204" pitchFamily="34" charset="0"/>
                  </a:rPr>
                  <a:t>Y</a:t>
                </a:r>
              </a:p>
            </c:rich>
          </c:tx>
          <c:layout>
            <c:manualLayout>
              <c:xMode val="edge"/>
              <c:yMode val="edge"/>
              <c:x val="1.3888888888888888E-2"/>
              <c:y val="2.7341790609507151E-2"/>
            </c:manualLayout>
          </c:layout>
          <c:overlay val="0"/>
          <c:spPr>
            <a:noFill/>
            <a:ln>
              <a:noFill/>
            </a:ln>
            <a:effectLst/>
          </c:spPr>
          <c:txPr>
            <a:bodyPr rot="0" spcFirstLastPara="1" vertOverflow="ellipsis" wrap="square" anchor="ctr" anchorCtr="1"/>
            <a:lstStyle/>
            <a:p>
              <a:pPr>
                <a:defRPr sz="24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pt-BR"/>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400" b="0" i="0" u="none" strike="noStrike" kern="1200" baseline="0">
                <a:solidFill>
                  <a:schemeClr val="tx1">
                    <a:lumMod val="65000"/>
                    <a:lumOff val="35000"/>
                  </a:schemeClr>
                </a:solidFill>
                <a:latin typeface="+mn-lt"/>
                <a:ea typeface="+mn-ea"/>
                <a:cs typeface="+mn-cs"/>
              </a:defRPr>
            </a:pPr>
            <a:endParaRPr lang="pt-BR"/>
          </a:p>
        </c:txPr>
        <c:crossAx val="152661208"/>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pt-BR"/>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3200" b="1"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r>
              <a:rPr lang="pt-BR" sz="3200" b="1" i="0" u="none" strike="noStrike" baseline="0">
                <a:effectLst/>
                <a:latin typeface="Arial" panose="020B0604020202020204" pitchFamily="34" charset="0"/>
                <a:cs typeface="Arial" panose="020B0604020202020204" pitchFamily="34" charset="0"/>
              </a:rPr>
              <a:t>Correlação Negativa</a:t>
            </a:r>
            <a:endParaRPr lang="en-US" sz="3200" b="1">
              <a:latin typeface="Arial" panose="020B0604020202020204" pitchFamily="34" charset="0"/>
              <a:cs typeface="Arial" panose="020B0604020202020204" pitchFamily="34" charset="0"/>
            </a:endParaRPr>
          </a:p>
        </c:rich>
      </c:tx>
      <c:overlay val="0"/>
      <c:spPr>
        <a:noFill/>
        <a:ln>
          <a:noFill/>
        </a:ln>
        <a:effectLst/>
      </c:spPr>
      <c:txPr>
        <a:bodyPr rot="0" spcFirstLastPara="1" vertOverflow="ellipsis" vert="horz" wrap="square" anchor="ctr" anchorCtr="1"/>
        <a:lstStyle/>
        <a:p>
          <a:pPr>
            <a:defRPr sz="3200" b="1"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title>
    <c:autoTitleDeleted val="0"/>
    <c:plotArea>
      <c:layout>
        <c:manualLayout>
          <c:layoutTarget val="inner"/>
          <c:xMode val="edge"/>
          <c:yMode val="edge"/>
          <c:x val="5.5469816272965877E-2"/>
          <c:y val="0.14393518518518519"/>
          <c:w val="0.9151968503937008"/>
          <c:h val="0.72919765237678613"/>
        </c:manualLayout>
      </c:layout>
      <c:scatterChart>
        <c:scatterStyle val="lineMarker"/>
        <c:varyColors val="0"/>
        <c:ser>
          <c:idx val="0"/>
          <c:order val="0"/>
          <c:tx>
            <c:strRef>
              <c:f>Correlação!$K$2</c:f>
              <c:strCache>
                <c:ptCount val="1"/>
                <c:pt idx="0">
                  <c:v>Correlação Negativa</c:v>
                </c:pt>
              </c:strCache>
            </c:strRef>
          </c:tx>
          <c:spPr>
            <a:ln w="25400" cap="rnd">
              <a:noFill/>
              <a:round/>
            </a:ln>
            <a:effectLst/>
          </c:spPr>
          <c:marker>
            <c:symbol val="circle"/>
            <c:size val="5"/>
            <c:spPr>
              <a:solidFill>
                <a:schemeClr val="accent1"/>
              </a:solidFill>
              <a:ln w="50800">
                <a:solidFill>
                  <a:schemeClr val="accent1"/>
                </a:solidFill>
              </a:ln>
              <a:effectLst/>
            </c:spPr>
          </c:marker>
          <c:trendline>
            <c:spPr>
              <a:ln w="19050" cap="rnd">
                <a:solidFill>
                  <a:schemeClr val="accent1"/>
                </a:solidFill>
                <a:prstDash val="sysDot"/>
              </a:ln>
              <a:effectLst/>
            </c:spPr>
            <c:trendlineType val="linear"/>
            <c:dispRSqr val="1"/>
            <c:dispEq val="1"/>
            <c:trendlineLbl>
              <c:layout>
                <c:manualLayout>
                  <c:x val="-0.43829486606742296"/>
                  <c:y val="-6.4322725694737445E-2"/>
                </c:manualLayout>
              </c:layout>
              <c:numFmt formatCode="General" sourceLinked="0"/>
              <c:spPr>
                <a:noFill/>
                <a:ln>
                  <a:noFill/>
                </a:ln>
                <a:effectLst/>
              </c:spPr>
              <c:txPr>
                <a:bodyPr rot="0" spcFirstLastPara="1" vertOverflow="ellipsis" vert="horz" wrap="square" anchor="ctr" anchorCtr="1"/>
                <a:lstStyle/>
                <a:p>
                  <a:pPr>
                    <a:defRPr sz="2400" b="0" i="0" u="none" strike="noStrike" kern="1200" baseline="0">
                      <a:solidFill>
                        <a:schemeClr val="tx1">
                          <a:lumMod val="65000"/>
                          <a:lumOff val="35000"/>
                        </a:schemeClr>
                      </a:solidFill>
                      <a:latin typeface="+mn-lt"/>
                      <a:ea typeface="+mn-ea"/>
                      <a:cs typeface="+mn-cs"/>
                    </a:defRPr>
                  </a:pPr>
                  <a:endParaRPr lang="pt-BR"/>
                </a:p>
              </c:txPr>
            </c:trendlineLbl>
          </c:trendline>
          <c:xVal>
            <c:numRef>
              <c:f>Correlação!$K$4:$K$13</c:f>
              <c:numCache>
                <c:formatCode>General</c:formatCode>
                <c:ptCount val="10"/>
                <c:pt idx="0">
                  <c:v>1</c:v>
                </c:pt>
                <c:pt idx="1">
                  <c:v>2</c:v>
                </c:pt>
                <c:pt idx="2">
                  <c:v>3</c:v>
                </c:pt>
                <c:pt idx="3">
                  <c:v>4</c:v>
                </c:pt>
                <c:pt idx="4">
                  <c:v>5</c:v>
                </c:pt>
                <c:pt idx="5">
                  <c:v>6</c:v>
                </c:pt>
                <c:pt idx="6">
                  <c:v>7</c:v>
                </c:pt>
                <c:pt idx="7">
                  <c:v>8</c:v>
                </c:pt>
                <c:pt idx="8">
                  <c:v>9</c:v>
                </c:pt>
                <c:pt idx="9">
                  <c:v>10</c:v>
                </c:pt>
              </c:numCache>
            </c:numRef>
          </c:xVal>
          <c:yVal>
            <c:numRef>
              <c:f>Correlação!$L$4:$L$13</c:f>
              <c:numCache>
                <c:formatCode>General</c:formatCode>
                <c:ptCount val="10"/>
                <c:pt idx="0">
                  <c:v>9.9</c:v>
                </c:pt>
                <c:pt idx="1">
                  <c:v>9.1</c:v>
                </c:pt>
                <c:pt idx="2">
                  <c:v>8.4</c:v>
                </c:pt>
                <c:pt idx="3">
                  <c:v>7.3</c:v>
                </c:pt>
                <c:pt idx="4">
                  <c:v>6.9</c:v>
                </c:pt>
                <c:pt idx="5">
                  <c:v>5.8</c:v>
                </c:pt>
                <c:pt idx="6">
                  <c:v>4.5</c:v>
                </c:pt>
                <c:pt idx="7">
                  <c:v>3.7</c:v>
                </c:pt>
                <c:pt idx="8">
                  <c:v>2.1</c:v>
                </c:pt>
                <c:pt idx="9">
                  <c:v>1.5</c:v>
                </c:pt>
              </c:numCache>
            </c:numRef>
          </c:yVal>
          <c:smooth val="0"/>
          <c:extLst>
            <c:ext xmlns:c16="http://schemas.microsoft.com/office/drawing/2014/chart" uri="{C3380CC4-5D6E-409C-BE32-E72D297353CC}">
              <c16:uniqueId val="{00000001-B142-4AEC-A5E2-060DE428AF11}"/>
            </c:ext>
          </c:extLst>
        </c:ser>
        <c:dLbls>
          <c:showLegendKey val="0"/>
          <c:showVal val="0"/>
          <c:showCatName val="0"/>
          <c:showSerName val="0"/>
          <c:showPercent val="0"/>
          <c:showBubbleSize val="0"/>
        </c:dLbls>
        <c:axId val="107789112"/>
        <c:axId val="152659248"/>
      </c:scatterChart>
      <c:valAx>
        <c:axId val="107789112"/>
        <c:scaling>
          <c:orientation val="minMax"/>
          <c:max val="1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24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pt-BR" sz="2400" b="1">
                    <a:latin typeface="Arial" panose="020B0604020202020204" pitchFamily="34" charset="0"/>
                    <a:cs typeface="Arial" panose="020B0604020202020204" pitchFamily="34" charset="0"/>
                  </a:rPr>
                  <a:t>X</a:t>
                </a:r>
              </a:p>
            </c:rich>
          </c:tx>
          <c:layout>
            <c:manualLayout>
              <c:xMode val="edge"/>
              <c:yMode val="edge"/>
              <c:x val="0.49226946631671031"/>
              <c:y val="0.91108778069407992"/>
            </c:manualLayout>
          </c:layout>
          <c:overlay val="0"/>
          <c:spPr>
            <a:noFill/>
            <a:ln>
              <a:noFill/>
            </a:ln>
            <a:effectLst/>
          </c:spPr>
          <c:txPr>
            <a:bodyPr rot="0" spcFirstLastPara="1" vertOverflow="ellipsis" vert="horz" wrap="square" anchor="ctr" anchorCtr="1"/>
            <a:lstStyle/>
            <a:p>
              <a:pPr>
                <a:defRPr sz="24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pt-BR"/>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400" b="0" i="0" u="none" strike="noStrike" kern="1200" baseline="0">
                <a:solidFill>
                  <a:schemeClr val="tx1">
                    <a:lumMod val="65000"/>
                    <a:lumOff val="35000"/>
                  </a:schemeClr>
                </a:solidFill>
                <a:latin typeface="+mn-lt"/>
                <a:ea typeface="+mn-ea"/>
                <a:cs typeface="+mn-cs"/>
              </a:defRPr>
            </a:pPr>
            <a:endParaRPr lang="pt-BR"/>
          </a:p>
        </c:txPr>
        <c:crossAx val="152659248"/>
        <c:crosses val="autoZero"/>
        <c:crossBetween val="midCat"/>
      </c:valAx>
      <c:valAx>
        <c:axId val="152659248"/>
        <c:scaling>
          <c:orientation val="minMax"/>
          <c:max val="10"/>
        </c:scaling>
        <c:delete val="0"/>
        <c:axPos val="l"/>
        <c:majorGridlines>
          <c:spPr>
            <a:ln w="9525" cap="flat" cmpd="sng" algn="ctr">
              <a:solidFill>
                <a:schemeClr val="tx1">
                  <a:lumMod val="15000"/>
                  <a:lumOff val="85000"/>
                </a:schemeClr>
              </a:solidFill>
              <a:round/>
            </a:ln>
            <a:effectLst/>
          </c:spPr>
        </c:majorGridlines>
        <c:title>
          <c:tx>
            <c:rich>
              <a:bodyPr rot="0" spcFirstLastPara="1" vertOverflow="ellipsis" wrap="square" anchor="ctr" anchorCtr="1"/>
              <a:lstStyle/>
              <a:p>
                <a:pPr>
                  <a:defRPr sz="24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pt-BR" sz="2400" b="1">
                    <a:latin typeface="Arial" panose="020B0604020202020204" pitchFamily="34" charset="0"/>
                    <a:cs typeface="Arial" panose="020B0604020202020204" pitchFamily="34" charset="0"/>
                  </a:rPr>
                  <a:t>Y</a:t>
                </a:r>
              </a:p>
            </c:rich>
          </c:tx>
          <c:layout>
            <c:manualLayout>
              <c:xMode val="edge"/>
              <c:yMode val="edge"/>
              <c:x val="1.3888888888888888E-2"/>
              <c:y val="2.7341790609507151E-2"/>
            </c:manualLayout>
          </c:layout>
          <c:overlay val="0"/>
          <c:spPr>
            <a:noFill/>
            <a:ln>
              <a:noFill/>
            </a:ln>
            <a:effectLst/>
          </c:spPr>
          <c:txPr>
            <a:bodyPr rot="0" spcFirstLastPara="1" vertOverflow="ellipsis" wrap="square" anchor="ctr" anchorCtr="1"/>
            <a:lstStyle/>
            <a:p>
              <a:pPr>
                <a:defRPr sz="24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pt-BR"/>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400" b="0" i="0" u="none" strike="noStrike" kern="1200" baseline="0">
                <a:solidFill>
                  <a:schemeClr val="tx1">
                    <a:lumMod val="65000"/>
                    <a:lumOff val="35000"/>
                  </a:schemeClr>
                </a:solidFill>
                <a:latin typeface="+mn-lt"/>
                <a:ea typeface="+mn-ea"/>
                <a:cs typeface="+mn-cs"/>
              </a:defRPr>
            </a:pPr>
            <a:endParaRPr lang="pt-BR"/>
          </a:p>
        </c:txPr>
        <c:crossAx val="107789112"/>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pt-BR"/>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800" b="1"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r>
              <a:rPr lang="pt-BR" sz="2800" b="1" i="0" u="none" strike="noStrike" baseline="0">
                <a:effectLst/>
                <a:latin typeface="Arial" panose="020B0604020202020204" pitchFamily="34" charset="0"/>
                <a:cs typeface="Arial" panose="020B0604020202020204" pitchFamily="34" charset="0"/>
              </a:rPr>
              <a:t>Correlação Nula</a:t>
            </a:r>
            <a:endParaRPr lang="en-US" sz="2800" b="1">
              <a:latin typeface="Arial" panose="020B0604020202020204" pitchFamily="34" charset="0"/>
              <a:cs typeface="Arial" panose="020B0604020202020204" pitchFamily="34" charset="0"/>
            </a:endParaRPr>
          </a:p>
        </c:rich>
      </c:tx>
      <c:overlay val="0"/>
      <c:spPr>
        <a:noFill/>
        <a:ln>
          <a:noFill/>
        </a:ln>
        <a:effectLst/>
      </c:spPr>
      <c:txPr>
        <a:bodyPr rot="0" spcFirstLastPara="1" vertOverflow="ellipsis" vert="horz" wrap="square" anchor="ctr" anchorCtr="1"/>
        <a:lstStyle/>
        <a:p>
          <a:pPr>
            <a:defRPr sz="2800" b="1"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title>
    <c:autoTitleDeleted val="0"/>
    <c:plotArea>
      <c:layout>
        <c:manualLayout>
          <c:layoutTarget val="inner"/>
          <c:xMode val="edge"/>
          <c:yMode val="edge"/>
          <c:x val="5.5469816272965877E-2"/>
          <c:y val="0.14393518518518519"/>
          <c:w val="0.9151968503937008"/>
          <c:h val="0.72919765237678613"/>
        </c:manualLayout>
      </c:layout>
      <c:scatterChart>
        <c:scatterStyle val="lineMarker"/>
        <c:varyColors val="0"/>
        <c:ser>
          <c:idx val="0"/>
          <c:order val="0"/>
          <c:tx>
            <c:strRef>
              <c:f>Correlação!$B$15</c:f>
              <c:strCache>
                <c:ptCount val="1"/>
                <c:pt idx="0">
                  <c:v>Correlação Nula</c:v>
                </c:pt>
              </c:strCache>
            </c:strRef>
          </c:tx>
          <c:spPr>
            <a:ln w="25400" cap="rnd">
              <a:noFill/>
              <a:round/>
            </a:ln>
            <a:effectLst/>
          </c:spPr>
          <c:marker>
            <c:symbol val="circle"/>
            <c:size val="5"/>
            <c:spPr>
              <a:solidFill>
                <a:schemeClr val="accent1"/>
              </a:solidFill>
              <a:ln w="50800">
                <a:solidFill>
                  <a:schemeClr val="accent1"/>
                </a:solidFill>
              </a:ln>
              <a:effectLst/>
            </c:spPr>
          </c:marker>
          <c:trendline>
            <c:spPr>
              <a:ln w="19050" cap="rnd">
                <a:solidFill>
                  <a:schemeClr val="accent1"/>
                </a:solidFill>
                <a:prstDash val="sysDot"/>
              </a:ln>
              <a:effectLst/>
            </c:spPr>
            <c:trendlineType val="linear"/>
            <c:dispRSqr val="1"/>
            <c:dispEq val="1"/>
            <c:trendlineLbl>
              <c:layout>
                <c:manualLayout>
                  <c:x val="-0.41408020115437588"/>
                  <c:y val="0.26361756881715648"/>
                </c:manualLayout>
              </c:layout>
              <c:numFmt formatCode="General" sourceLinked="0"/>
              <c:spPr>
                <a:noFill/>
                <a:ln>
                  <a:noFill/>
                </a:ln>
                <a:effectLst/>
              </c:spPr>
              <c:txPr>
                <a:bodyPr rot="0" spcFirstLastPara="1" vertOverflow="ellipsis" vert="horz" wrap="square" anchor="ctr" anchorCtr="1"/>
                <a:lstStyle/>
                <a:p>
                  <a:pPr>
                    <a:defRPr sz="2400" b="0" i="0" u="none" strike="noStrike" kern="1200" baseline="0">
                      <a:solidFill>
                        <a:schemeClr val="tx1">
                          <a:lumMod val="65000"/>
                          <a:lumOff val="35000"/>
                        </a:schemeClr>
                      </a:solidFill>
                      <a:latin typeface="+mn-lt"/>
                      <a:ea typeface="+mn-ea"/>
                      <a:cs typeface="+mn-cs"/>
                    </a:defRPr>
                  </a:pPr>
                  <a:endParaRPr lang="pt-BR"/>
                </a:p>
              </c:txPr>
            </c:trendlineLbl>
          </c:trendline>
          <c:xVal>
            <c:numRef>
              <c:f>Correlação!$B$17:$B$26</c:f>
              <c:numCache>
                <c:formatCode>General</c:formatCode>
                <c:ptCount val="10"/>
                <c:pt idx="0">
                  <c:v>1</c:v>
                </c:pt>
                <c:pt idx="1">
                  <c:v>2</c:v>
                </c:pt>
                <c:pt idx="2">
                  <c:v>3</c:v>
                </c:pt>
                <c:pt idx="3">
                  <c:v>4</c:v>
                </c:pt>
                <c:pt idx="4">
                  <c:v>5</c:v>
                </c:pt>
                <c:pt idx="5">
                  <c:v>6</c:v>
                </c:pt>
                <c:pt idx="6">
                  <c:v>7</c:v>
                </c:pt>
                <c:pt idx="7">
                  <c:v>8</c:v>
                </c:pt>
                <c:pt idx="8">
                  <c:v>9</c:v>
                </c:pt>
                <c:pt idx="9">
                  <c:v>10</c:v>
                </c:pt>
              </c:numCache>
            </c:numRef>
          </c:xVal>
          <c:yVal>
            <c:numRef>
              <c:f>Correlação!$C$17:$C$26</c:f>
              <c:numCache>
                <c:formatCode>General</c:formatCode>
                <c:ptCount val="10"/>
                <c:pt idx="0">
                  <c:v>5.8</c:v>
                </c:pt>
                <c:pt idx="1">
                  <c:v>3.1</c:v>
                </c:pt>
                <c:pt idx="2">
                  <c:v>7.5</c:v>
                </c:pt>
                <c:pt idx="3">
                  <c:v>9.9</c:v>
                </c:pt>
                <c:pt idx="4">
                  <c:v>6.3</c:v>
                </c:pt>
                <c:pt idx="5">
                  <c:v>2.2000000000000002</c:v>
                </c:pt>
                <c:pt idx="6">
                  <c:v>4.8</c:v>
                </c:pt>
                <c:pt idx="7">
                  <c:v>9.1</c:v>
                </c:pt>
                <c:pt idx="8">
                  <c:v>8.3000000000000007</c:v>
                </c:pt>
                <c:pt idx="9">
                  <c:v>1.1000000000000001</c:v>
                </c:pt>
              </c:numCache>
            </c:numRef>
          </c:yVal>
          <c:smooth val="0"/>
          <c:extLst>
            <c:ext xmlns:c16="http://schemas.microsoft.com/office/drawing/2014/chart" uri="{C3380CC4-5D6E-409C-BE32-E72D297353CC}">
              <c16:uniqueId val="{00000001-5425-49AA-9434-AADEFA3B045F}"/>
            </c:ext>
          </c:extLst>
        </c:ser>
        <c:dLbls>
          <c:showLegendKey val="0"/>
          <c:showVal val="0"/>
          <c:showCatName val="0"/>
          <c:showSerName val="0"/>
          <c:showPercent val="0"/>
          <c:showBubbleSize val="0"/>
        </c:dLbls>
        <c:axId val="153990456"/>
        <c:axId val="153990848"/>
      </c:scatterChart>
      <c:valAx>
        <c:axId val="153990456"/>
        <c:scaling>
          <c:orientation val="minMax"/>
          <c:max val="1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24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pt-BR" sz="2400" b="1">
                    <a:latin typeface="Arial" panose="020B0604020202020204" pitchFamily="34" charset="0"/>
                    <a:cs typeface="Arial" panose="020B0604020202020204" pitchFamily="34" charset="0"/>
                  </a:rPr>
                  <a:t>X</a:t>
                </a:r>
              </a:p>
            </c:rich>
          </c:tx>
          <c:layout>
            <c:manualLayout>
              <c:xMode val="edge"/>
              <c:yMode val="edge"/>
              <c:x val="0.49827378803486239"/>
              <c:y val="0.92271275097087568"/>
            </c:manualLayout>
          </c:layout>
          <c:overlay val="0"/>
          <c:spPr>
            <a:noFill/>
            <a:ln>
              <a:noFill/>
            </a:ln>
            <a:effectLst/>
          </c:spPr>
          <c:txPr>
            <a:bodyPr rot="0" spcFirstLastPara="1" vertOverflow="ellipsis" vert="horz" wrap="square" anchor="ctr" anchorCtr="1"/>
            <a:lstStyle/>
            <a:p>
              <a:pPr>
                <a:defRPr sz="24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pt-BR"/>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400" b="0" i="0" u="none" strike="noStrike" kern="1200" baseline="0">
                <a:solidFill>
                  <a:schemeClr val="tx1">
                    <a:lumMod val="65000"/>
                    <a:lumOff val="35000"/>
                  </a:schemeClr>
                </a:solidFill>
                <a:latin typeface="+mn-lt"/>
                <a:ea typeface="+mn-ea"/>
                <a:cs typeface="+mn-cs"/>
              </a:defRPr>
            </a:pPr>
            <a:endParaRPr lang="pt-BR"/>
          </a:p>
        </c:txPr>
        <c:crossAx val="153990848"/>
        <c:crosses val="autoZero"/>
        <c:crossBetween val="midCat"/>
      </c:valAx>
      <c:valAx>
        <c:axId val="153990848"/>
        <c:scaling>
          <c:orientation val="minMax"/>
          <c:max val="10"/>
        </c:scaling>
        <c:delete val="0"/>
        <c:axPos val="l"/>
        <c:majorGridlines>
          <c:spPr>
            <a:ln w="9525" cap="flat" cmpd="sng" algn="ctr">
              <a:solidFill>
                <a:schemeClr val="tx1">
                  <a:lumMod val="15000"/>
                  <a:lumOff val="85000"/>
                </a:schemeClr>
              </a:solidFill>
              <a:round/>
            </a:ln>
            <a:effectLst/>
          </c:spPr>
        </c:majorGridlines>
        <c:title>
          <c:tx>
            <c:rich>
              <a:bodyPr rot="0" spcFirstLastPara="1" vertOverflow="ellipsis" wrap="square" anchor="ctr" anchorCtr="1"/>
              <a:lstStyle/>
              <a:p>
                <a:pPr>
                  <a:defRPr sz="24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pt-BR" sz="2400" b="1">
                    <a:latin typeface="Arial" panose="020B0604020202020204" pitchFamily="34" charset="0"/>
                    <a:cs typeface="Arial" panose="020B0604020202020204" pitchFamily="34" charset="0"/>
                  </a:rPr>
                  <a:t>Y</a:t>
                </a:r>
              </a:p>
            </c:rich>
          </c:tx>
          <c:layout>
            <c:manualLayout>
              <c:xMode val="edge"/>
              <c:yMode val="edge"/>
              <c:x val="1.3888888888888888E-2"/>
              <c:y val="2.7341790609507151E-2"/>
            </c:manualLayout>
          </c:layout>
          <c:overlay val="0"/>
          <c:spPr>
            <a:noFill/>
            <a:ln>
              <a:noFill/>
            </a:ln>
            <a:effectLst/>
          </c:spPr>
          <c:txPr>
            <a:bodyPr rot="0" spcFirstLastPara="1" vertOverflow="ellipsis" wrap="square" anchor="ctr" anchorCtr="1"/>
            <a:lstStyle/>
            <a:p>
              <a:pPr>
                <a:defRPr sz="24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pt-BR"/>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400" b="0" i="0" u="none" strike="noStrike" kern="1200" baseline="0">
                <a:solidFill>
                  <a:schemeClr val="tx1">
                    <a:lumMod val="65000"/>
                    <a:lumOff val="35000"/>
                  </a:schemeClr>
                </a:solidFill>
                <a:latin typeface="+mn-lt"/>
                <a:ea typeface="+mn-ea"/>
                <a:cs typeface="+mn-cs"/>
              </a:defRPr>
            </a:pPr>
            <a:endParaRPr lang="pt-BR"/>
          </a:p>
        </c:txPr>
        <c:crossAx val="153990456"/>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pt-BR"/>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800" b="1"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r>
              <a:rPr lang="pt-BR" sz="2800" b="1" i="0" u="none" strike="noStrike" baseline="0" dirty="0">
                <a:effectLst/>
                <a:latin typeface="Arial" panose="020B0604020202020204" pitchFamily="34" charset="0"/>
                <a:cs typeface="Arial" panose="020B0604020202020204" pitchFamily="34" charset="0"/>
              </a:rPr>
              <a:t>Correlação Não Linear (Potencia)</a:t>
            </a:r>
            <a:endParaRPr lang="en-US" sz="2800" b="1" dirty="0">
              <a:latin typeface="Arial" panose="020B0604020202020204" pitchFamily="34" charset="0"/>
              <a:cs typeface="Arial" panose="020B0604020202020204" pitchFamily="34" charset="0"/>
            </a:endParaRPr>
          </a:p>
        </c:rich>
      </c:tx>
      <c:overlay val="0"/>
      <c:spPr>
        <a:noFill/>
        <a:ln>
          <a:noFill/>
        </a:ln>
        <a:effectLst/>
      </c:spPr>
      <c:txPr>
        <a:bodyPr rot="0" spcFirstLastPara="1" vertOverflow="ellipsis" vert="horz" wrap="square" anchor="ctr" anchorCtr="1"/>
        <a:lstStyle/>
        <a:p>
          <a:pPr>
            <a:defRPr sz="2800" b="1"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title>
    <c:autoTitleDeleted val="0"/>
    <c:plotArea>
      <c:layout>
        <c:manualLayout>
          <c:layoutTarget val="inner"/>
          <c:xMode val="edge"/>
          <c:yMode val="edge"/>
          <c:x val="5.5469816272965877E-2"/>
          <c:y val="0.14393518518518519"/>
          <c:w val="0.9151968503937008"/>
          <c:h val="0.72919765237678613"/>
        </c:manualLayout>
      </c:layout>
      <c:scatterChart>
        <c:scatterStyle val="lineMarker"/>
        <c:varyColors val="0"/>
        <c:ser>
          <c:idx val="0"/>
          <c:order val="0"/>
          <c:tx>
            <c:strRef>
              <c:f>Correlação!$K$15</c:f>
              <c:strCache>
                <c:ptCount val="1"/>
                <c:pt idx="0">
                  <c:v>Correlação Não linear</c:v>
                </c:pt>
              </c:strCache>
            </c:strRef>
          </c:tx>
          <c:spPr>
            <a:ln w="25400" cap="rnd">
              <a:noFill/>
              <a:round/>
            </a:ln>
            <a:effectLst/>
          </c:spPr>
          <c:marker>
            <c:symbol val="circle"/>
            <c:size val="5"/>
            <c:spPr>
              <a:solidFill>
                <a:schemeClr val="accent1"/>
              </a:solidFill>
              <a:ln w="50800">
                <a:solidFill>
                  <a:schemeClr val="accent1"/>
                </a:solidFill>
              </a:ln>
              <a:effectLst/>
            </c:spPr>
          </c:marker>
          <c:trendline>
            <c:spPr>
              <a:ln w="19050" cap="rnd">
                <a:solidFill>
                  <a:schemeClr val="accent1"/>
                </a:solidFill>
                <a:prstDash val="sysDot"/>
              </a:ln>
              <a:effectLst/>
            </c:spPr>
            <c:trendlineType val="power"/>
            <c:dispRSqr val="1"/>
            <c:dispEq val="1"/>
            <c:trendlineLbl>
              <c:layout>
                <c:manualLayout>
                  <c:x val="-0.61211024223899635"/>
                  <c:y val="9.1144791281603743E-2"/>
                </c:manualLayout>
              </c:layout>
              <c:numFmt formatCode="General" sourceLinked="0"/>
              <c:spPr>
                <a:noFill/>
                <a:ln>
                  <a:noFill/>
                </a:ln>
                <a:effectLst/>
              </c:spPr>
              <c:txPr>
                <a:bodyPr rot="0" spcFirstLastPara="1" vertOverflow="ellipsis" vert="horz" wrap="square" anchor="ctr" anchorCtr="1"/>
                <a:lstStyle/>
                <a:p>
                  <a:pPr>
                    <a:defRPr sz="2400" b="0" i="0" u="none" strike="noStrike" kern="1200" baseline="0">
                      <a:solidFill>
                        <a:schemeClr val="tx1">
                          <a:lumMod val="65000"/>
                          <a:lumOff val="35000"/>
                        </a:schemeClr>
                      </a:solidFill>
                      <a:latin typeface="+mn-lt"/>
                      <a:ea typeface="+mn-ea"/>
                      <a:cs typeface="+mn-cs"/>
                    </a:defRPr>
                  </a:pPr>
                  <a:endParaRPr lang="pt-BR"/>
                </a:p>
              </c:txPr>
            </c:trendlineLbl>
          </c:trendline>
          <c:xVal>
            <c:numRef>
              <c:f>Correlação!$K$17:$K$26</c:f>
              <c:numCache>
                <c:formatCode>General</c:formatCode>
                <c:ptCount val="10"/>
                <c:pt idx="0">
                  <c:v>1</c:v>
                </c:pt>
                <c:pt idx="1">
                  <c:v>2</c:v>
                </c:pt>
                <c:pt idx="2">
                  <c:v>3</c:v>
                </c:pt>
                <c:pt idx="3">
                  <c:v>4</c:v>
                </c:pt>
                <c:pt idx="4">
                  <c:v>5</c:v>
                </c:pt>
                <c:pt idx="5">
                  <c:v>6</c:v>
                </c:pt>
                <c:pt idx="6">
                  <c:v>7</c:v>
                </c:pt>
                <c:pt idx="7">
                  <c:v>8</c:v>
                </c:pt>
                <c:pt idx="8">
                  <c:v>9</c:v>
                </c:pt>
                <c:pt idx="9">
                  <c:v>10</c:v>
                </c:pt>
              </c:numCache>
            </c:numRef>
          </c:xVal>
          <c:yVal>
            <c:numRef>
              <c:f>Correlação!$L$17:$L$26</c:f>
              <c:numCache>
                <c:formatCode>General</c:formatCode>
                <c:ptCount val="10"/>
                <c:pt idx="0">
                  <c:v>1.5</c:v>
                </c:pt>
                <c:pt idx="1">
                  <c:v>5</c:v>
                </c:pt>
                <c:pt idx="2">
                  <c:v>8</c:v>
                </c:pt>
                <c:pt idx="3">
                  <c:v>15</c:v>
                </c:pt>
                <c:pt idx="4">
                  <c:v>27</c:v>
                </c:pt>
                <c:pt idx="5">
                  <c:v>33</c:v>
                </c:pt>
                <c:pt idx="6">
                  <c:v>50</c:v>
                </c:pt>
                <c:pt idx="7">
                  <c:v>68</c:v>
                </c:pt>
                <c:pt idx="8">
                  <c:v>92</c:v>
                </c:pt>
                <c:pt idx="9">
                  <c:v>99</c:v>
                </c:pt>
              </c:numCache>
            </c:numRef>
          </c:yVal>
          <c:smooth val="0"/>
          <c:extLst>
            <c:ext xmlns:c16="http://schemas.microsoft.com/office/drawing/2014/chart" uri="{C3380CC4-5D6E-409C-BE32-E72D297353CC}">
              <c16:uniqueId val="{00000001-17FD-45CE-9F44-CF0FA2B513C9}"/>
            </c:ext>
          </c:extLst>
        </c:ser>
        <c:dLbls>
          <c:showLegendKey val="0"/>
          <c:showVal val="0"/>
          <c:showCatName val="0"/>
          <c:showSerName val="0"/>
          <c:showPercent val="0"/>
          <c:showBubbleSize val="0"/>
        </c:dLbls>
        <c:axId val="153991632"/>
        <c:axId val="153992024"/>
      </c:scatterChart>
      <c:valAx>
        <c:axId val="153991632"/>
        <c:scaling>
          <c:orientation val="minMax"/>
          <c:max val="1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24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pt-BR" sz="2400" b="1">
                    <a:latin typeface="Arial" panose="020B0604020202020204" pitchFamily="34" charset="0"/>
                    <a:cs typeface="Arial" panose="020B0604020202020204" pitchFamily="34" charset="0"/>
                  </a:rPr>
                  <a:t>X</a:t>
                </a:r>
              </a:p>
            </c:rich>
          </c:tx>
          <c:layout>
            <c:manualLayout>
              <c:xMode val="edge"/>
              <c:yMode val="edge"/>
              <c:x val="0.49226944492741903"/>
              <c:y val="0.92722081610928153"/>
            </c:manualLayout>
          </c:layout>
          <c:overlay val="0"/>
          <c:spPr>
            <a:noFill/>
            <a:ln>
              <a:noFill/>
            </a:ln>
            <a:effectLst/>
          </c:spPr>
          <c:txPr>
            <a:bodyPr rot="0" spcFirstLastPara="1" vertOverflow="ellipsis" vert="horz" wrap="square" anchor="ctr" anchorCtr="1"/>
            <a:lstStyle/>
            <a:p>
              <a:pPr>
                <a:defRPr sz="24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pt-BR"/>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400" b="0" i="0" u="none" strike="noStrike" kern="1200" baseline="0">
                <a:solidFill>
                  <a:schemeClr val="tx1">
                    <a:lumMod val="65000"/>
                    <a:lumOff val="35000"/>
                  </a:schemeClr>
                </a:solidFill>
                <a:latin typeface="+mn-lt"/>
                <a:ea typeface="+mn-ea"/>
                <a:cs typeface="+mn-cs"/>
              </a:defRPr>
            </a:pPr>
            <a:endParaRPr lang="pt-BR"/>
          </a:p>
        </c:txPr>
        <c:crossAx val="153992024"/>
        <c:crosses val="autoZero"/>
        <c:crossBetween val="midCat"/>
      </c:valAx>
      <c:valAx>
        <c:axId val="153992024"/>
        <c:scaling>
          <c:orientation val="minMax"/>
          <c:max val="100"/>
        </c:scaling>
        <c:delete val="0"/>
        <c:axPos val="l"/>
        <c:majorGridlines>
          <c:spPr>
            <a:ln w="9525" cap="flat" cmpd="sng" algn="ctr">
              <a:solidFill>
                <a:schemeClr val="tx1">
                  <a:lumMod val="15000"/>
                  <a:lumOff val="85000"/>
                </a:schemeClr>
              </a:solidFill>
              <a:round/>
            </a:ln>
            <a:effectLst/>
          </c:spPr>
        </c:majorGridlines>
        <c:title>
          <c:tx>
            <c:rich>
              <a:bodyPr rot="0" spcFirstLastPara="1" vertOverflow="ellipsis" wrap="square" anchor="ctr" anchorCtr="1"/>
              <a:lstStyle/>
              <a:p>
                <a:pPr>
                  <a:defRPr sz="24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pt-BR" sz="2400" b="1">
                    <a:latin typeface="Arial" panose="020B0604020202020204" pitchFamily="34" charset="0"/>
                    <a:cs typeface="Arial" panose="020B0604020202020204" pitchFamily="34" charset="0"/>
                  </a:rPr>
                  <a:t>Y</a:t>
                </a:r>
              </a:p>
            </c:rich>
          </c:tx>
          <c:layout>
            <c:manualLayout>
              <c:xMode val="edge"/>
              <c:yMode val="edge"/>
              <c:x val="1.3888888888888888E-2"/>
              <c:y val="2.7341790609507151E-2"/>
            </c:manualLayout>
          </c:layout>
          <c:overlay val="0"/>
          <c:spPr>
            <a:noFill/>
            <a:ln>
              <a:noFill/>
            </a:ln>
            <a:effectLst/>
          </c:spPr>
          <c:txPr>
            <a:bodyPr rot="0" spcFirstLastPara="1" vertOverflow="ellipsis" wrap="square" anchor="ctr" anchorCtr="1"/>
            <a:lstStyle/>
            <a:p>
              <a:pPr>
                <a:defRPr sz="24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pt-BR"/>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400" b="0" i="0" u="none" strike="noStrike" kern="1200" baseline="0">
                <a:solidFill>
                  <a:schemeClr val="tx1">
                    <a:lumMod val="65000"/>
                    <a:lumOff val="35000"/>
                  </a:schemeClr>
                </a:solidFill>
                <a:latin typeface="+mn-lt"/>
                <a:ea typeface="+mn-ea"/>
                <a:cs typeface="+mn-cs"/>
              </a:defRPr>
            </a:pPr>
            <a:endParaRPr lang="pt-BR"/>
          </a:p>
        </c:txPr>
        <c:crossAx val="153991632"/>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pt-B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F6E0CE-FF79-421F-98AA-B00047F169A1}" type="datetimeFigureOut">
              <a:rPr lang="pt-BR" smtClean="0"/>
              <a:t>13/09/2025</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021094-2F7D-4985-A9B0-7A020E3DC37A}" type="slidenum">
              <a:rPr lang="pt-BR" smtClean="0"/>
              <a:t>‹nº›</a:t>
            </a:fld>
            <a:endParaRPr lang="pt-BR"/>
          </a:p>
        </p:txBody>
      </p:sp>
    </p:spTree>
    <p:extLst>
      <p:ext uri="{BB962C8B-B14F-4D97-AF65-F5344CB8AC3E}">
        <p14:creationId xmlns:p14="http://schemas.microsoft.com/office/powerpoint/2010/main" val="3674856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ide de título">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pt-BR"/>
              <a:t>Clique para editar o título mestre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a:t>Clique para editar o estilo do subtítulo mestre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9/13/2025</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‹nº›</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dirty="0"/>
              <a:t>9/13/2025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pt-BR"/>
              <a:t>Clique para editar o título mestre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 texto mestre</a:t>
            </a:r>
          </a:p>
        </p:txBody>
      </p:sp>
      <p:sp>
        <p:nvSpPr>
          <p:cNvPr id="4" name="Date Placeholder 3"/>
          <p:cNvSpPr>
            <a:spLocks noGrp="1"/>
          </p:cNvSpPr>
          <p:nvPr>
            <p:ph type="dt" sz="half" idx="10"/>
          </p:nvPr>
        </p:nvSpPr>
        <p:spPr/>
        <p:txBody>
          <a:bodyPr/>
          <a:lstStyle/>
          <a:p>
            <a:fld id="{B61BEF0D-F0BB-DE4B-95CE-6DB70DBA9567}" type="datetimeFigureOut">
              <a:rPr lang="en-US" dirty="0"/>
              <a:pPr/>
              <a:t>9/13/2025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9/13/2025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pt-BR"/>
              <a:t>Clique para editar o título mestre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9/13/2025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‹nº›</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9/13/2025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9/13/2025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pt-BR"/>
              <a:t>Clique para editar o título mestre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p>
        </p:txBody>
      </p:sp>
      <p:sp>
        <p:nvSpPr>
          <p:cNvPr id="5" name="Date Placeholder 4"/>
          <p:cNvSpPr>
            <a:spLocks noGrp="1"/>
          </p:cNvSpPr>
          <p:nvPr>
            <p:ph type="dt" sz="half" idx="10"/>
          </p:nvPr>
        </p:nvSpPr>
        <p:spPr/>
        <p:txBody>
          <a:bodyPr/>
          <a:lstStyle/>
          <a:p>
            <a:fld id="{B61BEF0D-F0BB-DE4B-95CE-6DB70DBA9567}" type="datetimeFigureOut">
              <a:rPr lang="en-US" dirty="0"/>
              <a:pPr/>
              <a:t>9/13/2025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pt-BR"/>
              <a:t>Clique para editar o título mestre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p>
        </p:txBody>
      </p:sp>
      <p:sp>
        <p:nvSpPr>
          <p:cNvPr id="5" name="Date Placeholder 4"/>
          <p:cNvSpPr>
            <a:spLocks noGrp="1"/>
          </p:cNvSpPr>
          <p:nvPr>
            <p:ph type="dt" sz="half" idx="10"/>
          </p:nvPr>
        </p:nvSpPr>
        <p:spPr/>
        <p:txBody>
          <a:bodyPr/>
          <a:lstStyle/>
          <a:p>
            <a:fld id="{B61BEF0D-F0BB-DE4B-95CE-6DB70DBA9567}" type="datetimeFigureOut">
              <a:rPr lang="en-US" dirty="0"/>
              <a:pPr/>
              <a:t>9/13/2025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Foto Panorâmica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p>
        </p:txBody>
      </p:sp>
      <p:sp>
        <p:nvSpPr>
          <p:cNvPr id="5" name="Date Placeholder 4"/>
          <p:cNvSpPr>
            <a:spLocks noGrp="1"/>
          </p:cNvSpPr>
          <p:nvPr>
            <p:ph type="dt" sz="half" idx="10"/>
          </p:nvPr>
        </p:nvSpPr>
        <p:spPr/>
        <p:txBody>
          <a:bodyPr/>
          <a:lstStyle/>
          <a:p>
            <a:fld id="{B61BEF0D-F0BB-DE4B-95CE-6DB70DBA9567}" type="datetimeFigureOut">
              <a:rPr lang="en-US" dirty="0"/>
              <a:pPr/>
              <a:t>9/13/2025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e Legenda">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pt-BR"/>
              <a:t>Clique para editar o título mestre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 texto mestre</a:t>
            </a:r>
          </a:p>
        </p:txBody>
      </p:sp>
      <p:sp>
        <p:nvSpPr>
          <p:cNvPr id="4" name="Date Placeholder 3"/>
          <p:cNvSpPr>
            <a:spLocks noGrp="1"/>
          </p:cNvSpPr>
          <p:nvPr>
            <p:ph type="dt" sz="half" idx="10"/>
          </p:nvPr>
        </p:nvSpPr>
        <p:spPr/>
        <p:txBody>
          <a:bodyPr/>
          <a:lstStyle/>
          <a:p>
            <a:fld id="{B61BEF0D-F0BB-DE4B-95CE-6DB70DBA9567}" type="datetimeFigureOut">
              <a:rPr lang="en-US" dirty="0"/>
              <a:pPr/>
              <a:t>9/13/2025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çã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pt-BR"/>
              <a:t>Clique para editar o título mestre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pt-BR"/>
              <a:t>Clique para editar o texto mestre</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 texto mestre</a:t>
            </a:r>
          </a:p>
        </p:txBody>
      </p:sp>
      <p:sp>
        <p:nvSpPr>
          <p:cNvPr id="4" name="Date Placeholder 3"/>
          <p:cNvSpPr>
            <a:spLocks noGrp="1"/>
          </p:cNvSpPr>
          <p:nvPr>
            <p:ph type="dt" sz="half" idx="10"/>
          </p:nvPr>
        </p:nvSpPr>
        <p:spPr/>
        <p:txBody>
          <a:bodyPr/>
          <a:lstStyle/>
          <a:p>
            <a:fld id="{B61BEF0D-F0BB-DE4B-95CE-6DB70DBA9567}" type="datetimeFigureOut">
              <a:rPr lang="en-US" dirty="0"/>
              <a:pPr/>
              <a:t>9/13/2025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ão de Nome">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pt-BR"/>
              <a:t>Clique para editar o título mestre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 texto mestre</a:t>
            </a:r>
          </a:p>
        </p:txBody>
      </p:sp>
      <p:sp>
        <p:nvSpPr>
          <p:cNvPr id="4" name="Date Placeholder 3"/>
          <p:cNvSpPr>
            <a:spLocks noGrp="1"/>
          </p:cNvSpPr>
          <p:nvPr>
            <p:ph type="dt" sz="half" idx="10"/>
          </p:nvPr>
        </p:nvSpPr>
        <p:spPr/>
        <p:txBody>
          <a:bodyPr/>
          <a:lstStyle/>
          <a:p>
            <a:fld id="{B61BEF0D-F0BB-DE4B-95CE-6DB70DBA9567}" type="datetimeFigureOut">
              <a:rPr lang="en-US" dirty="0"/>
              <a:pPr/>
              <a:t>9/13/2025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itar o Cartão de Nome">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pt-BR"/>
              <a:t>Clique para editar o título mestre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 texto mestre</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 texto mestre</a:t>
            </a:r>
          </a:p>
        </p:txBody>
      </p:sp>
      <p:sp>
        <p:nvSpPr>
          <p:cNvPr id="4" name="Date Placeholder 3"/>
          <p:cNvSpPr>
            <a:spLocks noGrp="1"/>
          </p:cNvSpPr>
          <p:nvPr>
            <p:ph type="dt" sz="half" idx="10"/>
          </p:nvPr>
        </p:nvSpPr>
        <p:spPr/>
        <p:txBody>
          <a:bodyPr/>
          <a:lstStyle/>
          <a:p>
            <a:fld id="{B61BEF0D-F0BB-DE4B-95CE-6DB70DBA9567}" type="datetimeFigureOut">
              <a:rPr lang="en-US" dirty="0"/>
              <a:pPr/>
              <a:t>9/13/2025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erdadeiro ou Falso">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pt-BR"/>
              <a:t>Clique para editar o título mestre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 texto mestre</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 texto mestre</a:t>
            </a:r>
          </a:p>
        </p:txBody>
      </p:sp>
      <p:sp>
        <p:nvSpPr>
          <p:cNvPr id="4" name="Date Placeholder 3"/>
          <p:cNvSpPr>
            <a:spLocks noGrp="1"/>
          </p:cNvSpPr>
          <p:nvPr>
            <p:ph type="dt" sz="half" idx="10"/>
          </p:nvPr>
        </p:nvSpPr>
        <p:spPr/>
        <p:txBody>
          <a:bodyPr/>
          <a:lstStyle/>
          <a:p>
            <a:fld id="{B61BEF0D-F0BB-DE4B-95CE-6DB70DBA9567}" type="datetimeFigureOut">
              <a:rPr lang="en-US" dirty="0"/>
              <a:pPr/>
              <a:t>9/13/2025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ncho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pt-BR"/>
              <a:t>Clique para editar o título mestre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9/13/2025</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1.png"/><Relationship Id="rId4" Type="http://schemas.openxmlformats.org/officeDocument/2006/relationships/image" Target="../media/image1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2692398" y="1871131"/>
            <a:ext cx="6815669" cy="3314480"/>
          </a:xfrm>
        </p:spPr>
        <p:txBody>
          <a:bodyPr/>
          <a:lstStyle/>
          <a:p>
            <a:r>
              <a:rPr lang="pt-BR" sz="4400" dirty="0">
                <a:latin typeface="Arial" panose="020B0604020202020204" pitchFamily="34" charset="0"/>
                <a:cs typeface="Arial" panose="020B0604020202020204" pitchFamily="34" charset="0"/>
              </a:rPr>
              <a:t>Estatística Para Computação</a:t>
            </a:r>
            <a:br>
              <a:rPr lang="pt-BR" sz="4400" dirty="0">
                <a:latin typeface="Arial" panose="020B0604020202020204" pitchFamily="34" charset="0"/>
                <a:cs typeface="Arial" panose="020B0604020202020204" pitchFamily="34" charset="0"/>
              </a:rPr>
            </a:br>
            <a:br>
              <a:rPr lang="pt-BR" sz="4400" dirty="0">
                <a:latin typeface="Arial" panose="020B0604020202020204" pitchFamily="34" charset="0"/>
                <a:cs typeface="Arial" panose="020B0604020202020204" pitchFamily="34" charset="0"/>
              </a:rPr>
            </a:br>
            <a:r>
              <a:rPr lang="pt-BR" sz="3600" dirty="0">
                <a:latin typeface="Arial" panose="020B0604020202020204" pitchFamily="34" charset="0"/>
                <a:cs typeface="Arial" panose="020B0604020202020204" pitchFamily="34" charset="0"/>
              </a:rPr>
              <a:t>Correlação e Regressão Linear</a:t>
            </a:r>
            <a:br>
              <a:rPr lang="pt-BR" sz="3600" dirty="0">
                <a:latin typeface="Arial" panose="020B0604020202020204" pitchFamily="34" charset="0"/>
                <a:cs typeface="Arial" panose="020B0604020202020204" pitchFamily="34" charset="0"/>
              </a:rPr>
            </a:br>
            <a:r>
              <a:rPr lang="pt-BR" sz="2800" dirty="0">
                <a:latin typeface="Arial" panose="020B0604020202020204" pitchFamily="34" charset="0"/>
                <a:cs typeface="Arial" panose="020B0604020202020204" pitchFamily="34" charset="0"/>
              </a:rPr>
              <a:t>Aula 07</a:t>
            </a:r>
            <a:endParaRPr lang="pt-BR" sz="4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949842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Correlação</a:t>
            </a:r>
          </a:p>
        </p:txBody>
      </p:sp>
      <p:sp>
        <p:nvSpPr>
          <p:cNvPr id="3" name="Espaço Reservado para Conteúdo 2"/>
          <p:cNvSpPr>
            <a:spLocks noGrp="1"/>
          </p:cNvSpPr>
          <p:nvPr>
            <p:ph idx="1"/>
          </p:nvPr>
        </p:nvSpPr>
        <p:spPr>
          <a:xfrm>
            <a:off x="1149928" y="2493819"/>
            <a:ext cx="9933708" cy="3685308"/>
          </a:xfrm>
        </p:spPr>
        <p:txBody>
          <a:bodyPr>
            <a:normAutofit lnSpcReduction="10000"/>
          </a:bodyPr>
          <a:lstStyle/>
          <a:p>
            <a:pPr algn="just"/>
            <a:r>
              <a:rPr lang="pt-BR" dirty="0"/>
              <a:t>A correlação estatística é uma medida que descreve a relação entre duas ou mais variáveis. </a:t>
            </a:r>
          </a:p>
          <a:p>
            <a:pPr algn="just"/>
            <a:r>
              <a:rPr lang="pt-BR" dirty="0"/>
              <a:t>Ela nos diz se, e com que intensidade, uma variável tende a mudar quando a outra muda. </a:t>
            </a:r>
          </a:p>
          <a:p>
            <a:pPr algn="just"/>
            <a:r>
              <a:rPr lang="pt-BR" dirty="0"/>
              <a:t>É importante notar que correlação não é causalidade, ou seja, ela mostra uma conexão, mas não prova que uma variável causa a outra.</a:t>
            </a:r>
          </a:p>
          <a:p>
            <a:pPr algn="just"/>
            <a:r>
              <a:rPr lang="pt-BR" dirty="0"/>
              <a:t>Mostrando o comportamento conjunto de duas variáveis quantitativas distintas.</a:t>
            </a:r>
          </a:p>
          <a:p>
            <a:pPr algn="just"/>
            <a:r>
              <a:rPr lang="pt-BR" dirty="0"/>
              <a:t>Em outras palavras, mede o grau de associação entre duas variáveis aleatórias, por exemplo X e Y.</a:t>
            </a:r>
          </a:p>
        </p:txBody>
      </p:sp>
    </p:spTree>
    <p:extLst>
      <p:ext uri="{BB962C8B-B14F-4D97-AF65-F5344CB8AC3E}">
        <p14:creationId xmlns:p14="http://schemas.microsoft.com/office/powerpoint/2010/main" val="20439627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Correlações</a:t>
            </a:r>
          </a:p>
        </p:txBody>
      </p:sp>
      <p:sp>
        <p:nvSpPr>
          <p:cNvPr id="3" name="Espaço Reservado para Conteúdo 2"/>
          <p:cNvSpPr>
            <a:spLocks noGrp="1"/>
          </p:cNvSpPr>
          <p:nvPr>
            <p:ph idx="1"/>
          </p:nvPr>
        </p:nvSpPr>
        <p:spPr/>
        <p:txBody>
          <a:bodyPr/>
          <a:lstStyle/>
          <a:p>
            <a:pPr algn="just"/>
            <a:r>
              <a:rPr lang="pt-BR" dirty="0"/>
              <a:t>As relações entre grandezas do tipo: perímetro e lado de um quadrado são conhecidas como </a:t>
            </a:r>
            <a:r>
              <a:rPr lang="pt-BR" b="1" dirty="0"/>
              <a:t>relações funcionais</a:t>
            </a:r>
            <a:r>
              <a:rPr lang="pt-BR" dirty="0"/>
              <a:t>, pois existe uma função que associa uma à outra. Perímetro = 4 x lado.</a:t>
            </a:r>
          </a:p>
          <a:p>
            <a:pPr algn="just"/>
            <a:endParaRPr lang="pt-BR" dirty="0"/>
          </a:p>
          <a:p>
            <a:pPr algn="just"/>
            <a:r>
              <a:rPr lang="pt-BR" dirty="0"/>
              <a:t>Enquanto que as grandezas do tipo: peso e altura por exemplo, são conhecidas como </a:t>
            </a:r>
            <a:r>
              <a:rPr lang="pt-BR" b="1" dirty="0"/>
              <a:t>relações estatísticas</a:t>
            </a:r>
            <a:r>
              <a:rPr lang="pt-BR" dirty="0"/>
              <a:t>, uma vez que, apesar de podermos fazer uma estimativa do peso de uma pessoa baseando-se na sua altura, não podemos formalizar uma expressão matemática.</a:t>
            </a:r>
          </a:p>
        </p:txBody>
      </p:sp>
    </p:spTree>
    <p:extLst>
      <p:ext uri="{BB962C8B-B14F-4D97-AF65-F5344CB8AC3E}">
        <p14:creationId xmlns:p14="http://schemas.microsoft.com/office/powerpoint/2010/main" val="23810916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dirty="0"/>
              <a:t>Comportamentos de duas variáveis</a:t>
            </a:r>
          </a:p>
        </p:txBody>
      </p:sp>
      <p:sp>
        <p:nvSpPr>
          <p:cNvPr id="3" name="Espaço Reservado para Conteúdo 2"/>
          <p:cNvSpPr>
            <a:spLocks noGrp="1"/>
          </p:cNvSpPr>
          <p:nvPr>
            <p:ph idx="1"/>
          </p:nvPr>
        </p:nvSpPr>
        <p:spPr>
          <a:xfrm>
            <a:off x="1295401" y="2406317"/>
            <a:ext cx="9601196" cy="3850104"/>
          </a:xfrm>
        </p:spPr>
        <p:txBody>
          <a:bodyPr>
            <a:normAutofit/>
          </a:bodyPr>
          <a:lstStyle/>
          <a:p>
            <a:pPr algn="just"/>
            <a:r>
              <a:rPr lang="pt-BR" dirty="0"/>
              <a:t>Diagrama de dispersão</a:t>
            </a:r>
          </a:p>
          <a:p>
            <a:pPr algn="just"/>
            <a:r>
              <a:rPr lang="pt-BR" dirty="0"/>
              <a:t>É a representação gráfica do conjunto de dados, ou seja, é a representação dos pares de valores num sistema cartesiano.</a:t>
            </a:r>
          </a:p>
          <a:p>
            <a:pPr algn="just"/>
            <a:r>
              <a:rPr lang="pt-BR" dirty="0"/>
              <a:t>Resumindo, existem 3 situações básicas que poderiam acontecer.</a:t>
            </a:r>
          </a:p>
        </p:txBody>
      </p:sp>
    </p:spTree>
    <p:extLst>
      <p:ext uri="{BB962C8B-B14F-4D97-AF65-F5344CB8AC3E}">
        <p14:creationId xmlns:p14="http://schemas.microsoft.com/office/powerpoint/2010/main" val="4836789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79965C-E085-5FB1-3B1A-495CA2F4C272}"/>
              </a:ext>
            </a:extLst>
          </p:cNvPr>
          <p:cNvSpPr>
            <a:spLocks noGrp="1"/>
          </p:cNvSpPr>
          <p:nvPr>
            <p:ph type="title"/>
          </p:nvPr>
        </p:nvSpPr>
        <p:spPr/>
        <p:txBody>
          <a:bodyPr/>
          <a:lstStyle/>
          <a:p>
            <a:r>
              <a:rPr lang="pt-BR" dirty="0"/>
              <a:t>Correlação X Causalidade</a:t>
            </a:r>
          </a:p>
        </p:txBody>
      </p:sp>
      <p:sp>
        <p:nvSpPr>
          <p:cNvPr id="3" name="Espaço Reservado para Conteúdo 2">
            <a:extLst>
              <a:ext uri="{FF2B5EF4-FFF2-40B4-BE49-F238E27FC236}">
                <a16:creationId xmlns:a16="http://schemas.microsoft.com/office/drawing/2014/main" id="{7874A88B-B3C8-5394-7E2F-A7CA45FC5266}"/>
              </a:ext>
            </a:extLst>
          </p:cNvPr>
          <p:cNvSpPr>
            <a:spLocks noGrp="1"/>
          </p:cNvSpPr>
          <p:nvPr>
            <p:ph idx="1"/>
          </p:nvPr>
        </p:nvSpPr>
        <p:spPr/>
        <p:txBody>
          <a:bodyPr/>
          <a:lstStyle/>
          <a:p>
            <a:pPr algn="just"/>
            <a:r>
              <a:rPr lang="pt-BR" dirty="0"/>
              <a:t>Correlação não implica causalidade.</a:t>
            </a:r>
          </a:p>
          <a:p>
            <a:pPr algn="just"/>
            <a:r>
              <a:rPr lang="pt-BR" dirty="0"/>
              <a:t>Exemplo: Existe uma correlação positiva entre a venda de sorvetes e o número de afogamentos. Isso não significa que comer sorvete causa afogamentos. </a:t>
            </a:r>
          </a:p>
          <a:p>
            <a:pPr algn="just"/>
            <a:r>
              <a:rPr lang="pt-BR" dirty="0"/>
              <a:t>A variável que causa a correlação em ambos os casos é o calor. </a:t>
            </a:r>
          </a:p>
          <a:p>
            <a:pPr algn="just"/>
            <a:r>
              <a:rPr lang="pt-BR" dirty="0"/>
              <a:t>Dias quentes levam as pessoas a comer mais sorvete e também a nadar mais, o que aumenta o risco de afogamento.</a:t>
            </a:r>
          </a:p>
        </p:txBody>
      </p:sp>
    </p:spTree>
    <p:extLst>
      <p:ext uri="{BB962C8B-B14F-4D97-AF65-F5344CB8AC3E}">
        <p14:creationId xmlns:p14="http://schemas.microsoft.com/office/powerpoint/2010/main" val="496468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dirty="0"/>
              <a:t>Correlação Positiva</a:t>
            </a:r>
          </a:p>
        </p:txBody>
      </p:sp>
      <p:sp>
        <p:nvSpPr>
          <p:cNvPr id="3" name="Espaço Reservado para Conteúdo 2"/>
          <p:cNvSpPr>
            <a:spLocks noGrp="1"/>
          </p:cNvSpPr>
          <p:nvPr>
            <p:ph idx="1"/>
          </p:nvPr>
        </p:nvSpPr>
        <p:spPr>
          <a:xfrm>
            <a:off x="1295401" y="2622885"/>
            <a:ext cx="9601196" cy="3332748"/>
          </a:xfrm>
        </p:spPr>
        <p:txBody>
          <a:bodyPr>
            <a:normAutofit/>
          </a:bodyPr>
          <a:lstStyle/>
          <a:p>
            <a:pPr algn="just"/>
            <a:r>
              <a:rPr lang="pt-BR" sz="2800" dirty="0"/>
              <a:t>Quando uma das variáveis “cresce” e a outra também “cresce”, dizemos que entre as duas variáveis existe correlação positiva, tanto mais forte quanto mais perto de uma reta imaginária os pontos estiverem.</a:t>
            </a:r>
          </a:p>
          <a:p>
            <a:pPr algn="just"/>
            <a:r>
              <a:rPr lang="pt-BR" sz="2800" dirty="0"/>
              <a:t>Exemplo: quanto mais horas um aluno estuda, maior a sua nota na prova. As duas variáveis se movem na mesma direção.</a:t>
            </a:r>
          </a:p>
        </p:txBody>
      </p:sp>
    </p:spTree>
    <p:extLst>
      <p:ext uri="{BB962C8B-B14F-4D97-AF65-F5344CB8AC3E}">
        <p14:creationId xmlns:p14="http://schemas.microsoft.com/office/powerpoint/2010/main" val="7944221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Gráfico 1"/>
          <p:cNvGraphicFramePr>
            <a:graphicFrameLocks/>
          </p:cNvGraphicFramePr>
          <p:nvPr>
            <p:extLst>
              <p:ext uri="{D42A27DB-BD31-4B8C-83A1-F6EECF244321}">
                <p14:modId xmlns:p14="http://schemas.microsoft.com/office/powerpoint/2010/main" val="2637311754"/>
              </p:ext>
            </p:extLst>
          </p:nvPr>
        </p:nvGraphicFramePr>
        <p:xfrm>
          <a:off x="818147" y="709863"/>
          <a:ext cx="10527632" cy="540142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0073312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Correlação Negativa</a:t>
            </a:r>
          </a:p>
        </p:txBody>
      </p:sp>
      <p:sp>
        <p:nvSpPr>
          <p:cNvPr id="3" name="Espaço Reservado para Conteúdo 2"/>
          <p:cNvSpPr>
            <a:spLocks noGrp="1"/>
          </p:cNvSpPr>
          <p:nvPr>
            <p:ph idx="1"/>
          </p:nvPr>
        </p:nvSpPr>
        <p:spPr/>
        <p:txBody>
          <a:bodyPr>
            <a:normAutofit/>
          </a:bodyPr>
          <a:lstStyle/>
          <a:p>
            <a:pPr algn="just"/>
            <a:r>
              <a:rPr lang="pt-BR" sz="2800" dirty="0"/>
              <a:t>Quando uma das variáveis “cresce” e a outra “decresce”, dizemos que entre as duas variáveis existe correlação negativa, tanto mais forte quanto mais perto de uma reta imaginária os pontos estiverem.</a:t>
            </a:r>
          </a:p>
          <a:p>
            <a:pPr algn="just"/>
            <a:r>
              <a:rPr lang="pt-BR" sz="2800" dirty="0"/>
              <a:t>Exemplo: quanto maior a temperatura em um dia, menor a venda de casacos. As duas variáveis se movem em direções opostas.</a:t>
            </a:r>
          </a:p>
          <a:p>
            <a:pPr algn="just"/>
            <a:endParaRPr lang="pt-BR" sz="2800" dirty="0"/>
          </a:p>
        </p:txBody>
      </p:sp>
    </p:spTree>
    <p:extLst>
      <p:ext uri="{BB962C8B-B14F-4D97-AF65-F5344CB8AC3E}">
        <p14:creationId xmlns:p14="http://schemas.microsoft.com/office/powerpoint/2010/main" val="16570109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Gráfico 1"/>
          <p:cNvGraphicFramePr>
            <a:graphicFrameLocks/>
          </p:cNvGraphicFramePr>
          <p:nvPr>
            <p:extLst>
              <p:ext uri="{D42A27DB-BD31-4B8C-83A1-F6EECF244321}">
                <p14:modId xmlns:p14="http://schemas.microsoft.com/office/powerpoint/2010/main" val="2100326664"/>
              </p:ext>
            </p:extLst>
          </p:nvPr>
        </p:nvGraphicFramePr>
        <p:xfrm>
          <a:off x="818147" y="685800"/>
          <a:ext cx="10587790" cy="551046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952851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Correlação Nula</a:t>
            </a:r>
          </a:p>
        </p:txBody>
      </p:sp>
      <p:sp>
        <p:nvSpPr>
          <p:cNvPr id="3" name="Espaço Reservado para Conteúdo 2"/>
          <p:cNvSpPr>
            <a:spLocks noGrp="1"/>
          </p:cNvSpPr>
          <p:nvPr>
            <p:ph idx="1"/>
          </p:nvPr>
        </p:nvSpPr>
        <p:spPr/>
        <p:txBody>
          <a:bodyPr>
            <a:normAutofit/>
          </a:bodyPr>
          <a:lstStyle/>
          <a:p>
            <a:pPr algn="just"/>
            <a:r>
              <a:rPr lang="pt-BR" sz="2800" dirty="0"/>
              <a:t>Se os pontos estiverem dispersos, sem definição de direção, dizemos que a correlação é muito baixa, ou mesmo nula. </a:t>
            </a:r>
          </a:p>
          <a:p>
            <a:pPr algn="just"/>
            <a:r>
              <a:rPr lang="pt-BR" sz="2800" dirty="0"/>
              <a:t>As variáveis nesse caso são ditas não correlacionadas.</a:t>
            </a:r>
          </a:p>
          <a:p>
            <a:pPr algn="just"/>
            <a:r>
              <a:rPr lang="pt-BR" sz="2800" dirty="0"/>
              <a:t>Exemplo: a altura de uma pessoa e a quantidade de café que ela bebe. A mudança em uma não tem impacto previsível na outra.</a:t>
            </a:r>
          </a:p>
          <a:p>
            <a:pPr algn="just"/>
            <a:endParaRPr lang="pt-BR" sz="2800" dirty="0"/>
          </a:p>
        </p:txBody>
      </p:sp>
    </p:spTree>
    <p:extLst>
      <p:ext uri="{BB962C8B-B14F-4D97-AF65-F5344CB8AC3E}">
        <p14:creationId xmlns:p14="http://schemas.microsoft.com/office/powerpoint/2010/main" val="21065894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Gráfico 1"/>
          <p:cNvGraphicFramePr>
            <a:graphicFrameLocks/>
          </p:cNvGraphicFramePr>
          <p:nvPr>
            <p:extLst>
              <p:ext uri="{D42A27DB-BD31-4B8C-83A1-F6EECF244321}">
                <p14:modId xmlns:p14="http://schemas.microsoft.com/office/powerpoint/2010/main" val="2102102093"/>
              </p:ext>
            </p:extLst>
          </p:nvPr>
        </p:nvGraphicFramePr>
        <p:xfrm>
          <a:off x="806116" y="649704"/>
          <a:ext cx="10575758" cy="546233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5270910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Correlação Não Linear</a:t>
            </a:r>
          </a:p>
        </p:txBody>
      </p:sp>
      <p:sp>
        <p:nvSpPr>
          <p:cNvPr id="3" name="Espaço Reservado para Conteúdo 2"/>
          <p:cNvSpPr>
            <a:spLocks noGrp="1"/>
          </p:cNvSpPr>
          <p:nvPr>
            <p:ph idx="1"/>
          </p:nvPr>
        </p:nvSpPr>
        <p:spPr/>
        <p:txBody>
          <a:bodyPr/>
          <a:lstStyle/>
          <a:p>
            <a:pPr algn="just"/>
            <a:r>
              <a:rPr lang="pt-BR" dirty="0"/>
              <a:t>Se os pontos têm como imagem uma curva ou outro formato não linear, por exemplo exponencial, logarítmica, polinomial, potencia, média móvel, entre outras.</a:t>
            </a:r>
          </a:p>
        </p:txBody>
      </p:sp>
    </p:spTree>
    <p:extLst>
      <p:ext uri="{BB962C8B-B14F-4D97-AF65-F5344CB8AC3E}">
        <p14:creationId xmlns:p14="http://schemas.microsoft.com/office/powerpoint/2010/main" val="41557483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Gráfico 2"/>
          <p:cNvGraphicFramePr>
            <a:graphicFrameLocks/>
          </p:cNvGraphicFramePr>
          <p:nvPr>
            <p:extLst>
              <p:ext uri="{D42A27DB-BD31-4B8C-83A1-F6EECF244321}">
                <p14:modId xmlns:p14="http://schemas.microsoft.com/office/powerpoint/2010/main" val="2176831365"/>
              </p:ext>
            </p:extLst>
          </p:nvPr>
        </p:nvGraphicFramePr>
        <p:xfrm>
          <a:off x="794084" y="685800"/>
          <a:ext cx="10599821" cy="551046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2904966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92249B-C8C6-3562-A2AD-F87AC49AC0EC}"/>
              </a:ext>
            </a:extLst>
          </p:cNvPr>
          <p:cNvSpPr>
            <a:spLocks noGrp="1"/>
          </p:cNvSpPr>
          <p:nvPr>
            <p:ph type="title"/>
          </p:nvPr>
        </p:nvSpPr>
        <p:spPr/>
        <p:txBody>
          <a:bodyPr/>
          <a:lstStyle/>
          <a:p>
            <a:r>
              <a:rPr lang="pt-BR" dirty="0"/>
              <a:t>Correlação Linear</a:t>
            </a:r>
          </a:p>
        </p:txBody>
      </p:sp>
      <p:sp>
        <p:nvSpPr>
          <p:cNvPr id="3" name="Espaço Reservado para Conteúdo 2">
            <a:extLst>
              <a:ext uri="{FF2B5EF4-FFF2-40B4-BE49-F238E27FC236}">
                <a16:creationId xmlns:a16="http://schemas.microsoft.com/office/drawing/2014/main" id="{1BA0914E-F0FA-DB56-1E45-E40ED73EBB1A}"/>
              </a:ext>
            </a:extLst>
          </p:cNvPr>
          <p:cNvSpPr>
            <a:spLocks noGrp="1"/>
          </p:cNvSpPr>
          <p:nvPr>
            <p:ph idx="1"/>
          </p:nvPr>
        </p:nvSpPr>
        <p:spPr/>
        <p:txBody>
          <a:bodyPr>
            <a:normAutofit/>
          </a:bodyPr>
          <a:lstStyle/>
          <a:p>
            <a:pPr algn="just"/>
            <a:r>
              <a:rPr lang="pt-BR" sz="2800" dirty="0"/>
              <a:t>A correlação linear é um tipo específico de correlação que mede a força e a direção de uma relação em linha reta entre duas variáveis. </a:t>
            </a:r>
          </a:p>
          <a:p>
            <a:pPr algn="just"/>
            <a:r>
              <a:rPr lang="pt-BR" sz="2800" dirty="0"/>
              <a:t>Em outras palavras, ela avalia o quão bem um conjunto de dados se alinha em um padrão reto.</a:t>
            </a:r>
          </a:p>
        </p:txBody>
      </p:sp>
    </p:spTree>
    <p:extLst>
      <p:ext uri="{BB962C8B-B14F-4D97-AF65-F5344CB8AC3E}">
        <p14:creationId xmlns:p14="http://schemas.microsoft.com/office/powerpoint/2010/main" val="28943735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06484-0F2C-7B03-0070-97998F39C51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044AF4E-1404-13F3-1DAB-EC4F6693C772}"/>
              </a:ext>
            </a:extLst>
          </p:cNvPr>
          <p:cNvSpPr>
            <a:spLocks noGrp="1"/>
          </p:cNvSpPr>
          <p:nvPr>
            <p:ph type="title"/>
          </p:nvPr>
        </p:nvSpPr>
        <p:spPr/>
        <p:txBody>
          <a:bodyPr/>
          <a:lstStyle/>
          <a:p>
            <a:r>
              <a:rPr lang="pt-BR" dirty="0"/>
              <a:t>Exemplo</a:t>
            </a:r>
          </a:p>
        </p:txBody>
      </p:sp>
      <p:sp>
        <p:nvSpPr>
          <p:cNvPr id="3" name="Espaço Reservado para Conteúdo 2">
            <a:extLst>
              <a:ext uri="{FF2B5EF4-FFF2-40B4-BE49-F238E27FC236}">
                <a16:creationId xmlns:a16="http://schemas.microsoft.com/office/drawing/2014/main" id="{2D0A53EE-C5ED-5E37-6297-72D7D56379C5}"/>
              </a:ext>
            </a:extLst>
          </p:cNvPr>
          <p:cNvSpPr>
            <a:spLocks noGrp="1"/>
          </p:cNvSpPr>
          <p:nvPr>
            <p:ph idx="1"/>
          </p:nvPr>
        </p:nvSpPr>
        <p:spPr>
          <a:xfrm>
            <a:off x="983673" y="2438401"/>
            <a:ext cx="10460181" cy="3879272"/>
          </a:xfrm>
        </p:spPr>
        <p:txBody>
          <a:bodyPr>
            <a:normAutofit/>
          </a:bodyPr>
          <a:lstStyle/>
          <a:p>
            <a:r>
              <a:rPr lang="pt-BR" dirty="0"/>
              <a:t>Adicionar valores de peso e altura em um gráfico de dispersão.</a:t>
            </a:r>
          </a:p>
          <a:p>
            <a:r>
              <a:rPr lang="pt-BR" dirty="0"/>
              <a:t>Se os pontos formarem uma linha reta ascendente, há uma correlação linear positiva. </a:t>
            </a:r>
          </a:p>
          <a:p>
            <a:r>
              <a:rPr lang="pt-BR" dirty="0"/>
              <a:t>Quanto maior o peso, maior a altura, e essa relação segue uma linha clara.</a:t>
            </a:r>
          </a:p>
          <a:p>
            <a:r>
              <a:rPr lang="pt-BR" dirty="0"/>
              <a:t>Se os pontos formam uma linha reta descendente, há uma correlação linear negativa. </a:t>
            </a:r>
          </a:p>
          <a:p>
            <a:r>
              <a:rPr lang="pt-BR" dirty="0"/>
              <a:t>Quanto mais tempo um carro é usado, menor seu valor de revenda.</a:t>
            </a:r>
          </a:p>
          <a:p>
            <a:r>
              <a:rPr lang="pt-BR" dirty="0"/>
              <a:t>Se os pontos estão espalhados aleatoriamente e não formam uma linha, a correlação linear é fraca ou nula, mesmo que possa haver outro tipo de relação (não linear).</a:t>
            </a:r>
          </a:p>
        </p:txBody>
      </p:sp>
    </p:spTree>
    <p:extLst>
      <p:ext uri="{BB962C8B-B14F-4D97-AF65-F5344CB8AC3E}">
        <p14:creationId xmlns:p14="http://schemas.microsoft.com/office/powerpoint/2010/main" val="12970083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Regressão linear</a:t>
            </a:r>
          </a:p>
        </p:txBody>
      </p:sp>
      <p:sp>
        <p:nvSpPr>
          <p:cNvPr id="3" name="Espaço Reservado para Conteúdo 2"/>
          <p:cNvSpPr>
            <a:spLocks noGrp="1"/>
          </p:cNvSpPr>
          <p:nvPr>
            <p:ph idx="1"/>
          </p:nvPr>
        </p:nvSpPr>
        <p:spPr>
          <a:xfrm>
            <a:off x="1295401" y="2370221"/>
            <a:ext cx="9601196" cy="3886200"/>
          </a:xfrm>
        </p:spPr>
        <p:txBody>
          <a:bodyPr>
            <a:normAutofit lnSpcReduction="10000"/>
          </a:bodyPr>
          <a:lstStyle/>
          <a:p>
            <a:pPr algn="just"/>
            <a:r>
              <a:rPr lang="pt-BR" dirty="0"/>
              <a:t>A análise de regressão consiste na realização de uma análise estatística com o objetivo de verificar a existência de uma relação funcional entre uma variável dependente com uma ou mais variáveis independentes. </a:t>
            </a:r>
          </a:p>
          <a:p>
            <a:pPr algn="just"/>
            <a:r>
              <a:rPr lang="pt-BR" dirty="0"/>
              <a:t>Em outras palavras consiste na obtenção de uma equação que tenta explicar a variação da variável dependente pela variação do(s) nível(</a:t>
            </a:r>
            <a:r>
              <a:rPr lang="pt-BR" dirty="0" err="1"/>
              <a:t>is</a:t>
            </a:r>
            <a:r>
              <a:rPr lang="pt-BR" dirty="0"/>
              <a:t>) da(s) variável(</a:t>
            </a:r>
            <a:r>
              <a:rPr lang="pt-BR" dirty="0" err="1"/>
              <a:t>is</a:t>
            </a:r>
            <a:r>
              <a:rPr lang="pt-BR" dirty="0"/>
              <a:t>) independente(s).</a:t>
            </a:r>
          </a:p>
          <a:p>
            <a:pPr algn="just"/>
            <a:r>
              <a:rPr lang="pt-BR" dirty="0"/>
              <a:t>Para tentar estabelecer uma equação que representa o fenômeno em estudo pode se fazer um gráfico, chamado de diagrama de dispersão, para verificar como se comportam os valores da variável dependente (Y) em função da variação da variável independente (X).</a:t>
            </a:r>
          </a:p>
        </p:txBody>
      </p:sp>
    </p:spTree>
    <p:extLst>
      <p:ext uri="{BB962C8B-B14F-4D97-AF65-F5344CB8AC3E}">
        <p14:creationId xmlns:p14="http://schemas.microsoft.com/office/powerpoint/2010/main" val="12345632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Regressão linear</a:t>
            </a:r>
          </a:p>
        </p:txBody>
      </p:sp>
      <p:sp>
        <p:nvSpPr>
          <p:cNvPr id="3" name="Espaço Reservado para Conteúdo 2"/>
          <p:cNvSpPr>
            <a:spLocks noGrp="1"/>
          </p:cNvSpPr>
          <p:nvPr>
            <p:ph idx="1"/>
          </p:nvPr>
        </p:nvSpPr>
        <p:spPr>
          <a:xfrm>
            <a:off x="1295401" y="2406316"/>
            <a:ext cx="9601196" cy="3814010"/>
          </a:xfrm>
        </p:spPr>
        <p:txBody>
          <a:bodyPr>
            <a:normAutofit/>
          </a:bodyPr>
          <a:lstStyle/>
          <a:p>
            <a:pPr algn="just"/>
            <a:r>
              <a:rPr lang="pt-BR" dirty="0"/>
              <a:t>O comportamento de Y em relação a X pode se apresentar de diversas maneiras: linear, quadrático, cúbico, exponencial, logarítmico, etc... . </a:t>
            </a:r>
          </a:p>
          <a:p>
            <a:pPr algn="just"/>
            <a:r>
              <a:rPr lang="pt-BR" dirty="0"/>
              <a:t>Para se estabelecer o modelo para explicar o fenômeno, deve-se verificar qual tipo de curva e equação de um modelo matemático que mais se aproxime dos pontos representados no diagrama de dispersão.</a:t>
            </a:r>
          </a:p>
          <a:p>
            <a:pPr algn="just"/>
            <a:r>
              <a:rPr lang="pt-BR" dirty="0"/>
              <a:t>Contudo, pode-se verificar que os pontos do diagrama de dispersão, não vão se ajustar perfeitamente à curva do modelo matemático proposto. </a:t>
            </a:r>
          </a:p>
        </p:txBody>
      </p:sp>
    </p:spTree>
    <p:extLst>
      <p:ext uri="{BB962C8B-B14F-4D97-AF65-F5344CB8AC3E}">
        <p14:creationId xmlns:p14="http://schemas.microsoft.com/office/powerpoint/2010/main" val="724014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Regressão linear</a:t>
            </a:r>
          </a:p>
        </p:txBody>
      </p:sp>
      <p:sp>
        <p:nvSpPr>
          <p:cNvPr id="3" name="Espaço Reservado para Conteúdo 2"/>
          <p:cNvSpPr>
            <a:spLocks noGrp="1"/>
          </p:cNvSpPr>
          <p:nvPr>
            <p:ph idx="1"/>
          </p:nvPr>
        </p:nvSpPr>
        <p:spPr>
          <a:xfrm>
            <a:off x="1295401" y="2556932"/>
            <a:ext cx="9601196" cy="3506984"/>
          </a:xfrm>
        </p:spPr>
        <p:txBody>
          <a:bodyPr>
            <a:normAutofit/>
          </a:bodyPr>
          <a:lstStyle/>
          <a:p>
            <a:pPr algn="just"/>
            <a:r>
              <a:rPr lang="pt-BR" dirty="0"/>
              <a:t>Haverá na maior parte dos pontos, uma distância entre os pontos do diagrama e a curva do modelo matemático. </a:t>
            </a:r>
          </a:p>
          <a:p>
            <a:pPr algn="just"/>
            <a:r>
              <a:rPr lang="pt-BR" dirty="0"/>
              <a:t>Isto acontece, devido ao fato do fenômeno que está em estudo, não ser um fenômeno matemático e sim um fenômeno que está sujeito a influências que acontecem ao acaso. </a:t>
            </a:r>
          </a:p>
          <a:p>
            <a:pPr algn="just"/>
            <a:r>
              <a:rPr lang="pt-BR" dirty="0"/>
              <a:t>Assim, o objetivo da regressão é obter um modelo matemático que melhor se ajuste aos valores observados de Y em função da variação dos níveis da variável X.</a:t>
            </a:r>
          </a:p>
          <a:p>
            <a:pPr algn="just"/>
            <a:endParaRPr lang="pt-BR" dirty="0"/>
          </a:p>
        </p:txBody>
      </p:sp>
    </p:spTree>
    <p:extLst>
      <p:ext uri="{BB962C8B-B14F-4D97-AF65-F5344CB8AC3E}">
        <p14:creationId xmlns:p14="http://schemas.microsoft.com/office/powerpoint/2010/main" val="6503332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Regressão linear</a:t>
            </a:r>
          </a:p>
        </p:txBody>
      </p:sp>
      <p:sp>
        <p:nvSpPr>
          <p:cNvPr id="3" name="Espaço Reservado para Conteúdo 2"/>
          <p:cNvSpPr>
            <a:spLocks noGrp="1"/>
          </p:cNvSpPr>
          <p:nvPr>
            <p:ph idx="1"/>
          </p:nvPr>
        </p:nvSpPr>
        <p:spPr/>
        <p:txBody>
          <a:bodyPr>
            <a:normAutofit lnSpcReduction="10000"/>
          </a:bodyPr>
          <a:lstStyle/>
          <a:p>
            <a:pPr algn="just"/>
            <a:r>
              <a:rPr lang="pt-BR" dirty="0"/>
              <a:t>No entanto o modelo escolhido deve ser coerente com o que acontece na prática.</a:t>
            </a:r>
          </a:p>
          <a:p>
            <a:pPr algn="just"/>
            <a:r>
              <a:rPr lang="pt-BR" dirty="0"/>
              <a:t>Para isto, deve-se levar em conta as seguintes considerações no momento de se escolher o modelo:</a:t>
            </a:r>
          </a:p>
          <a:p>
            <a:pPr algn="just">
              <a:buFont typeface="Wingdings" panose="05000000000000000000" pitchFamily="2" charset="2"/>
              <a:buChar char="ü"/>
            </a:pPr>
            <a:r>
              <a:rPr lang="pt-BR" dirty="0"/>
              <a:t>O modelo selecionado deve ser condizente tanto no grau como no aspecto da curva, para representar em termos práticos, o fenômeno em estudo;</a:t>
            </a:r>
          </a:p>
          <a:p>
            <a:pPr algn="just">
              <a:buFont typeface="Wingdings" panose="05000000000000000000" pitchFamily="2" charset="2"/>
              <a:buChar char="ü"/>
            </a:pPr>
            <a:r>
              <a:rPr lang="pt-BR" dirty="0"/>
              <a:t>O modelo deve conter apenas as variáveis que são relevantes para explicar o fenômeno;</a:t>
            </a:r>
          </a:p>
        </p:txBody>
      </p:sp>
    </p:spTree>
    <p:extLst>
      <p:ext uri="{BB962C8B-B14F-4D97-AF65-F5344CB8AC3E}">
        <p14:creationId xmlns:p14="http://schemas.microsoft.com/office/powerpoint/2010/main" val="19052020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Regressão linear</a:t>
            </a:r>
          </a:p>
        </p:txBody>
      </p:sp>
      <p:sp>
        <p:nvSpPr>
          <p:cNvPr id="3" name="Espaço Reservado para Conteúdo 2"/>
          <p:cNvSpPr>
            <a:spLocks noGrp="1"/>
          </p:cNvSpPr>
          <p:nvPr>
            <p:ph idx="1"/>
          </p:nvPr>
        </p:nvSpPr>
        <p:spPr>
          <a:xfrm>
            <a:off x="1295401" y="2406316"/>
            <a:ext cx="9601196" cy="3874168"/>
          </a:xfrm>
        </p:spPr>
        <p:txBody>
          <a:bodyPr>
            <a:normAutofit/>
          </a:bodyPr>
          <a:lstStyle/>
          <a:p>
            <a:pPr algn="just"/>
            <a:r>
              <a:rPr lang="pt-BR" dirty="0"/>
              <a:t>Um dos métodos que se pode utilizar para obter a relação funcional, se baseia na obtenção de uma equação estimada de tal forma que as distâncias entre os pontos do diagrama e os pontos da curva do modelo matemático, sejam as menores possíveis.</a:t>
            </a:r>
          </a:p>
          <a:p>
            <a:pPr algn="just"/>
            <a:r>
              <a:rPr lang="pt-BR" dirty="0"/>
              <a:t>Este método é denominado de Método dos Mínimos Quadrados (MMQ). </a:t>
            </a:r>
          </a:p>
          <a:p>
            <a:pPr algn="just"/>
            <a:r>
              <a:rPr lang="pt-BR" dirty="0"/>
              <a:t>Em resumo por este método a soma de quadrados das distâncias entre os pontos do diagrama e os respectivos pontos na curva da equação estimada é minimizada, obtendo-se, desta forma, uma relação funcional entre X e Y, para o modelo escolhido, com um mínimo de erro possível.</a:t>
            </a:r>
          </a:p>
        </p:txBody>
      </p:sp>
    </p:spTree>
    <p:extLst>
      <p:ext uri="{BB962C8B-B14F-4D97-AF65-F5344CB8AC3E}">
        <p14:creationId xmlns:p14="http://schemas.microsoft.com/office/powerpoint/2010/main" val="38044847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Gráfico 1"/>
          <p:cNvGraphicFramePr>
            <a:graphicFrameLocks/>
          </p:cNvGraphicFramePr>
          <p:nvPr>
            <p:extLst>
              <p:ext uri="{D42A27DB-BD31-4B8C-83A1-F6EECF244321}">
                <p14:modId xmlns:p14="http://schemas.microsoft.com/office/powerpoint/2010/main" val="3044699238"/>
              </p:ext>
            </p:extLst>
          </p:nvPr>
        </p:nvGraphicFramePr>
        <p:xfrm>
          <a:off x="818147" y="709863"/>
          <a:ext cx="10527632" cy="540142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8465358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Gráfico 1"/>
          <p:cNvGraphicFramePr>
            <a:graphicFrameLocks/>
          </p:cNvGraphicFramePr>
          <p:nvPr>
            <p:extLst>
              <p:ext uri="{D42A27DB-BD31-4B8C-83A1-F6EECF244321}">
                <p14:modId xmlns:p14="http://schemas.microsoft.com/office/powerpoint/2010/main" val="1245045962"/>
              </p:ext>
            </p:extLst>
          </p:nvPr>
        </p:nvGraphicFramePr>
        <p:xfrm>
          <a:off x="818147" y="685800"/>
          <a:ext cx="10587790" cy="551046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2001793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Gráfico 1"/>
          <p:cNvGraphicFramePr>
            <a:graphicFrameLocks/>
          </p:cNvGraphicFramePr>
          <p:nvPr>
            <p:extLst>
              <p:ext uri="{D42A27DB-BD31-4B8C-83A1-F6EECF244321}">
                <p14:modId xmlns:p14="http://schemas.microsoft.com/office/powerpoint/2010/main" val="1783602802"/>
              </p:ext>
            </p:extLst>
          </p:nvPr>
        </p:nvGraphicFramePr>
        <p:xfrm>
          <a:off x="806116" y="649704"/>
          <a:ext cx="10575758" cy="546233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2936396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Gráfico 2"/>
          <p:cNvGraphicFramePr>
            <a:graphicFrameLocks/>
          </p:cNvGraphicFramePr>
          <p:nvPr>
            <p:extLst>
              <p:ext uri="{D42A27DB-BD31-4B8C-83A1-F6EECF244321}">
                <p14:modId xmlns:p14="http://schemas.microsoft.com/office/powerpoint/2010/main" val="3401296962"/>
              </p:ext>
            </p:extLst>
          </p:nvPr>
        </p:nvGraphicFramePr>
        <p:xfrm>
          <a:off x="794084" y="685800"/>
          <a:ext cx="10599821" cy="551046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9566463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dirty="0"/>
              <a:t>Modelo Linear de 1º Grau </a:t>
            </a:r>
            <a:br>
              <a:rPr lang="pt-BR" dirty="0"/>
            </a:br>
            <a:r>
              <a:rPr lang="pt-BR" dirty="0"/>
              <a:t>(Regressão Linear Simples)</a:t>
            </a:r>
          </a:p>
        </p:txBody>
      </p:sp>
      <p:sp>
        <p:nvSpPr>
          <p:cNvPr id="3" name="Espaço Reservado para Conteúdo 2"/>
          <p:cNvSpPr>
            <a:spLocks noGrp="1"/>
          </p:cNvSpPr>
          <p:nvPr>
            <p:ph idx="1"/>
          </p:nvPr>
        </p:nvSpPr>
        <p:spPr>
          <a:xfrm>
            <a:off x="1179096" y="2731168"/>
            <a:ext cx="10238872" cy="3260558"/>
          </a:xfrm>
        </p:spPr>
        <p:txBody>
          <a:bodyPr>
            <a:normAutofit/>
          </a:bodyPr>
          <a:lstStyle/>
          <a:p>
            <a:r>
              <a:rPr lang="pt-BR" dirty="0"/>
              <a:t>O modelo estatístico para esta situação seria:</a:t>
            </a:r>
          </a:p>
          <a:p>
            <a:endParaRPr lang="pt-BR" dirty="0"/>
          </a:p>
        </p:txBody>
      </p:sp>
      <p:pic>
        <p:nvPicPr>
          <p:cNvPr id="4" name="Imagem 3"/>
          <p:cNvPicPr>
            <a:picLocks noChangeAspect="1"/>
          </p:cNvPicPr>
          <p:nvPr/>
        </p:nvPicPr>
        <p:blipFill>
          <a:blip r:embed="rId2"/>
          <a:stretch>
            <a:fillRect/>
          </a:stretch>
        </p:blipFill>
        <p:spPr>
          <a:xfrm>
            <a:off x="4029322" y="3946358"/>
            <a:ext cx="4206129" cy="718635"/>
          </a:xfrm>
          <a:prstGeom prst="rect">
            <a:avLst/>
          </a:prstGeom>
        </p:spPr>
      </p:pic>
    </p:spTree>
    <p:extLst>
      <p:ext uri="{BB962C8B-B14F-4D97-AF65-F5344CB8AC3E}">
        <p14:creationId xmlns:p14="http://schemas.microsoft.com/office/powerpoint/2010/main" val="17194936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dirty="0"/>
              <a:t>Modelo Linear de 1º Grau </a:t>
            </a:r>
            <a:br>
              <a:rPr lang="pt-BR" dirty="0"/>
            </a:br>
            <a:r>
              <a:rPr lang="pt-BR" dirty="0"/>
              <a:t>(Regressão Linear Simples)</a:t>
            </a:r>
          </a:p>
        </p:txBody>
      </p:sp>
      <p:sp>
        <p:nvSpPr>
          <p:cNvPr id="3" name="Espaço Reservado para Conteúdo 2"/>
          <p:cNvSpPr>
            <a:spLocks noGrp="1"/>
          </p:cNvSpPr>
          <p:nvPr>
            <p:ph idx="1"/>
          </p:nvPr>
        </p:nvSpPr>
        <p:spPr>
          <a:xfrm>
            <a:off x="1058779" y="2478504"/>
            <a:ext cx="10359189" cy="3801980"/>
          </a:xfrm>
        </p:spPr>
        <p:txBody>
          <a:bodyPr>
            <a:normAutofit/>
          </a:bodyPr>
          <a:lstStyle/>
          <a:p>
            <a:pPr algn="just"/>
            <a:r>
              <a:rPr lang="pt-BR" dirty="0"/>
              <a:t>    = valor observado para a variável dependente Y no i-</a:t>
            </a:r>
            <a:r>
              <a:rPr lang="pt-BR" dirty="0" err="1"/>
              <a:t>ésimo</a:t>
            </a:r>
            <a:r>
              <a:rPr lang="pt-BR" dirty="0"/>
              <a:t> nível da variável independente X.</a:t>
            </a:r>
          </a:p>
          <a:p>
            <a:pPr algn="just"/>
            <a:r>
              <a:rPr lang="pt-BR" dirty="0"/>
              <a:t>    = constante de regressão. Representa o intercepto da reta com o eixo dos Y.</a:t>
            </a:r>
          </a:p>
          <a:p>
            <a:pPr algn="just"/>
            <a:r>
              <a:rPr lang="pt-BR" dirty="0"/>
              <a:t>    = coeficiente de regressão. Representa a variação de Y em função da variação de uma unidade da variável X.</a:t>
            </a:r>
          </a:p>
          <a:p>
            <a:pPr algn="just"/>
            <a:r>
              <a:rPr lang="pt-BR" dirty="0"/>
              <a:t>    = i-</a:t>
            </a:r>
            <a:r>
              <a:rPr lang="pt-BR" dirty="0" err="1"/>
              <a:t>ésimo</a:t>
            </a:r>
            <a:r>
              <a:rPr lang="pt-BR" dirty="0"/>
              <a:t> nível da variável independente X (i = 1,2,!,n)</a:t>
            </a:r>
          </a:p>
          <a:p>
            <a:pPr algn="just"/>
            <a:r>
              <a:rPr lang="pt-BR" dirty="0"/>
              <a:t>    = é o erro que está associado à distância entre o valor observado Yi e o correspondente ponto na curva, do modelo proposto, para o mesmo nível i de X.</a:t>
            </a:r>
          </a:p>
          <a:p>
            <a:pPr algn="just"/>
            <a:endParaRPr lang="pt-BR" dirty="0"/>
          </a:p>
        </p:txBody>
      </p:sp>
      <p:pic>
        <p:nvPicPr>
          <p:cNvPr id="5" name="Imagem 4"/>
          <p:cNvPicPr>
            <a:picLocks noChangeAspect="1"/>
          </p:cNvPicPr>
          <p:nvPr/>
        </p:nvPicPr>
        <p:blipFill>
          <a:blip r:embed="rId2"/>
          <a:stretch>
            <a:fillRect/>
          </a:stretch>
        </p:blipFill>
        <p:spPr>
          <a:xfrm>
            <a:off x="1388770" y="2475179"/>
            <a:ext cx="331379" cy="432000"/>
          </a:xfrm>
          <a:prstGeom prst="rect">
            <a:avLst/>
          </a:prstGeom>
        </p:spPr>
      </p:pic>
      <p:pic>
        <p:nvPicPr>
          <p:cNvPr id="6" name="Imagem 5"/>
          <p:cNvPicPr>
            <a:picLocks noChangeAspect="1"/>
          </p:cNvPicPr>
          <p:nvPr/>
        </p:nvPicPr>
        <p:blipFill>
          <a:blip r:embed="rId3"/>
          <a:stretch>
            <a:fillRect/>
          </a:stretch>
        </p:blipFill>
        <p:spPr>
          <a:xfrm>
            <a:off x="1376738" y="3364393"/>
            <a:ext cx="352000" cy="396000"/>
          </a:xfrm>
          <a:prstGeom prst="rect">
            <a:avLst/>
          </a:prstGeom>
        </p:spPr>
      </p:pic>
      <p:pic>
        <p:nvPicPr>
          <p:cNvPr id="7" name="Imagem 6"/>
          <p:cNvPicPr>
            <a:picLocks noChangeAspect="1"/>
          </p:cNvPicPr>
          <p:nvPr/>
        </p:nvPicPr>
        <p:blipFill>
          <a:blip r:embed="rId4"/>
          <a:stretch>
            <a:fillRect/>
          </a:stretch>
        </p:blipFill>
        <p:spPr>
          <a:xfrm>
            <a:off x="1381373" y="3902114"/>
            <a:ext cx="364737" cy="396000"/>
          </a:xfrm>
          <a:prstGeom prst="rect">
            <a:avLst/>
          </a:prstGeom>
        </p:spPr>
      </p:pic>
      <p:pic>
        <p:nvPicPr>
          <p:cNvPr id="8" name="Imagem 7"/>
          <p:cNvPicPr>
            <a:picLocks noChangeAspect="1"/>
          </p:cNvPicPr>
          <p:nvPr/>
        </p:nvPicPr>
        <p:blipFill>
          <a:blip r:embed="rId5"/>
          <a:stretch>
            <a:fillRect/>
          </a:stretch>
        </p:blipFill>
        <p:spPr>
          <a:xfrm>
            <a:off x="1350824" y="4751037"/>
            <a:ext cx="407647" cy="396000"/>
          </a:xfrm>
          <a:prstGeom prst="rect">
            <a:avLst/>
          </a:prstGeom>
        </p:spPr>
      </p:pic>
      <p:pic>
        <p:nvPicPr>
          <p:cNvPr id="9" name="Imagem 8"/>
          <p:cNvPicPr>
            <a:picLocks noChangeAspect="1"/>
          </p:cNvPicPr>
          <p:nvPr/>
        </p:nvPicPr>
        <p:blipFill>
          <a:blip r:embed="rId6"/>
          <a:stretch>
            <a:fillRect/>
          </a:stretch>
        </p:blipFill>
        <p:spPr>
          <a:xfrm>
            <a:off x="1435048" y="5291097"/>
            <a:ext cx="357677" cy="396000"/>
          </a:xfrm>
          <a:prstGeom prst="rect">
            <a:avLst/>
          </a:prstGeom>
        </p:spPr>
      </p:pic>
    </p:spTree>
    <p:extLst>
      <p:ext uri="{BB962C8B-B14F-4D97-AF65-F5344CB8AC3E}">
        <p14:creationId xmlns:p14="http://schemas.microsoft.com/office/powerpoint/2010/main" val="2098386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dirty="0"/>
              <a:t>Modelo Linear de 2º Grau</a:t>
            </a:r>
            <a:br>
              <a:rPr lang="pt-BR" dirty="0"/>
            </a:br>
            <a:r>
              <a:rPr lang="pt-BR" dirty="0"/>
              <a:t>(Regressão linear múltipla)</a:t>
            </a:r>
          </a:p>
        </p:txBody>
      </p:sp>
      <p:sp>
        <p:nvSpPr>
          <p:cNvPr id="3" name="Espaço Reservado para Conteúdo 2"/>
          <p:cNvSpPr>
            <a:spLocks noGrp="1"/>
          </p:cNvSpPr>
          <p:nvPr>
            <p:ph idx="1"/>
          </p:nvPr>
        </p:nvSpPr>
        <p:spPr>
          <a:xfrm>
            <a:off x="1295402" y="2382253"/>
            <a:ext cx="9601196" cy="3789947"/>
          </a:xfrm>
        </p:spPr>
        <p:txBody>
          <a:bodyPr>
            <a:noAutofit/>
          </a:bodyPr>
          <a:lstStyle/>
          <a:p>
            <a:pPr>
              <a:spcBef>
                <a:spcPts val="300"/>
              </a:spcBef>
              <a:spcAft>
                <a:spcPts val="300"/>
              </a:spcAft>
            </a:pPr>
            <a:r>
              <a:rPr lang="pt-BR" dirty="0"/>
              <a:t>A regressão múltipla envolve três ou mais variáveis, ou seja, uma única variável dependente (Y) e duas ou mais variáveis independentes ou explanatórias ou </a:t>
            </a:r>
            <a:r>
              <a:rPr lang="pt-BR" dirty="0" err="1"/>
              <a:t>covariáveis</a:t>
            </a:r>
            <a:r>
              <a:rPr lang="pt-BR" dirty="0"/>
              <a:t> ou </a:t>
            </a:r>
            <a:r>
              <a:rPr lang="pt-BR" dirty="0" err="1"/>
              <a:t>regressoras</a:t>
            </a:r>
            <a:r>
              <a:rPr lang="pt-BR" dirty="0"/>
              <a:t> (Xi, i = 1, 2, ...). </a:t>
            </a:r>
          </a:p>
          <a:p>
            <a:pPr>
              <a:spcBef>
                <a:spcPts val="300"/>
              </a:spcBef>
              <a:spcAft>
                <a:spcPts val="300"/>
              </a:spcAft>
            </a:pPr>
            <a:r>
              <a:rPr lang="pt-BR" dirty="0"/>
              <a:t>A teoria é uma extensão da análise de regressão linear simples. </a:t>
            </a:r>
          </a:p>
          <a:p>
            <a:pPr>
              <a:spcBef>
                <a:spcPts val="300"/>
              </a:spcBef>
              <a:spcAft>
                <a:spcPts val="300"/>
              </a:spcAft>
            </a:pPr>
            <a:r>
              <a:rPr lang="pt-BR" dirty="0"/>
              <a:t>De modo similar a análise tem por objetivo estabelecer uma equação que possa ser usada para predizer valores de Y para valores dados das diversas variáveis independentes. </a:t>
            </a:r>
          </a:p>
          <a:p>
            <a:pPr>
              <a:spcBef>
                <a:spcPts val="300"/>
              </a:spcBef>
              <a:spcAft>
                <a:spcPts val="300"/>
              </a:spcAft>
            </a:pPr>
            <a:r>
              <a:rPr lang="pt-BR" dirty="0"/>
              <a:t>A finalidade das variáveis independentes adicionais é melhorar a capacidade de predição em confronto com a regressão linear simples.</a:t>
            </a:r>
          </a:p>
        </p:txBody>
      </p:sp>
    </p:spTree>
    <p:extLst>
      <p:ext uri="{BB962C8B-B14F-4D97-AF65-F5344CB8AC3E}">
        <p14:creationId xmlns:p14="http://schemas.microsoft.com/office/powerpoint/2010/main" val="17670752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dirty="0"/>
              <a:t>Modelo Linear de 2º Grau</a:t>
            </a:r>
            <a:br>
              <a:rPr lang="pt-BR" dirty="0"/>
            </a:br>
            <a:r>
              <a:rPr lang="pt-BR" dirty="0"/>
              <a:t>(Regressão Linear Múltipla)</a:t>
            </a:r>
          </a:p>
        </p:txBody>
      </p:sp>
      <p:sp>
        <p:nvSpPr>
          <p:cNvPr id="6" name="Espaço Reservado para Conteúdo 2"/>
          <p:cNvSpPr txBox="1">
            <a:spLocks/>
          </p:cNvSpPr>
          <p:nvPr/>
        </p:nvSpPr>
        <p:spPr>
          <a:xfrm>
            <a:off x="1379623" y="2463967"/>
            <a:ext cx="9601196" cy="3573379"/>
          </a:xfrm>
          <a:prstGeom prst="rect">
            <a:avLst/>
          </a:prstGeom>
        </p:spPr>
        <p:txBody>
          <a:bodyPr vert="horz" lIns="91440" tIns="45720" rIns="91440" bIns="45720" rtlCol="0" anchor="t">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endParaRPr lang="pt-BR" dirty="0"/>
          </a:p>
          <a:p>
            <a:r>
              <a:rPr lang="pt-BR" dirty="0"/>
              <a:t>O modelo estatístico para esta situação seria:</a:t>
            </a:r>
          </a:p>
          <a:p>
            <a:pPr marL="0" indent="0">
              <a:buNone/>
            </a:pPr>
            <a:r>
              <a:rPr lang="es-ES" sz="3200" dirty="0"/>
              <a:t>Y = β0 ​+ β1*​x1 ​+ β2* ​x2 ​+...+ βn* ​</a:t>
            </a:r>
            <a:r>
              <a:rPr lang="es-ES" sz="3200" dirty="0" err="1"/>
              <a:t>xn</a:t>
            </a:r>
            <a:r>
              <a:rPr lang="es-ES" sz="3200" dirty="0"/>
              <a:t>​ + ε</a:t>
            </a:r>
            <a:endParaRPr lang="pt-BR" sz="3200" dirty="0"/>
          </a:p>
        </p:txBody>
      </p:sp>
    </p:spTree>
    <p:extLst>
      <p:ext uri="{BB962C8B-B14F-4D97-AF65-F5344CB8AC3E}">
        <p14:creationId xmlns:p14="http://schemas.microsoft.com/office/powerpoint/2010/main" val="35654120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dirty="0"/>
              <a:t>Modelo Linear de 2º Grau</a:t>
            </a:r>
            <a:br>
              <a:rPr lang="pt-BR" dirty="0"/>
            </a:br>
            <a:r>
              <a:rPr lang="pt-BR" dirty="0"/>
              <a:t>(Regressão Linear Múltipla)</a:t>
            </a:r>
          </a:p>
        </p:txBody>
      </p:sp>
      <p:sp>
        <p:nvSpPr>
          <p:cNvPr id="3" name="Espaço Reservado para Conteúdo 2"/>
          <p:cNvSpPr>
            <a:spLocks noGrp="1"/>
          </p:cNvSpPr>
          <p:nvPr>
            <p:ph idx="1"/>
          </p:nvPr>
        </p:nvSpPr>
        <p:spPr>
          <a:xfrm>
            <a:off x="1058779" y="2478504"/>
            <a:ext cx="10359189" cy="3801980"/>
          </a:xfrm>
        </p:spPr>
        <p:txBody>
          <a:bodyPr>
            <a:normAutofit lnSpcReduction="10000"/>
          </a:bodyPr>
          <a:lstStyle/>
          <a:p>
            <a:pPr algn="just"/>
            <a:r>
              <a:rPr lang="pt-BR" dirty="0"/>
              <a:t>    = valor observado para a variável dependente Y no i-</a:t>
            </a:r>
            <a:r>
              <a:rPr lang="pt-BR" dirty="0" err="1"/>
              <a:t>ésimo</a:t>
            </a:r>
            <a:r>
              <a:rPr lang="pt-BR" dirty="0"/>
              <a:t> nível da variável independente X.</a:t>
            </a:r>
          </a:p>
          <a:p>
            <a:pPr algn="just"/>
            <a:r>
              <a:rPr lang="pt-BR" dirty="0"/>
              <a:t>    = constante de regressão. </a:t>
            </a:r>
          </a:p>
          <a:p>
            <a:pPr algn="just"/>
            <a:r>
              <a:rPr lang="pt-BR" dirty="0"/>
              <a:t>    = coeficiente de regressão. </a:t>
            </a:r>
          </a:p>
          <a:p>
            <a:pPr algn="just"/>
            <a:r>
              <a:rPr lang="pt-BR" dirty="0"/>
              <a:t>    = coeficiente de regressão. </a:t>
            </a:r>
          </a:p>
          <a:p>
            <a:pPr algn="just"/>
            <a:r>
              <a:rPr lang="pt-BR" dirty="0"/>
              <a:t>    = i-</a:t>
            </a:r>
            <a:r>
              <a:rPr lang="pt-BR" dirty="0" err="1"/>
              <a:t>ésimo</a:t>
            </a:r>
            <a:r>
              <a:rPr lang="pt-BR" dirty="0"/>
              <a:t> nível da variável independente X (i = 1,2,!,n).</a:t>
            </a:r>
          </a:p>
          <a:p>
            <a:pPr algn="just"/>
            <a:r>
              <a:rPr lang="es-ES" sz="4000" dirty="0"/>
              <a:t>ε</a:t>
            </a:r>
            <a:r>
              <a:rPr lang="es-ES" dirty="0"/>
              <a:t> </a:t>
            </a:r>
            <a:r>
              <a:rPr lang="pt-BR" dirty="0"/>
              <a:t>= é o erro que está associado à distância entre o valor observado Yi e o correspondente ponto na curva para o mesmo nível i de X.</a:t>
            </a:r>
          </a:p>
        </p:txBody>
      </p:sp>
      <p:pic>
        <p:nvPicPr>
          <p:cNvPr id="5" name="Imagem 4"/>
          <p:cNvPicPr>
            <a:picLocks noChangeAspect="1"/>
          </p:cNvPicPr>
          <p:nvPr/>
        </p:nvPicPr>
        <p:blipFill>
          <a:blip r:embed="rId2"/>
          <a:stretch>
            <a:fillRect/>
          </a:stretch>
        </p:blipFill>
        <p:spPr>
          <a:xfrm>
            <a:off x="1388770" y="2475179"/>
            <a:ext cx="331379" cy="432000"/>
          </a:xfrm>
          <a:prstGeom prst="rect">
            <a:avLst/>
          </a:prstGeom>
        </p:spPr>
      </p:pic>
      <p:pic>
        <p:nvPicPr>
          <p:cNvPr id="6" name="Imagem 5"/>
          <p:cNvPicPr>
            <a:picLocks noChangeAspect="1"/>
          </p:cNvPicPr>
          <p:nvPr/>
        </p:nvPicPr>
        <p:blipFill>
          <a:blip r:embed="rId3"/>
          <a:stretch>
            <a:fillRect/>
          </a:stretch>
        </p:blipFill>
        <p:spPr>
          <a:xfrm>
            <a:off x="1334856" y="3412234"/>
            <a:ext cx="352000" cy="396000"/>
          </a:xfrm>
          <a:prstGeom prst="rect">
            <a:avLst/>
          </a:prstGeom>
        </p:spPr>
      </p:pic>
      <p:pic>
        <p:nvPicPr>
          <p:cNvPr id="7" name="Imagem 6"/>
          <p:cNvPicPr>
            <a:picLocks noChangeAspect="1"/>
          </p:cNvPicPr>
          <p:nvPr/>
        </p:nvPicPr>
        <p:blipFill>
          <a:blip r:embed="rId4"/>
          <a:stretch>
            <a:fillRect/>
          </a:stretch>
        </p:blipFill>
        <p:spPr>
          <a:xfrm>
            <a:off x="1319154" y="3871102"/>
            <a:ext cx="364737" cy="396000"/>
          </a:xfrm>
          <a:prstGeom prst="rect">
            <a:avLst/>
          </a:prstGeom>
        </p:spPr>
      </p:pic>
      <p:pic>
        <p:nvPicPr>
          <p:cNvPr id="8" name="Imagem 7"/>
          <p:cNvPicPr>
            <a:picLocks noChangeAspect="1"/>
          </p:cNvPicPr>
          <p:nvPr/>
        </p:nvPicPr>
        <p:blipFill>
          <a:blip r:embed="rId5"/>
          <a:stretch>
            <a:fillRect/>
          </a:stretch>
        </p:blipFill>
        <p:spPr>
          <a:xfrm>
            <a:off x="1333794" y="4870241"/>
            <a:ext cx="407647" cy="396000"/>
          </a:xfrm>
          <a:prstGeom prst="rect">
            <a:avLst/>
          </a:prstGeom>
        </p:spPr>
      </p:pic>
      <p:pic>
        <p:nvPicPr>
          <p:cNvPr id="4" name="Imagem 3"/>
          <p:cNvPicPr>
            <a:picLocks noChangeAspect="1"/>
          </p:cNvPicPr>
          <p:nvPr/>
        </p:nvPicPr>
        <p:blipFill>
          <a:blip r:embed="rId6"/>
          <a:stretch>
            <a:fillRect/>
          </a:stretch>
        </p:blipFill>
        <p:spPr>
          <a:xfrm>
            <a:off x="1376738" y="4375390"/>
            <a:ext cx="376855" cy="387040"/>
          </a:xfrm>
          <a:prstGeom prst="rect">
            <a:avLst/>
          </a:prstGeom>
        </p:spPr>
      </p:pic>
    </p:spTree>
    <p:extLst>
      <p:ext uri="{BB962C8B-B14F-4D97-AF65-F5344CB8AC3E}">
        <p14:creationId xmlns:p14="http://schemas.microsoft.com/office/powerpoint/2010/main" val="3777411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D36DD1-A8E3-5FB4-DAD4-F3472160084A}"/>
              </a:ext>
            </a:extLst>
          </p:cNvPr>
          <p:cNvSpPr>
            <a:spLocks noGrp="1"/>
          </p:cNvSpPr>
          <p:nvPr>
            <p:ph type="title"/>
          </p:nvPr>
        </p:nvSpPr>
        <p:spPr/>
        <p:txBody>
          <a:bodyPr/>
          <a:lstStyle/>
          <a:p>
            <a:r>
              <a:rPr lang="pt-BR" dirty="0"/>
              <a:t>Exemplo</a:t>
            </a:r>
          </a:p>
        </p:txBody>
      </p:sp>
      <p:sp>
        <p:nvSpPr>
          <p:cNvPr id="3" name="Espaço Reservado para Conteúdo 2">
            <a:extLst>
              <a:ext uri="{FF2B5EF4-FFF2-40B4-BE49-F238E27FC236}">
                <a16:creationId xmlns:a16="http://schemas.microsoft.com/office/drawing/2014/main" id="{D1099FCE-F6A8-7258-8859-354A1E77EBAB}"/>
              </a:ext>
            </a:extLst>
          </p:cNvPr>
          <p:cNvSpPr>
            <a:spLocks noGrp="1"/>
          </p:cNvSpPr>
          <p:nvPr>
            <p:ph idx="1"/>
          </p:nvPr>
        </p:nvSpPr>
        <p:spPr>
          <a:xfrm>
            <a:off x="1295401" y="2382982"/>
            <a:ext cx="9601196" cy="3865418"/>
          </a:xfrm>
        </p:spPr>
        <p:txBody>
          <a:bodyPr>
            <a:normAutofit/>
          </a:bodyPr>
          <a:lstStyle/>
          <a:p>
            <a:pPr algn="just"/>
            <a:r>
              <a:rPr lang="pt-BR" dirty="0"/>
              <a:t>Prever o preço de uma casa (y). </a:t>
            </a:r>
          </a:p>
          <a:p>
            <a:pPr algn="just"/>
            <a:r>
              <a:rPr lang="pt-BR" dirty="0"/>
              <a:t>Em vez de usar apenas uma variável, como o tamanho em metros quadrados, você pode usar a regressão linear múltipla para incluir outros fatores que sabidamente influenciam o preço, como:</a:t>
            </a:r>
          </a:p>
          <a:p>
            <a:pPr algn="just"/>
            <a:r>
              <a:rPr lang="pt-BR" dirty="0"/>
              <a:t>x 1​ : Tamanho da casa (em metros quadrados).</a:t>
            </a:r>
          </a:p>
          <a:p>
            <a:pPr algn="just"/>
            <a:r>
              <a:rPr lang="pt-BR" dirty="0"/>
              <a:t>x 2​ : Número de quartos.</a:t>
            </a:r>
          </a:p>
          <a:p>
            <a:pPr algn="just"/>
            <a:r>
              <a:rPr lang="pt-BR" dirty="0"/>
              <a:t>x 3​ : Distância até o centro da cidade.</a:t>
            </a:r>
          </a:p>
          <a:p>
            <a:pPr algn="just"/>
            <a:r>
              <a:rPr lang="pt-BR" dirty="0"/>
              <a:t>x 4​ : Idade da casa.</a:t>
            </a:r>
          </a:p>
        </p:txBody>
      </p:sp>
    </p:spTree>
    <p:extLst>
      <p:ext uri="{BB962C8B-B14F-4D97-AF65-F5344CB8AC3E}">
        <p14:creationId xmlns:p14="http://schemas.microsoft.com/office/powerpoint/2010/main" val="21957323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5B4C2E4-1094-52CD-B81E-91296C54786E}"/>
              </a:ext>
            </a:extLst>
          </p:cNvPr>
          <p:cNvSpPr>
            <a:spLocks noGrp="1"/>
          </p:cNvSpPr>
          <p:nvPr>
            <p:ph type="title"/>
          </p:nvPr>
        </p:nvSpPr>
        <p:spPr/>
        <p:txBody>
          <a:bodyPr/>
          <a:lstStyle/>
          <a:p>
            <a:r>
              <a:rPr lang="pt-BR" dirty="0"/>
              <a:t>Exemplo Continuação</a:t>
            </a:r>
          </a:p>
        </p:txBody>
      </p:sp>
      <p:sp>
        <p:nvSpPr>
          <p:cNvPr id="3" name="Espaço Reservado para Conteúdo 2">
            <a:extLst>
              <a:ext uri="{FF2B5EF4-FFF2-40B4-BE49-F238E27FC236}">
                <a16:creationId xmlns:a16="http://schemas.microsoft.com/office/drawing/2014/main" id="{2B136A2A-4E98-D0AA-21B6-81CCEA91C1D0}"/>
              </a:ext>
            </a:extLst>
          </p:cNvPr>
          <p:cNvSpPr>
            <a:spLocks noGrp="1"/>
          </p:cNvSpPr>
          <p:nvPr>
            <p:ph idx="1"/>
          </p:nvPr>
        </p:nvSpPr>
        <p:spPr>
          <a:xfrm>
            <a:off x="1295401" y="2410691"/>
            <a:ext cx="9760526" cy="3796145"/>
          </a:xfrm>
        </p:spPr>
        <p:txBody>
          <a:bodyPr>
            <a:normAutofit/>
          </a:bodyPr>
          <a:lstStyle/>
          <a:p>
            <a:pPr algn="just"/>
            <a:r>
              <a:rPr lang="pt-BR" dirty="0"/>
              <a:t>O modelo de regressão linear múltipla poderia lhe dar uma equação como:</a:t>
            </a:r>
          </a:p>
          <a:p>
            <a:pPr algn="just"/>
            <a:r>
              <a:rPr lang="pt-BR" dirty="0"/>
              <a:t>Preço = β0​ + β1​ * Tamanho + β2​ * Quartos + β3​ * Distância + β4 * </a:t>
            </a:r>
            <a:r>
              <a:rPr lang="pt-BR" dirty="0" err="1"/>
              <a:t>Idad</a:t>
            </a:r>
            <a:endParaRPr lang="pt-BR" dirty="0"/>
          </a:p>
          <a:p>
            <a:pPr algn="just"/>
            <a:r>
              <a:rPr lang="pt-BR" dirty="0"/>
              <a:t>Com essa equação, você pode prever o preço de uma nova casa com base em suas características e, mais importante, entender o peso que cada fator tem no preço final. </a:t>
            </a:r>
          </a:p>
          <a:p>
            <a:pPr algn="just"/>
            <a:r>
              <a:rPr lang="pt-BR" dirty="0"/>
              <a:t>Por exemplo, você pode descobrir que, para cada quarto adicional, o preço aumenta em R$ 50.000, enquanto a cada quilômetro de distância do centro, o preço diminui em R$ 10.000.</a:t>
            </a:r>
          </a:p>
        </p:txBody>
      </p:sp>
    </p:spTree>
    <p:extLst>
      <p:ext uri="{BB962C8B-B14F-4D97-AF65-F5344CB8AC3E}">
        <p14:creationId xmlns:p14="http://schemas.microsoft.com/office/powerpoint/2010/main" val="24110833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Resumindo</a:t>
            </a:r>
          </a:p>
        </p:txBody>
      </p:sp>
      <p:sp>
        <p:nvSpPr>
          <p:cNvPr id="3" name="Espaço Reservado para Conteúdo 2"/>
          <p:cNvSpPr>
            <a:spLocks noGrp="1"/>
          </p:cNvSpPr>
          <p:nvPr>
            <p:ph idx="1"/>
          </p:nvPr>
        </p:nvSpPr>
        <p:spPr>
          <a:xfrm>
            <a:off x="1295402" y="2442411"/>
            <a:ext cx="9601196" cy="3753851"/>
          </a:xfrm>
        </p:spPr>
        <p:txBody>
          <a:bodyPr>
            <a:noAutofit/>
          </a:bodyPr>
          <a:lstStyle/>
          <a:p>
            <a:pPr algn="just">
              <a:spcBef>
                <a:spcPts val="500"/>
              </a:spcBef>
              <a:spcAft>
                <a:spcPts val="500"/>
              </a:spcAft>
            </a:pPr>
            <a:r>
              <a:rPr lang="pt-BR" dirty="0"/>
              <a:t>Para estimar a variação na variável dependente para uma variação de uma unidade na variável independente. </a:t>
            </a:r>
            <a:r>
              <a:rPr lang="pt-BR" b="1" dirty="0"/>
              <a:t>Use o coeficiente de inclinação.</a:t>
            </a:r>
          </a:p>
          <a:p>
            <a:pPr algn="just">
              <a:spcBef>
                <a:spcPts val="500"/>
              </a:spcBef>
              <a:spcAft>
                <a:spcPts val="500"/>
              </a:spcAft>
            </a:pPr>
            <a:r>
              <a:rPr lang="pt-BR" dirty="0"/>
              <a:t>Para estimar a variável dependente se todas as variáveis independentes tomarem um valor zero. </a:t>
            </a:r>
            <a:r>
              <a:rPr lang="pt-BR" b="1" dirty="0"/>
              <a:t>Use o intercepto.</a:t>
            </a:r>
          </a:p>
          <a:p>
            <a:pPr algn="just">
              <a:spcBef>
                <a:spcPts val="500"/>
              </a:spcBef>
              <a:spcAft>
                <a:spcPts val="500"/>
              </a:spcAft>
            </a:pPr>
            <a:r>
              <a:rPr lang="pt-BR" dirty="0"/>
              <a:t>Para estimar a porcentagem das variações explicadas das variáveis dependentes pelas variáveis independentes. </a:t>
            </a:r>
            <a:r>
              <a:rPr lang="pt-BR" b="1" dirty="0"/>
              <a:t>Use o R2.</a:t>
            </a:r>
          </a:p>
          <a:p>
            <a:pPr algn="just">
              <a:spcBef>
                <a:spcPts val="500"/>
              </a:spcBef>
              <a:spcAft>
                <a:spcPts val="500"/>
              </a:spcAft>
            </a:pPr>
            <a:r>
              <a:rPr lang="pt-BR" dirty="0"/>
              <a:t>Prever o valor da variável dependente dados os valores estimados da variável independente(s). </a:t>
            </a:r>
            <a:r>
              <a:rPr lang="pt-BR" b="1" dirty="0"/>
              <a:t>Use a equação de regressão, substituindo os valores estimados da variável independente(s) na equação. </a:t>
            </a:r>
          </a:p>
        </p:txBody>
      </p:sp>
    </p:spTree>
    <p:extLst>
      <p:ext uri="{BB962C8B-B14F-4D97-AF65-F5344CB8AC3E}">
        <p14:creationId xmlns:p14="http://schemas.microsoft.com/office/powerpoint/2010/main" val="1814057436"/>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ânico">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2798</TotalTime>
  <Words>1864</Words>
  <Application>Microsoft Office PowerPoint</Application>
  <PresentationFormat>Widescreen</PresentationFormat>
  <Paragraphs>128</Paragraphs>
  <Slides>32</Slides>
  <Notes>0</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32</vt:i4>
      </vt:variant>
    </vt:vector>
  </HeadingPairs>
  <TitlesOfParts>
    <vt:vector size="37" baseType="lpstr">
      <vt:lpstr>Arial</vt:lpstr>
      <vt:lpstr>Calibri</vt:lpstr>
      <vt:lpstr>Garamond</vt:lpstr>
      <vt:lpstr>Wingdings</vt:lpstr>
      <vt:lpstr>Orgânico</vt:lpstr>
      <vt:lpstr>Estatística Para Computação  Correlação e Regressão Linear Aula 07</vt:lpstr>
      <vt:lpstr>Correlação</vt:lpstr>
      <vt:lpstr>Correlações</vt:lpstr>
      <vt:lpstr>Comportamentos de duas variáveis</vt:lpstr>
      <vt:lpstr>Correlação X Causalidade</vt:lpstr>
      <vt:lpstr>Correlação Positiva</vt:lpstr>
      <vt:lpstr>Apresentação do PowerPoint</vt:lpstr>
      <vt:lpstr>Correlação Negativa</vt:lpstr>
      <vt:lpstr>Apresentação do PowerPoint</vt:lpstr>
      <vt:lpstr>Correlação Nula</vt:lpstr>
      <vt:lpstr>Apresentação do PowerPoint</vt:lpstr>
      <vt:lpstr>Correlação Não Linear</vt:lpstr>
      <vt:lpstr>Apresentação do PowerPoint</vt:lpstr>
      <vt:lpstr>Correlação Linear</vt:lpstr>
      <vt:lpstr>Exemplo</vt:lpstr>
      <vt:lpstr>Regressão linear</vt:lpstr>
      <vt:lpstr>Regressão linear</vt:lpstr>
      <vt:lpstr>Regressão linear</vt:lpstr>
      <vt:lpstr>Regressão linear</vt:lpstr>
      <vt:lpstr>Regressão linear</vt:lpstr>
      <vt:lpstr>Apresentação do PowerPoint</vt:lpstr>
      <vt:lpstr>Apresentação do PowerPoint</vt:lpstr>
      <vt:lpstr>Apresentação do PowerPoint</vt:lpstr>
      <vt:lpstr>Apresentação do PowerPoint</vt:lpstr>
      <vt:lpstr>Modelo Linear de 1º Grau  (Regressão Linear Simples)</vt:lpstr>
      <vt:lpstr>Modelo Linear de 1º Grau  (Regressão Linear Simples)</vt:lpstr>
      <vt:lpstr>Modelo Linear de 2º Grau (Regressão linear múltipla)</vt:lpstr>
      <vt:lpstr>Modelo Linear de 2º Grau (Regressão Linear Múltipla)</vt:lpstr>
      <vt:lpstr>Modelo Linear de 2º Grau (Regressão Linear Múltipla)</vt:lpstr>
      <vt:lpstr>Exemplo</vt:lpstr>
      <vt:lpstr>Exemplo Continuação</vt:lpstr>
      <vt:lpstr>Resumindo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Disciplina Princípios de Engenharia</dc:title>
  <dc:creator>Cahue Sbrana</dc:creator>
  <cp:lastModifiedBy>CAHUE SBRANA</cp:lastModifiedBy>
  <cp:revision>842</cp:revision>
  <dcterms:created xsi:type="dcterms:W3CDTF">2016-01-25T19:09:02Z</dcterms:created>
  <dcterms:modified xsi:type="dcterms:W3CDTF">2025-09-13T12:54:59Z</dcterms:modified>
</cp:coreProperties>
</file>